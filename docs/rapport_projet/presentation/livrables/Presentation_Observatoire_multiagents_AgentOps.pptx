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be86ddf6ce4e52" /><Relationship Type="http://schemas.openxmlformats.org/officeDocument/2006/relationships/extended-properties" Target="/docProps/app.xml" Id="Rafdb61bc32f04c08" /><Relationship Type="http://schemas.openxmlformats.org/officeDocument/2006/relationships/officeDocument" Target="/ppt/presentation.xml" Id="R3c8d44dcda4c4bd8" /></Relationships>
</file>

<file path=ppt/presentation.xml><?xml version="1.0" encoding="utf-8"?>
<p:presentation xmlns:p="http://schemas.openxmlformats.org/presentationml/2006/main">
  <p:sldMasterIdLst>
    <p:sldMasterId xmlns:r="http://schemas.openxmlformats.org/officeDocument/2006/relationships" id="2147483648" r:id="R08b713c08252483e"/>
  </p:sldMasterIdLst>
  <p:notesMasterIdLst>
    <p:notesMasterId xmlns:r="http://schemas.openxmlformats.org/officeDocument/2006/relationships" r:id="R6831ba899207463b"/>
  </p:notesMasterIdLst>
  <p:sldIdLst>
    <p:sldId xmlns:r="http://schemas.openxmlformats.org/officeDocument/2006/relationships" id="256" r:id="Rc3757257d1ba469a"/>
    <p:sldId xmlns:r="http://schemas.openxmlformats.org/officeDocument/2006/relationships" id="257" r:id="Re857a958996a459f"/>
    <p:sldId xmlns:r="http://schemas.openxmlformats.org/officeDocument/2006/relationships" id="258" r:id="R9dea56b99d124268"/>
    <p:sldId xmlns:r="http://schemas.openxmlformats.org/officeDocument/2006/relationships" id="259" r:id="R80d11522f806417e"/>
    <p:sldId xmlns:r="http://schemas.openxmlformats.org/officeDocument/2006/relationships" id="260" r:id="Rc1e9028c0fef4cab"/>
    <p:sldId xmlns:r="http://schemas.openxmlformats.org/officeDocument/2006/relationships" id="261" r:id="R8a338cc6cd5a4aa5"/>
    <p:sldId xmlns:r="http://schemas.openxmlformats.org/officeDocument/2006/relationships" id="262" r:id="R2105034558704bbb"/>
    <p:sldId xmlns:r="http://schemas.openxmlformats.org/officeDocument/2006/relationships" id="263" r:id="R673c7881bed44c19"/>
    <p:sldId xmlns:r="http://schemas.openxmlformats.org/officeDocument/2006/relationships" id="264" r:id="R2540a93a520740df"/>
    <p:sldId xmlns:r="http://schemas.openxmlformats.org/officeDocument/2006/relationships" id="265" r:id="R2694a8a4d0824ef7"/>
    <p:sldId xmlns:r="http://schemas.openxmlformats.org/officeDocument/2006/relationships" id="266" r:id="R6c13373013264391"/>
    <p:sldId xmlns:r="http://schemas.openxmlformats.org/officeDocument/2006/relationships" id="267" r:id="Ra109606f7aad4315"/>
    <p:sldId xmlns:r="http://schemas.openxmlformats.org/officeDocument/2006/relationships" id="268" r:id="Rcb31ac0d863c402e"/>
    <p:sldId xmlns:r="http://schemas.openxmlformats.org/officeDocument/2006/relationships" id="269" r:id="R27425265a0504189"/>
    <p:sldId xmlns:r="http://schemas.openxmlformats.org/officeDocument/2006/relationships" id="270" r:id="R3add9881d1d34a74"/>
    <p:sldId xmlns:ns0="http://schemas.openxmlformats.org/officeDocument/2006/relationships" id="271" ns0:id="rIdCouches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9688d54cea5f4d96"/><Relationship Type="http://schemas.openxmlformats.org/officeDocument/2006/relationships/slideMaster" Target="/ppt/slideMasters/slideMaster1.xml" Id="R08b713c08252483e"/><Relationship Type="http://schemas.openxmlformats.org/officeDocument/2006/relationships/notesMaster" Target="/ppt/notesMasters/notesMaster1.xml" Id="R6831ba899207463b"/><Relationship Type="http://schemas.openxmlformats.org/officeDocument/2006/relationships/presProps" Target="/ppt/presProps.xml" Id="Rd794773d4ee14862"/><Relationship Type="http://schemas.openxmlformats.org/officeDocument/2006/relationships/tableStyles" Target="/ppt/tableStyles.xml" Id="Ra2aa4b31c9224f00"/><Relationship Type="http://schemas.openxmlformats.org/officeDocument/2006/relationships/slide" Target="/ppt/slides/slide1.xml" Id="Rc3757257d1ba469a"/><Relationship Type="http://schemas.openxmlformats.org/officeDocument/2006/relationships/slide" Target="/ppt/slides/slide2.xml" Id="Re857a958996a459f"/><Relationship Type="http://schemas.openxmlformats.org/officeDocument/2006/relationships/slide" Target="/ppt/slides/slide3.xml" Id="R9dea56b99d124268"/><Relationship Type="http://schemas.openxmlformats.org/officeDocument/2006/relationships/slide" Target="/ppt/slides/slide4.xml" Id="R80d11522f806417e"/><Relationship Type="http://schemas.openxmlformats.org/officeDocument/2006/relationships/slide" Target="/ppt/slides/slide5.xml" Id="Rc1e9028c0fef4cab"/><Relationship Type="http://schemas.openxmlformats.org/officeDocument/2006/relationships/slide" Target="/ppt/slides/slide6.xml" Id="R8a338cc6cd5a4aa5"/><Relationship Type="http://schemas.openxmlformats.org/officeDocument/2006/relationships/slide" Target="/ppt/slides/slide7.xml" Id="R2105034558704bbb"/><Relationship Type="http://schemas.openxmlformats.org/officeDocument/2006/relationships/slide" Target="/ppt/slides/slide8.xml" Id="R673c7881bed44c19"/><Relationship Type="http://schemas.openxmlformats.org/officeDocument/2006/relationships/slide" Target="/ppt/slides/slide9.xml" Id="R2540a93a520740df"/><Relationship Type="http://schemas.openxmlformats.org/officeDocument/2006/relationships/slide" Target="/ppt/slides/slide10.xml" Id="R2694a8a4d0824ef7"/><Relationship Type="http://schemas.openxmlformats.org/officeDocument/2006/relationships/slide" Target="/ppt/slides/slide11.xml" Id="R6c13373013264391"/><Relationship Type="http://schemas.openxmlformats.org/officeDocument/2006/relationships/slide" Target="/ppt/slides/slide12.xml" Id="Ra109606f7aad4315"/><Relationship Type="http://schemas.openxmlformats.org/officeDocument/2006/relationships/slide" Target="/ppt/slides/slide13.xml" Id="Rcb31ac0d863c402e"/><Relationship Type="http://schemas.openxmlformats.org/officeDocument/2006/relationships/slide" Target="/ppt/slides/slide14.xml" Id="R27425265a0504189"/><Relationship Type="http://schemas.openxmlformats.org/officeDocument/2006/relationships/slide" Target="/ppt/slides/slide15.xml" Id="R3add9881d1d34a74"/><Relationship Id="rIdCouches16" Type="http://schemas.openxmlformats.org/officeDocument/2006/relationships/slide" Target="/ppt/slides/slide16.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09c33ea1b34c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ba41ba89064788" /><Relationship Type="http://schemas.openxmlformats.org/officeDocument/2006/relationships/notesMaster" Target="/ppt/notesMasters/notesMaster1.xml" Id="Red1d80b8a41c4b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cc405ba2e1445e" /><Relationship Type="http://schemas.openxmlformats.org/officeDocument/2006/relationships/notesMaster" Target="/ppt/notesMasters/notesMaster1.xml" Id="R2ecd10a87c3b47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7b24f320ec4918" /><Relationship Type="http://schemas.openxmlformats.org/officeDocument/2006/relationships/notesMaster" Target="/ppt/notesMasters/notesMaster1.xml" Id="Rf490850f02f648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b648a8593b4fc4" /><Relationship Type="http://schemas.openxmlformats.org/officeDocument/2006/relationships/notesMaster" Target="/ppt/notesMasters/notesMaster1.xml" Id="R3a416ec0ac8f41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57f38cbf884812" /><Relationship Type="http://schemas.openxmlformats.org/officeDocument/2006/relationships/notesMaster" Target="/ppt/notesMasters/notesMaster1.xml" Id="R67f72850049241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9065bb0d214a9a" /><Relationship Type="http://schemas.openxmlformats.org/officeDocument/2006/relationships/notesMaster" Target="/ppt/notesMasters/notesMaster1.xml" Id="R8f7fc970566c4a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428ed22dc040ee" /><Relationship Type="http://schemas.openxmlformats.org/officeDocument/2006/relationships/notesMaster" Target="/ppt/notesMasters/notesMaster1.xml" Id="Rf5dd05542ac046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f7470f7d0541f5" /><Relationship Type="http://schemas.openxmlformats.org/officeDocument/2006/relationships/notesMaster" Target="/ppt/notesMasters/notesMaster1.xml" Id="R4fe205ba605148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8b64590d06409b" /><Relationship Type="http://schemas.openxmlformats.org/officeDocument/2006/relationships/notesMaster" Target="/ppt/notesMasters/notesMaster1.xml" Id="R1b25598a2a3f4e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16c2d4c1d941a6" /><Relationship Type="http://schemas.openxmlformats.org/officeDocument/2006/relationships/notesMaster" Target="/ppt/notesMasters/notesMaster1.xml" Id="R3bc9e413d49f4a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770d8d904449e0" /><Relationship Type="http://schemas.openxmlformats.org/officeDocument/2006/relationships/notesMaster" Target="/ppt/notesMasters/notesMaster1.xml" Id="Rb1075b2636104d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7c22c30f4b42b0" /><Relationship Type="http://schemas.openxmlformats.org/officeDocument/2006/relationships/notesMaster" Target="/ppt/notesMasters/notesMaster1.xml" Id="R984206244e204ee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4c882cfb4945b8" /><Relationship Type="http://schemas.openxmlformats.org/officeDocument/2006/relationships/notesMaster" Target="/ppt/notesMasters/notesMaster1.xml" Id="Re6bec37fa2e1433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d079b407f8842ed" /><Relationship Type="http://schemas.openxmlformats.org/officeDocument/2006/relationships/notesMaster" Target="/ppt/notesMasters/notesMaster1.xml" Id="R29808fc004a647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c8e4630f5f54808" /><Relationship Type="http://schemas.openxmlformats.org/officeDocument/2006/relationships/notesMaster" Target="/ppt/notesMasters/notesMaster1.xml" Id="Rd1014672f32a4b37" /></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cca05418d38e4bfd"/><Relationship Type="http://schemas.openxmlformats.org/officeDocument/2006/relationships/notesMaster" Target="/ppt/notesMasters/notesMaster1.xml" Id="R23b11d8cc4d946fe"/></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30 secondes.</a:t>
            </a:r>
          </a:p>
          <a:p xmlns:a="http://schemas.openxmlformats.org/drawingml/2006/main">
            <a:r>
              <a:t>Je présente un observatoire local qui rend visibles les opérations de quatre agents et permet de vérifier les résultats sur des exports YouTube. La campagne comporte vingt exécutions réelles et vingt évaluations enregistrées. Les frais API externes sont nuls, mais le matériel et l’électricité ne sont pas chiffrés. Les notes ont été proposées avec assistance IA puis revues et saisies par moi.</a:t>
            </a:r>
          </a:p>
          <a:p xmlns:a="http://schemas.openxmlformats.org/drawingml/2006/main">
            <a:r>
              <a:t>Sources : manifeste de campagne d21234f3, analyse_campagne.json et logo original fourni.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50 secondes.</a:t>
            </a:r>
          </a:p>
          <a:p xmlns:a="http://schemas.openxmlformats.org/drawingml/2006/main">
            <a:r>
              <a:t/>
            </a:r>
          </a:p>
          <a:p xmlns:a="http://schemas.openxmlformats.org/drawingml/2006/main">
            <a:r>
              <a:t>Le problème consiste à vérifier les constats des agents au lieu de se limiter à leur texte. Les exports décrivent l’audience. Les traces décrivent l’activité du système. Le CSV précédent contient 67 vidéos et le courant 88. Les fenêtres ont chacune 28 jours. Les dates sont déclarées par l’utilisatrice, elles ne viennent pas des dates de publication. Les cellules absentes restent inconnues.</a:t>
            </a:r>
          </a:p>
          <a:p xmlns:a="http://schemas.openxmlformats.org/drawingml/2006/main">
            <a:r>
              <a:t/>
            </a:r>
          </a:p>
          <a:p xmlns:a="http://schemas.openxmlformats.org/drawingml/2006/main">
            <a:r>
              <a:t>Sources locales : Exports aout-sept et setp-oct, rapport du projet, données et couverture.</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L’interface Streamlit charge les fichiers et relit les résultats. Un lancement explicite démarre le worker isolé. CrewAI construit les rôles et tâches. Ollama répond sur la boucle locale, avec Qwen3 4B sur CPU. Les outils Python lisent les instantanés et calculent les valeurs. SQLite conserve imports et traces. La relecture ne déclenche aucune nouvelle inférence. La campagne initiale reste observée dans SQLite. Un pilote séparé confirme désormais la réception de résumés techniques par AgentOps, après exécution et sans instrumentation native des appels LLM.</a:t>
            </a:r>
          </a:p>
          <a:p xmlns:a="http://schemas.openxmlformats.org/drawingml/2006/main">
            <a:r>
              <a:t/>
            </a:r>
          </a:p>
          <a:p xmlns:a="http://schemas.openxmlformats.org/drawingml/2006/main">
            <a:r>
              <a:t>Sources locales : Code observatoire/execution_locale.py, securite_locale.py et stockage.py, architecture du rapport.</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 coordonnateur intervient deux fois, au cadrage puis à la synthèse. Le chercheur appelle lire_import. L’analyste appelle le calcul adapté au scénario. Le vérificateur recalcule les résultats par un chemin indépendant. Enfin le coordonnateur reçoit les mesures vérifiées et leurs réserves. Les noms d’outils autorisés sont contraints. Le système n’enregistre pas de raisonnement interne détaillé. Un plan figé permet d’enchaîner les workflows sans doubler leurs identifiants.</a:t>
            </a:r>
          </a:p>
          <a:p xmlns:a="http://schemas.openxmlformats.org/drawingml/2006/main">
            <a:r>
              <a:t/>
            </a:r>
          </a:p>
          <a:p xmlns:a="http://schemas.openxmlformats.org/drawingml/2006/main">
            <a:r>
              <a:t>Sources locales : Traces de campagne, étapes et appels aux outils, code execution_locale.py.</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 parcours part des CSV validés et de leur provenance. Le plan fige ensuite les paramètres et les vingt identifiants. Les agents exécutent les missions. Les traces conservent appels, compteurs, durées et résultats. Enfin la personne examine et enregistre chaque avis. SQLite reçoit les instantanés, les traces et les évaluations. Le modèle ne modifie pas les CSV et la relecture n’appelle pas de nouvelle inférence.</a:t>
            </a:r>
          </a:p>
          <a:p xmlns:a="http://schemas.openxmlformats.org/drawingml/2006/main">
            <a:r>
              <a:t/>
            </a:r>
          </a:p>
          <a:p xmlns:a="http://schemas.openxmlformats.org/drawingml/2006/main">
            <a:r>
              <a:t>Sources locales : Code stockage.py, campagne.py, lancement_local.py et manifeste d21234f3.</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50 secondes.</a:t>
            </a:r>
          </a:p>
          <a:p xmlns:a="http://schemas.openxmlformats.org/drawingml/2006/main">
            <a:r>
              <a:t/>
            </a:r>
          </a:p>
          <a:p xmlns:a="http://schemas.openxmlformats.org/drawingml/2006/main">
            <a:r>
              <a:t>S1 établit deux classements de trois vidéos. S2 compare deux petits groupes thématiques définis explicitement. S3 distingue les totaux du canal des paires connues entre deux fenêtres. S4 compare une cible à une référence unique, de sujet différent, ce qui limite la mission à une exploration. S5 propose une action éditoriale à tester. Les limites de S4 et de S5 expliquent leur point en moins sur le respect de la mission.</a:t>
            </a:r>
          </a:p>
          <a:p xmlns:a="http://schemas.openxmlformats.org/drawingml/2006/main">
            <a:r>
              <a:t/>
            </a:r>
          </a:p>
          <a:p xmlns:a="http://schemas.openxmlformats.org/drawingml/2006/main">
            <a:r>
              <a:t>Sources locales : docs/scenarios.md, paramètres S2/S4 figés et manifeste de campagne.</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50 secondes.</a:t>
            </a:r>
          </a:p>
          <a:p xmlns:a="http://schemas.openxmlformats.org/drawingml/2006/main">
            <a:r>
              <a:t/>
            </a:r>
          </a:p>
          <a:p xmlns:a="http://schemas.openxmlformats.org/drawingml/2006/main">
            <a:r>
              <a:t>Le plan correspond à cinq fois deux fois deux. Les deux configurations partagent le même modèle Qwen3 4B, avec des températures de zéro et zéro virgule quatre. Les graines sont appariées dans chaque répétition. Le code, les sources et le runtime sont identifiés avant les essais. L’ordre des configurations alterne. Les pilotes restent séparés des vingt exécutions de la campagne. Les synthèses factuelles sont fortement encadrées par Python.</a:t>
            </a:r>
          </a:p>
          <a:p xmlns:a="http://schemas.openxmlformats.org/drawingml/2006/main">
            <a:r>
              <a:t/>
            </a:r>
          </a:p>
          <a:p xmlns:a="http://schemas.openxmlformats.org/drawingml/2006/main">
            <a:r>
              <a:t>Sources locales : Plan d21234f3, configurations.py, runtime Ollama 0.40.5.</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Ce graphique compare les deux températures sur chaque mission identique de la première répétition. T0 présente des durées plus élevées pour S1, S3 et S5, mais moins élevées pour S2 et S4. Ces variations ne suffisent pas pour attribuer un effet causal à la température. Le chargement, le cache et la position d’exécution doivent aussi être examinés.</a:t>
            </a:r>
          </a:p>
          <a:p xmlns:a="http://schemas.openxmlformats.org/drawingml/2006/main">
            <a:r>
              <a:t/>
            </a:r>
          </a:p>
          <a:p xmlns:a="http://schemas.openxmlformats.org/drawingml/2006/main">
            <a:r>
              <a:t>Sources locales : Analyse_campagne.json et instantane_campagne.json, campagne d21234f3.</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La deuxième répétition ne reproduit pas partout le même ordre de vitesse. Sur les dix paires de la campagne, T04 est plus rapide dans six. Le second essai de la paire est plus rapide dans neuf. Cette asymétrie invite à mieux contrôler l’ordre et le cache avant de recommander une configuration.</a:t>
            </a:r>
          </a:p>
          <a:p xmlns:a="http://schemas.openxmlformats.org/drawingml/2006/main">
            <a:r>
              <a:t/>
            </a:r>
          </a:p>
          <a:p xmlns:a="http://schemas.openxmlformats.org/drawingml/2006/main">
            <a:r>
              <a:t>Sources locales : Analyse_campagne.json et instantane_campagne.json, campagne d21234f3.</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Les quatre critères sont l’exactitude, la traçabilité, le respect de la mission et les limites. Chaque critère reçoit de zéro à deux. Les vingt avis sont enregistrés. La moyenne est sept virgule six sur huit dans chacune des configurations. Les réponses S4 et S5 perdent un point sur le respect de la mission. En S4 la comparaison est faible. En S5 l’angle reste vague. Cette notation assistée ne constitue pas une évaluation indépendante en aveugle.</a:t>
            </a:r>
          </a:p>
          <a:p xmlns:a="http://schemas.openxmlformats.org/drawingml/2006/main">
            <a:r>
              <a:t/>
            </a:r>
          </a:p>
          <a:p xmlns:a="http://schemas.openxmlformats.org/drawingml/2006/main">
            <a:r>
              <a:t>Sources locales : Analyse_campagne.json et instantane_campagne.json, campagne d21234f3.</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La trace numéro dix-neuf conserve son état non validée. Les chiffres concordent avec le CSV. Le texte parle de dix-sept vidéos sans vues ou heures connues. Le contrôle repère sans vues et bloque la réponse. La présence du mot connues indique pourtant une absence d’information. La revue conclut à un faux positif probable. Elle enregistre sept sur huit, tout en maintenant la réserve sur l’angle éditorial vague. Aucun état ou texte original n’a été réécrit.</a:t>
            </a:r>
          </a:p>
          <a:p xmlns:a="http://schemas.openxmlformats.org/drawingml/2006/main">
            <a:r>
              <a:t/>
            </a:r>
          </a:p>
          <a:p xmlns:a="http://schemas.openxmlformats.org/drawingml/2006/main">
            <a:r>
              <a:t>Sources locales : Analyse_campagne.json et instantane_campagne.json, campagne d21234f3.</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50 secondes.</a:t>
            </a:r>
          </a:p>
          <a:p xmlns:a="http://schemas.openxmlformats.org/drawingml/2006/main">
            <a:r>
              <a:t/>
            </a:r>
          </a:p>
          <a:p xmlns:a="http://schemas.openxmlformats.org/drawingml/2006/main">
            <a:r>
              <a:t>La synthèse concentre environ cinquante pour cent de la somme des durées des workflows. Elle dure en moyenne quarante-huit virgule soixante-sept secondes. C’est donc le premier poste à examiner avant une optimisation. Le cumul des tâches ne couvre pas entièrement le démarrage du framework. Les vingt workflows totalisent trente-deux virgule trente-neuf minutes de durée mesurée. Ce cumul ne représente pas le temps calendaire entre lancement et notation.</a:t>
            </a:r>
          </a:p>
          <a:p xmlns:a="http://schemas.openxmlformats.org/drawingml/2006/main">
            <a:r>
              <a:t/>
            </a:r>
          </a:p>
          <a:p xmlns:a="http://schemas.openxmlformats.org/drawingml/2006/main">
            <a:r>
              <a:t>Sources locales : Analyse_campagne.json et instantane_campagne.json, campagne d21234f3.</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Je retiens trois suites. D’abord mesurer plus précisément la synthèse, avec plus de répétitions et un protocole qui documente l’ordre et le cache. Ensuite renforcer les missions : plusieurs références comparables pour S4 et une action éditoriale précise pour S5. Enfin versionner une amélioration du contrôle lexical en conservant la trace du faux positif. Ces recommandations concernent l’outil et la méthode. Elles ne promettent pas de gain d’audience.</a:t>
            </a:r>
          </a:p>
          <a:p xmlns:a="http://schemas.openxmlformats.org/drawingml/2006/main">
            <a:r>
              <a:t/>
            </a:r>
          </a:p>
          <a:p xmlns:a="http://schemas.openxmlformats.org/drawingml/2006/main">
            <a:r>
              <a:t>Sources locales : Analyse_campagne.json et instantane_campagne.json, campagne d21234f3.</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Pour la démonstration, je charge le rapport vidéo, montre les classements puis ouvre la campagne. Je filtre les états pour inclure le cas non validé et présente sa trace. Je montre la différence entre données d’audience et événements du système. Il s’agit d’une relecture annoncée, sans nouveau lancement de plusieurs minutes. Les frais d’API externe sont nuls. L’énergie et le matériel restent non mesurés. AgentOps reçoit désormais les résumés techniques des nouvelles exécutions ; la campagne initiale reste inchangée. L’organisation individuelle et le périmètre pédagogique restent à confirmer avec l’enseignant.</a:t>
            </a:r>
          </a:p>
          <a:p xmlns:a="http://schemas.openxmlformats.org/drawingml/2006/main">
            <a:r>
              <a:t/>
            </a:r>
          </a:p>
          <a:p xmlns:a="http://schemas.openxmlformats.org/drawingml/2006/main">
            <a:r>
              <a:t>Sources locales : Trame_presentation.md, interface locale et rapport, exigences du cours.</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35 secondes.</a:t>
            </a:r>
          </a:p>
          <a:p xmlns:a="http://schemas.openxmlformats.org/drawingml/2006/main">
            <a:r>
              <a:t/>
            </a:r>
          </a:p>
          <a:p xmlns:a="http://schemas.openxmlformats.org/drawingml/2006/main">
            <a:r>
              <a:t>La capture confirme une session avec cinq étapes, soit six spans au total. Le pilote utilise des données fictives et une base séparée. Son exécution locale a duré 179,26 secondes avec cinq appels au modèle et trois appels d’outils. Le résumé dure environ deux millisecondes et indique zéro appel natif LLM ou outil dans AgentOps, car il est envoyé après exécution. Les durées locales restent des attributs. Les vingt essais évalués ne sont ni réexécutés ni instrumentés rétroactivement. Les 67 tests locaux passent. La correction du transport remplace les attributs internes incompatibles par l’interface publique OTLPSpanExporter.</a:t>
            </a:r>
          </a:p>
          <a:p xmlns:a="http://schemas.openxmlformats.org/drawingml/2006/main">
            <a:r>
              <a:t/>
            </a:r>
          </a:p>
          <a:p xmlns:a="http://schemas.openxmlformats.org/drawingml/2006/main">
            <a:r>
              <a:t>Sources locales : Capture AgentOps fournie par l’utilisatrice, preuve_pilote.json et connexion_agentops.md.</a:t>
            </a:r>
          </a:p>
          <a:p xmlns:a="http://schemas.openxmlformats.org/drawingml/2006/main">
            <a:r>
              <a:t>Les notes de qualité ont été proposées avec assistance IA puis revues et saisies par Claudia Florez. Les traces originales restent intactes.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explicative. Les cercles représentent des responsabilités conceptuelles et non une architecture de conteneurs ou une séquence. Au centre, Qwen3 utilise des instructions différentes pour quatre rôles. Ollama exécute le modèle ; CrewAI orchestre les tâches. Python réalise les calculs et vérifications, les CSV apportent les données et SQLite conserve les traces. Streamlit et Plotly montrent les résultats. AgentOps reçoit un résumé technique après exécution ; il ne mesure pas ici les appels natifs du modèle. Asana a seulement été exploré et reste facultatif, sans intégration au TP. Le tableau interactif reste en espagnol ; cette diapositive en est l’adaptation française. Source : fichier fourni capas-sistema-multiagente.html. URL : https://orbitas-observatorio.claud-ia.chatgpt.site/capas-sistema-multiagente/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46f1418c2e44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567078756f44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5daf106717429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a923ec94ec43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0ffbece7ae4d3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519284d3854a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89BFA1-7419-4F12-A17B-8F37A1AA031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35F19A-9419-431D-A2D9-A593B554B9F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926B92-8CF2-4A2A-9943-B8373CB0202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74B36B-B1AF-404C-99CC-A2F4EE9DD1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D59D08C-E25B-44C2-9B8B-075347C7D0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527870D-9DC1-49F4-9C8C-7881F8A202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2D1549-FF15-4B11-B842-537F442AAE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35B2EFD-EA03-45C5-B296-B699A8A3EA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1AB389-3695-428A-85A9-06A1329833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07FFB4-4212-4DA8-88F2-84EED43759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e242d40d354fea" /><Relationship Type="http://schemas.openxmlformats.org/officeDocument/2006/relationships/slideLayout" Target="/ppt/slideLayouts/slideLayout1.xml" Id="R4b7f9f28bd6843b0" /><Relationship Type="http://schemas.openxmlformats.org/officeDocument/2006/relationships/slideLayout" Target="/ppt/slideLayouts/slideLayout2.xml" Id="R8631997701c041fe" /><Relationship Type="http://schemas.openxmlformats.org/officeDocument/2006/relationships/slideLayout" Target="/ppt/slideLayouts/slideLayout3.xml" Id="R8ae5cc641f8b4f14" /><Relationship Type="http://schemas.openxmlformats.org/officeDocument/2006/relationships/slideLayout" Target="/ppt/slideLayouts/slideLayout4.xml" Id="Re0f63aa5d99748ee" /><Relationship Type="http://schemas.openxmlformats.org/officeDocument/2006/relationships/slideLayout" Target="/ppt/slideLayouts/slideLayout5.xml" Id="R14c5e3482e414d0c" /><Relationship Type="http://schemas.openxmlformats.org/officeDocument/2006/relationships/slideLayout" Target="/ppt/slideLayouts/slideLayout6.xml" Id="Rb773839899604f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7f9f28bd6843b0"/>
    <p:sldLayoutId xmlns:r="http://schemas.openxmlformats.org/officeDocument/2006/relationships" id="2147483650" r:id="R8631997701c041fe"/>
    <p:sldLayoutId xmlns:r="http://schemas.openxmlformats.org/officeDocument/2006/relationships" id="2147483651" r:id="R8ae5cc641f8b4f14"/>
    <p:sldLayoutId xmlns:r="http://schemas.openxmlformats.org/officeDocument/2006/relationships" id="2147483652" r:id="Re0f63aa5d99748ee"/>
    <p:sldLayoutId xmlns:r="http://schemas.openxmlformats.org/officeDocument/2006/relationships" id="2147483653" r:id="R14c5e3482e414d0c"/>
    <p:sldLayoutId xmlns:r="http://schemas.openxmlformats.org/officeDocument/2006/relationships" id="2147483654" r:id="Rb773839899604f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9a578f93aa745ec" /><Relationship Type="http://schemas.openxmlformats.org/officeDocument/2006/relationships/image" Target="/ppt/media/image.png" Id="R8de302b4d05649a0" /><Relationship Type="http://schemas.openxmlformats.org/officeDocument/2006/relationships/notesSlide" Target="/ppt/notesSlides/notesSlide1.xml" Id="R7b8d4c5a5e2b45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0cb9774cab64215" /><Relationship Type="http://schemas.openxmlformats.org/officeDocument/2006/relationships/notesSlide" Target="/ppt/notesSlides/notesSlide2.xml" Id="R63df941871da43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2932bd8152442cd" /><Relationship Type="http://schemas.openxmlformats.org/officeDocument/2006/relationships/notesSlide" Target="/ppt/notesSlides/notesSlide3.xml" Id="R08b865d8a36844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d5f50d9e3c427b" /><Relationship Type="http://schemas.openxmlformats.org/officeDocument/2006/relationships/notesSlide" Target="/ppt/notesSlides/notesSlide4.xml" Id="Rd7a6c59580a54f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2638c4d93c746e0" /><Relationship Type="http://schemas.openxmlformats.org/officeDocument/2006/relationships/notesSlide" Target="/ppt/notesSlides/notesSlide5.xml" Id="R012e487a70b943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c042cc0d8142e5" /><Relationship Type="http://schemas.openxmlformats.org/officeDocument/2006/relationships/notesSlide" Target="/ppt/notesSlides/notesSlide6.xml" Id="Rc6dab0d107974b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576bb0d1b3e4d0f" /><Relationship Type="http://schemas.openxmlformats.org/officeDocument/2006/relationships/notesSlide" Target="/ppt/notesSlides/notesSlide7.xml" Id="R662349c0c55b4f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d6d25f60b524611" /><Relationship Type="http://schemas.openxmlformats.org/officeDocument/2006/relationships/chart" Target="/ppt/slides/charts/chart1.xml" Id="R0698790339bf4081" /><Relationship Type="http://schemas.openxmlformats.org/officeDocument/2006/relationships/notesSlide" Target="/ppt/notesSlides/notesSlide8.xml" Id="Rd530466025c641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59ecd3c626f4d51" /><Relationship Type="http://schemas.openxmlformats.org/officeDocument/2006/relationships/chart" Target="/ppt/slides/charts/chart2.xml" Id="R407fc94aa99d447a" /><Relationship Type="http://schemas.openxmlformats.org/officeDocument/2006/relationships/notesSlide" Target="/ppt/notesSlides/notesSlide9.xml" Id="R497b1002239f43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9019e5a9f874354" /><Relationship Type="http://schemas.openxmlformats.org/officeDocument/2006/relationships/notesSlide" Target="/ppt/notesSlides/notesSlide10.xml" Id="Rb17c4fa578f9477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945109fd00741d2" /><Relationship Type="http://schemas.openxmlformats.org/officeDocument/2006/relationships/notesSlide" Target="/ppt/notesSlides/notesSlide11.xml" Id="Re3dc29129b3949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ba86fdbb6f94d6b" /><Relationship Type="http://schemas.openxmlformats.org/officeDocument/2006/relationships/chart" Target="/ppt/slides/charts/chart3.xml" Id="R9efc0726b0594a69" /><Relationship Type="http://schemas.openxmlformats.org/officeDocument/2006/relationships/notesSlide" Target="/ppt/notesSlides/notesSlide12.xml" Id="R29ad69680cf140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5ec4213dd1a4787" /><Relationship Type="http://schemas.openxmlformats.org/officeDocument/2006/relationships/notesSlide" Target="/ppt/notesSlides/notesSlide13.xml" Id="Re2b49229204048f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ffb4dcd6934e10" /><Relationship Type="http://schemas.openxmlformats.org/officeDocument/2006/relationships/notesSlide" Target="/ppt/notesSlides/notesSlide14.xml" Id="R1aceefa9245640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fceaf3bd4c44ea0" /><Relationship Type="http://schemas.openxmlformats.org/officeDocument/2006/relationships/image" Target="/ppt/media/image2.png" Id="R540555a9cdd24056" /><Relationship Type="http://schemas.openxmlformats.org/officeDocument/2006/relationships/notesSlide" Target="/ppt/notesSlides/notesSlide15.xml" Id="Ra59cfcab5dc34471" /></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585c0867d9604a7b"/><Relationship Type="http://schemas.openxmlformats.org/officeDocument/2006/relationships/notesSlide" Target="/ppt/notesSlides/notesSlide16.xml" Id="R3adad3db058049e8"/><Relationship Id="rIdTableauInteractif" Type="http://schemas.openxmlformats.org/officeDocument/2006/relationships/hyperlink" Target="https://orbitas-observatorio.claud-ia.chatgpt.site/capas-sistema-multiagente/" TargetMode="External"/></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T0</c:v>
          </c:tx>
          <c:spPr>
            <a:solidFill xmlns:a="http://schemas.openxmlformats.org/drawingml/2006/main">
              <a:srgbClr val="A197D9"/>
            </a:solidFill>
          </c:spPr>
          <c:invertIfNegative val="0"/>
          <c:cat>
            <c:strRef>
              <c:f>'Chart Data'!$A$2:$A$6</c:f>
              <c:strCache>
                <c:ptCount val="5"/>
                <c:pt idx="0">
                  <c:v>S1</c:v>
                </c:pt>
                <c:pt idx="1">
                  <c:v>S2</c:v>
                </c:pt>
                <c:pt idx="2">
                  <c:v>S3</c:v>
                </c:pt>
                <c:pt idx="3">
                  <c:v>S4</c:v>
                </c:pt>
                <c:pt idx="4">
                  <c:v>S5</c:v>
                </c:pt>
              </c:strCache>
            </c:strRef>
          </c:cat>
          <c:val>
            <c:numRef>
              <c:f>'Chart Data'!$B$2:$B$6</c:f>
              <c:numCache>
                <c:formatCode>0.0</c:formatCode>
                <c:ptCount val="5"/>
                <c:pt idx="0">
                  <c:v>211.47</c:v>
                </c:pt>
                <c:pt idx="1">
                  <c:v>58.54</c:v>
                </c:pt>
                <c:pt idx="2">
                  <c:v>175.76</c:v>
                </c:pt>
                <c:pt idx="3">
                  <c:v>56.7</c:v>
                </c:pt>
                <c:pt idx="4">
                  <c:v>153.11</c:v>
                </c:pt>
              </c:numCache>
            </c:numRef>
          </c:val>
        </c:ser>
        <c:ser>
          <c:idx val="1"/>
          <c:order val="1"/>
          <c:tx>
            <c:v>T04</c:v>
          </c:tx>
          <c:spPr>
            <a:solidFill xmlns:a="http://schemas.openxmlformats.org/drawingml/2006/main">
              <a:srgbClr val="E6B46E"/>
            </a:solidFill>
          </c:spPr>
          <c:invertIfNegative val="0"/>
          <c:cat>
            <c:strRef>
              <c:f>'Chart Data'!$C$2:$C$6</c:f>
              <c:strCache>
                <c:ptCount val="5"/>
                <c:pt idx="0">
                  <c:v>S1</c:v>
                </c:pt>
                <c:pt idx="1">
                  <c:v>S2</c:v>
                </c:pt>
                <c:pt idx="2">
                  <c:v>S3</c:v>
                </c:pt>
                <c:pt idx="3">
                  <c:v>S4</c:v>
                </c:pt>
                <c:pt idx="4">
                  <c:v>S5</c:v>
                </c:pt>
              </c:strCache>
            </c:strRef>
          </c:cat>
          <c:val>
            <c:numRef>
              <c:f>'Chart Data'!$D$2:$D$6</c:f>
              <c:numCache>
                <c:formatCode>0.0</c:formatCode>
                <c:ptCount val="5"/>
                <c:pt idx="0">
                  <c:v>77.75</c:v>
                </c:pt>
                <c:pt idx="1">
                  <c:v>138.87</c:v>
                </c:pt>
                <c:pt idx="2">
                  <c:v>76.52</c:v>
                </c:pt>
                <c:pt idx="3">
                  <c:v>99.38</c:v>
                </c:pt>
                <c:pt idx="4">
                  <c:v>75.29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202124"/>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BDF"/>
            </a:solidFill>
          </a:ln>
        </c:spPr>
        <c:txPr>
          <a:bodyPr xmlns:a="http://schemas.openxmlformats.org/drawingml/2006/main" anchorCtr="1"/>
          <a:lstStyle xmlns:a="http://schemas.openxmlformats.org/drawingml/2006/main"/>
          <a:p xmlns:a="http://schemas.openxmlformats.org/drawingml/2006/main">
            <a:pPr>
              <a:defRPr sz="1725">
                <a:solidFill>
                  <a:srgbClr val="202124"/>
                </a:solidFill>
                <a:latin typeface="Arial"/>
                <a:ea typeface="Arial"/>
                <a:cs typeface="Arial"/>
              </a:defRPr>
            </a:pPr>
          </a:p>
        </c:txPr>
        <c:crossAx val="48672768"/>
      </c:catAx>
      <c:valAx>
        <c:axId val="48672768"/>
        <c:scaling>
          <c:orientation val="minMax"/>
          <c:max val="240"/>
          <c:min val="0"/>
        </c:scaling>
        <c:delete val="0"/>
        <c:axPos val="l"/>
        <c:majorGridlines>
          <c:spPr>
            <a:ln xmlns:a="http://schemas.openxmlformats.org/drawingml/2006/main" w="9525">
              <a:solidFill>
                <a:srgbClr val="D9DBD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0555A"/>
                </a:solidFill>
                <a:latin typeface="Arial"/>
                <a:ea typeface="Arial"/>
                <a:cs typeface="Arial"/>
              </a:defRPr>
            </a:pPr>
          </a:p>
        </c:txPr>
        <c:crossAx val="48650112"/>
        <c:crossBetween val="between"/>
        <c:majorUnit val="6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202124"/>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T0</c:v>
          </c:tx>
          <c:spPr>
            <a:solidFill xmlns:a="http://schemas.openxmlformats.org/drawingml/2006/main">
              <a:srgbClr val="A197D9"/>
            </a:solidFill>
          </c:spPr>
          <c:invertIfNegative val="0"/>
          <c:cat>
            <c:strRef>
              <c:f>'Chart Data'!$A$2:$A$6</c:f>
              <c:strCache>
                <c:ptCount val="5"/>
                <c:pt idx="0">
                  <c:v>S1</c:v>
                </c:pt>
                <c:pt idx="1">
                  <c:v>S2</c:v>
                </c:pt>
                <c:pt idx="2">
                  <c:v>S3</c:v>
                </c:pt>
                <c:pt idx="3">
                  <c:v>S4</c:v>
                </c:pt>
                <c:pt idx="4">
                  <c:v>S5</c:v>
                </c:pt>
              </c:strCache>
            </c:strRef>
          </c:cat>
          <c:val>
            <c:numRef>
              <c:f>'Chart Data'!$B$2:$B$6</c:f>
              <c:numCache>
                <c:formatCode>0.0</c:formatCode>
                <c:ptCount val="5"/>
                <c:pt idx="0">
                  <c:v>71.55</c:v>
                </c:pt>
                <c:pt idx="1">
                  <c:v>87.02</c:v>
                </c:pt>
                <c:pt idx="2">
                  <c:v>98.08</c:v>
                </c:pt>
                <c:pt idx="3">
                  <c:v>92.73</c:v>
                </c:pt>
                <c:pt idx="4">
                  <c:v>87.01</c:v>
                </c:pt>
              </c:numCache>
            </c:numRef>
          </c:val>
        </c:ser>
        <c:ser>
          <c:idx val="1"/>
          <c:order val="1"/>
          <c:tx>
            <c:v>T04</c:v>
          </c:tx>
          <c:spPr>
            <a:solidFill xmlns:a="http://schemas.openxmlformats.org/drawingml/2006/main">
              <a:srgbClr val="E6B46E"/>
            </a:solidFill>
          </c:spPr>
          <c:invertIfNegative val="0"/>
          <c:cat>
            <c:strRef>
              <c:f>'Chart Data'!$C$2:$C$6</c:f>
              <c:strCache>
                <c:ptCount val="5"/>
                <c:pt idx="0">
                  <c:v>S1</c:v>
                </c:pt>
                <c:pt idx="1">
                  <c:v>S2</c:v>
                </c:pt>
                <c:pt idx="2">
                  <c:v>S3</c:v>
                </c:pt>
                <c:pt idx="3">
                  <c:v>S4</c:v>
                </c:pt>
                <c:pt idx="4">
                  <c:v>S5</c:v>
                </c:pt>
              </c:strCache>
            </c:strRef>
          </c:cat>
          <c:val>
            <c:numRef>
              <c:f>'Chart Data'!$D$2:$D$6</c:f>
              <c:numCache>
                <c:formatCode>0.0</c:formatCode>
                <c:ptCount val="5"/>
                <c:pt idx="0">
                  <c:v>90.24</c:v>
                </c:pt>
                <c:pt idx="1">
                  <c:v>60.73</c:v>
                </c:pt>
                <c:pt idx="2">
                  <c:v>81.85</c:v>
                </c:pt>
                <c:pt idx="3">
                  <c:v>55.11</c:v>
                </c:pt>
                <c:pt idx="4">
                  <c:v>95.9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202124"/>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BDF"/>
            </a:solidFill>
          </a:ln>
        </c:spPr>
        <c:txPr>
          <a:bodyPr xmlns:a="http://schemas.openxmlformats.org/drawingml/2006/main" anchorCtr="1"/>
          <a:lstStyle xmlns:a="http://schemas.openxmlformats.org/drawingml/2006/main"/>
          <a:p xmlns:a="http://schemas.openxmlformats.org/drawingml/2006/main">
            <a:pPr>
              <a:defRPr sz="1725">
                <a:solidFill>
                  <a:srgbClr val="202124"/>
                </a:solidFill>
                <a:latin typeface="Arial"/>
                <a:ea typeface="Arial"/>
                <a:cs typeface="Arial"/>
              </a:defRPr>
            </a:pPr>
          </a:p>
        </c:txPr>
        <c:crossAx val="48672768"/>
      </c:catAx>
      <c:valAx>
        <c:axId val="48672768"/>
        <c:scaling>
          <c:orientation val="minMax"/>
          <c:max val="240"/>
          <c:min val="0"/>
        </c:scaling>
        <c:delete val="0"/>
        <c:axPos val="l"/>
        <c:majorGridlines>
          <c:spPr>
            <a:ln xmlns:a="http://schemas.openxmlformats.org/drawingml/2006/main" w="9525">
              <a:solidFill>
                <a:srgbClr val="D9DBD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0555A"/>
                </a:solidFill>
                <a:latin typeface="Arial"/>
                <a:ea typeface="Arial"/>
                <a:cs typeface="Arial"/>
              </a:defRPr>
            </a:pPr>
          </a:p>
        </c:txPr>
        <c:crossAx val="48650112"/>
        <c:crossBetween val="between"/>
        <c:majorUnit val="6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202124"/>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Secondes</c:v>
          </c:tx>
          <c:spPr>
            <a:solidFill xmlns:a="http://schemas.openxmlformats.org/drawingml/2006/main">
              <a:srgbClr val="A197D9"/>
            </a:solidFill>
          </c:spPr>
          <c:invertIfNegative val="0"/>
          <c:cat>
            <c:strRef>
              <c:f>'Chart Data'!$A$2:$A$6</c:f>
              <c:strCache>
                <c:ptCount val="5"/>
                <c:pt idx="0">
                  <c:v>Cadrage</c:v>
                </c:pt>
                <c:pt idx="1">
                  <c:v>Provenance</c:v>
                </c:pt>
                <c:pt idx="2">
                  <c:v>Calcul</c:v>
                </c:pt>
                <c:pt idx="3">
                  <c:v>Vérification</c:v>
                </c:pt>
                <c:pt idx="4">
                  <c:v>Synthèse</c:v>
                </c:pt>
              </c:strCache>
            </c:strRef>
          </c:cat>
          <c:val>
            <c:numRef>
              <c:f>'Chart Data'!$B$2:$B$6</c:f>
              <c:numCache>
                <c:formatCode>0.0</c:formatCode>
                <c:ptCount val="5"/>
                <c:pt idx="0">
                  <c:v>16.19</c:v>
                </c:pt>
                <c:pt idx="1">
                  <c:v>6.68</c:v>
                </c:pt>
                <c:pt idx="2">
                  <c:v>11.03</c:v>
                </c:pt>
                <c:pt idx="3">
                  <c:v>8.72</c:v>
                </c:pt>
                <c:pt idx="4">
                  <c:v>48.67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202124"/>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BDF"/>
            </a:solidFill>
          </a:ln>
        </c:spPr>
        <c:txPr>
          <a:bodyPr xmlns:a="http://schemas.openxmlformats.org/drawingml/2006/main" anchorCtr="1"/>
          <a:lstStyle xmlns:a="http://schemas.openxmlformats.org/drawingml/2006/main"/>
          <a:p xmlns:a="http://schemas.openxmlformats.org/drawingml/2006/main">
            <a:pPr>
              <a:defRPr sz="1725">
                <a:solidFill>
                  <a:srgbClr val="202124"/>
                </a:solidFill>
                <a:latin typeface="Arial"/>
                <a:ea typeface="Arial"/>
                <a:cs typeface="Arial"/>
              </a:defRPr>
            </a:pPr>
          </a:p>
        </c:txPr>
        <c:crossAx val="48672768"/>
      </c:catAx>
      <c:valAx>
        <c:axId val="48672768"/>
        <c:scaling>
          <c:orientation val="minMax"/>
          <c:max val="60"/>
          <c:min val="0"/>
        </c:scaling>
        <c:delete val="0"/>
        <c:axPos val="l"/>
        <c:majorGridlines>
          <c:spPr>
            <a:ln xmlns:a="http://schemas.openxmlformats.org/drawingml/2006/main" w="9525">
              <a:solidFill>
                <a:srgbClr val="D9DBD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0555A"/>
                </a:solidFill>
                <a:latin typeface="Arial"/>
                <a:ea typeface="Arial"/>
                <a:cs typeface="Arial"/>
              </a:defRPr>
            </a:pPr>
          </a:p>
        </c:txPr>
        <c:crossAx val="48650112"/>
        <c:crossBetween val="between"/>
        <c:majorUnit val="6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60B9D1-B5ED-4D03-B51F-57AE83133265}"/>
              </a:ext>
            </a:extLst>
          </p:cNvPr>
          <p:cNvSpPr>
            <a:spLocks xmlns:a="http://schemas.openxmlformats.org/drawingml/2006/main" noGrp="1"/>
          </p:cNvSpPr>
          <p:nvPr/>
        </p:nvSpPr>
        <p:spPr>
          <a:xfrm xmlns:a="http://schemas.openxmlformats.org/drawingml/2006/main">
            <a:off x="609600" y="723900"/>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4350" b="1">
                <a:solidFill>
                  <a:srgbClr val="202124"/>
                </a:solidFill>
                <a:latin typeface="Arial"/>
                <a:ea typeface="Arial"/>
                <a:cs typeface="Arial"/>
              </a:defRPr>
            </a:defPPr>
          </a:lstStyle>
          <a:p xmlns:a="http://schemas.openxmlformats.org/drawingml/2006/main">
            <a:pPr algn="ctr">
              <a:defRPr sz="4350" b="1">
                <a:solidFill>
                  <a:srgbClr val="202124"/>
                </a:solidFill>
                <a:latin typeface="Arial"/>
                <a:ea typeface="Arial"/>
                <a:cs typeface="Arial"/>
              </a:defRPr>
            </a:pPr>
            <a:r>
              <a:rPr sz="4350" b="1">
                <a:solidFill>
                  <a:srgbClr val="202124"/>
                </a:solidFill>
                <a:latin typeface="Arial"/>
                <a:ea typeface="Arial"/>
                <a:cs typeface="Arial"/>
              </a:rPr>
              <a:t>Observatoire multiagents</a:t>
            </a:r>
          </a:p>
          <a:p xmlns:a="http://schemas.openxmlformats.org/drawingml/2006/main">
            <a:pPr algn="ctr">
              <a:defRPr sz="4350" b="1">
                <a:solidFill>
                  <a:srgbClr val="202124"/>
                </a:solidFill>
                <a:latin typeface="Arial"/>
                <a:ea typeface="Arial"/>
                <a:cs typeface="Arial"/>
              </a:defRPr>
            </a:pPr>
            <a:r>
              <a:rPr sz="4350" b="1">
                <a:solidFill>
                  <a:srgbClr val="202124"/>
                </a:solidFill>
                <a:latin typeface="Arial"/>
                <a:ea typeface="Arial"/>
                <a:cs typeface="Arial"/>
              </a:rPr>
              <a:t>de contenu numérique</a:t>
            </a:r>
          </a:p>
        </p:txBody>
      </p:sp>
      <p:sp>
        <p:nvSpPr>
          <p:cNvPr id="2" name="">
            <a:extLst xmlns:a="http://schemas.openxmlformats.org/drawingml/2006/main">
              <a:ext uri="{FF2B5EF4-FFF2-40B4-BE49-F238E27FC236}">
                <a16:creationId xmlns:a16="http://schemas.microsoft.com/office/drawing/2014/main" id="{2F3EB003-5786-4F51-9349-86F90228FCAF}"/>
              </a:ext>
            </a:extLst>
          </p:cNvPr>
          <p:cNvSpPr>
            <a:spLocks xmlns:a="http://schemas.openxmlformats.org/drawingml/2006/main" noGrp="1"/>
          </p:cNvSpPr>
          <p:nvPr/>
        </p:nvSpPr>
        <p:spPr>
          <a:xfrm xmlns:a="http://schemas.openxmlformats.org/drawingml/2006/main">
            <a:off x="609600" y="23622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0">
                <a:solidFill>
                  <a:srgbClr val="50555A"/>
                </a:solidFill>
                <a:latin typeface="Arial"/>
                <a:ea typeface="Arial"/>
                <a:cs typeface="Arial"/>
              </a:defRPr>
            </a:defPPr>
          </a:lstStyle>
          <a:p xmlns:a="http://schemas.openxmlformats.org/drawingml/2006/main">
            <a:pPr algn="ctr">
              <a:defRPr sz="2250" b="0">
                <a:solidFill>
                  <a:srgbClr val="50555A"/>
                </a:solidFill>
                <a:latin typeface="Arial"/>
                <a:ea typeface="Arial"/>
                <a:cs typeface="Arial"/>
              </a:defRPr>
            </a:pPr>
            <a:r>
              <a:rPr sz="2250" b="0">
                <a:solidFill>
                  <a:srgbClr val="50555A"/>
                </a:solidFill>
                <a:latin typeface="Arial"/>
                <a:ea typeface="Arial"/>
                <a:cs typeface="Arial"/>
              </a:rPr>
              <a:t>Compte rendu du projet</a:t>
            </a:r>
          </a:p>
        </p:txBody>
      </p:sp>
      <p:graphicFrame>
        <p:nvGraphicFramePr>
          <p:cNvPr id="3" name="">
            <a:extLst xmlns:a="http://schemas.openxmlformats.org/drawingml/2006/main">
              <a:ext uri="{FF2B5EF4-FFF2-40B4-BE49-F238E27FC236}">
                <a16:creationId xmlns:a16="http://schemas.microsoft.com/office/drawing/2014/main" id="{510C084A-544C-48BF-B5CF-C8827FFA9D57}"/>
              </a:ext>
            </a:extLst>
          </p:cNvPr>
          <p:cNvGraphicFramePr/>
          <p:nvPr/>
        </p:nvGraphicFramePr>
        <p:xfrm>
          <a:off xmlns:a="http://schemas.openxmlformats.org/drawingml/2006/main" x="533400" y="3238500"/>
          <a:ext xmlns:a="http://schemas.openxmlformats.org/drawingml/2006/main" cx="11125200" cy="1381125"/>
        </p:xfrm>
        <a:graphic xmlns:a="http://schemas.openxmlformats.org/drawingml/2006/main">
          <a:graphicData uri="http://schemas.openxmlformats.org/drawingml/2006/table">
            <a:tbl>
              <a:tblPr firstRow="0" bandRow="0"/>
              <a:tblGrid>
                <a:gridCol w="2781300"/>
                <a:gridCol w="2781300"/>
                <a:gridCol w="2781300"/>
                <a:gridCol w="2781300"/>
              </a:tblGrid>
              <a:tr h="690563">
                <a:tc>
                  <a:txBody>
                    <a:bodyPr wrap="square" lIns="133350" tIns="95250" rIns="133350" bIns="95250">
                      <a:noAutofit/>
                    </a:bodyPr>
                    <a:lstStyle/>
                    <a:p>
                      <a:pPr algn="ctr"/>
                      <a:r>
                        <a:rPr sz="2175" b="1">
                          <a:solidFill>
                            <a:srgbClr val="202124"/>
                          </a:solidFill>
                          <a:latin typeface="Arial"/>
                          <a:ea typeface="Arial"/>
                          <a:cs typeface="Arial"/>
                        </a:rPr>
                        <a:t>Exécutions</a:t>
                      </a:r>
                    </a:p>
                  </a:txBody>
                  <a:tcPr marL="91440" marR="91440" marT="45720" marB="45720" anchor="ctr">
                    <a:lnL w="9525">
                      <a:solidFill>
                        <a:srgbClr val="D9DBDF"/>
                      </a:solidFill>
                      <a:prstDash val="solid"/>
                    </a:lnL>
                    <a:lnR w="9525">
                      <a:solidFill>
                        <a:srgbClr val="D9DBDF"/>
                      </a:solidFill>
                      <a:prstDash val="solid"/>
                    </a:lnR>
                    <a:lnT w="9525">
                      <a:solidFill>
                        <a:srgbClr val="D9DBDF"/>
                      </a:solidFill>
                      <a:prstDash val="solid"/>
                    </a:lnT>
                    <a:lnB w="9525">
                      <a:solidFill>
                        <a:srgbClr val="D9DBDF"/>
                      </a:solidFill>
                      <a:prstDash val="solid"/>
                    </a:lnB>
                    <a:solidFill>
                      <a:srgbClr val="B4AFF0"/>
                    </a:solidFill>
                  </a:tcPr>
                </a:tc>
                <a:tc>
                  <a:txBody>
                    <a:bodyPr wrap="square" lIns="133350" tIns="95250" rIns="133350" bIns="95250">
                      <a:noAutofit/>
                    </a:bodyPr>
                    <a:lstStyle/>
                    <a:p>
                      <a:pPr algn="ctr"/>
                      <a:r>
                        <a:rPr sz="2175" b="1">
                          <a:solidFill>
                            <a:srgbClr val="202124"/>
                          </a:solidFill>
                          <a:latin typeface="Arial"/>
                          <a:ea typeface="Arial"/>
                          <a:cs typeface="Arial"/>
                        </a:rPr>
                        <a:t>Scénarios</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4CD91"/>
                    </a:solidFill>
                  </a:tcPr>
                </a:tc>
                <a:tc>
                  <a:txBody>
                    <a:bodyPr wrap="square" lIns="133350" tIns="95250" rIns="133350" bIns="95250">
                      <a:noAutofit/>
                    </a:bodyPr>
                    <a:lstStyle/>
                    <a:p>
                      <a:pPr algn="ctr"/>
                      <a:r>
                        <a:rPr sz="2175" b="1">
                          <a:solidFill>
                            <a:srgbClr val="202124"/>
                          </a:solidFill>
                          <a:latin typeface="Arial"/>
                          <a:ea typeface="Arial"/>
                          <a:cs typeface="Arial"/>
                        </a:rPr>
                        <a:t>Qualité revue</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1C8E2"/>
                    </a:solidFill>
                  </a:tcPr>
                </a:tc>
                <a:tc>
                  <a:txBody>
                    <a:bodyPr wrap="square" lIns="133350" tIns="95250" rIns="133350" bIns="95250">
                      <a:noAutofit/>
                    </a:bodyPr>
                    <a:lstStyle/>
                    <a:p>
                      <a:pPr algn="ctr"/>
                      <a:r>
                        <a:rPr sz="2175" b="1">
                          <a:solidFill>
                            <a:srgbClr val="202124"/>
                          </a:solidFill>
                          <a:latin typeface="Arial"/>
                          <a:ea typeface="Arial"/>
                          <a:cs typeface="Arial"/>
                        </a:rPr>
                        <a:t>API externe</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D6C6ED"/>
                    </a:solidFill>
                  </a:tcPr>
                </a:tc>
              </a:tr>
              <a:tr h="690563">
                <a:tc>
                  <a:txBody>
                    <a:bodyPr wrap="square" lIns="133350" tIns="95250" rIns="133350" bIns="95250">
                      <a:noAutofit/>
                    </a:bodyPr>
                    <a:lstStyle/>
                    <a:p>
                      <a:pPr algn="ctr"/>
                      <a:r>
                        <a:rPr sz="2175" b="0">
                          <a:solidFill>
                            <a:srgbClr val="202124"/>
                          </a:solidFill>
                          <a:latin typeface="Arial"/>
                          <a:ea typeface="Arial"/>
                          <a:cs typeface="Arial"/>
                        </a:rPr>
                        <a:t>20</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ctr"/>
                      <a:r>
                        <a:rPr sz="2175" b="0">
                          <a:solidFill>
                            <a:srgbClr val="202124"/>
                          </a:solidFill>
                          <a:latin typeface="Arial"/>
                          <a:ea typeface="Arial"/>
                          <a:cs typeface="Arial"/>
                        </a:rPr>
                        <a:t>5</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ctr"/>
                      <a:r>
                        <a:rPr sz="2175" b="0">
                          <a:solidFill>
                            <a:srgbClr val="202124"/>
                          </a:solidFill>
                          <a:latin typeface="Arial"/>
                          <a:ea typeface="Arial"/>
                          <a:cs typeface="Arial"/>
                        </a:rPr>
                        <a:t>7,6 / 8</a:t>
                      </a:r>
                    </a:p>
                  </a:txBody>
                  <a:tcPr marL="91440" marR="91440" marT="45720" marB="45720" anchor="ctr">
                    <a:lnR w="9525">
                      <a:solidFill>
                        <a:srgbClr val="D9DBDF"/>
                      </a:solidFill>
                      <a:prstDash val="solid"/>
                    </a:lnR>
                    <a:lnB w="9525">
                      <a:solidFill>
                        <a:srgbClr val="D9DBDF"/>
                      </a:solidFill>
                      <a:prstDash val="solid"/>
                    </a:lnB>
                    <a:solidFill>
                      <a:srgbClr val="FCEDF6"/>
                    </a:solidFill>
                  </a:tcPr>
                </a:tc>
                <a:tc>
                  <a:txBody>
                    <a:bodyPr wrap="square" lIns="133350" tIns="95250" rIns="133350" bIns="95250">
                      <a:noAutofit/>
                    </a:bodyPr>
                    <a:lstStyle/>
                    <a:p>
                      <a:pPr algn="ctr"/>
                      <a:r>
                        <a:rPr sz="2175" b="0">
                          <a:solidFill>
                            <a:srgbClr val="202124"/>
                          </a:solidFill>
                          <a:latin typeface="Arial"/>
                          <a:ea typeface="Arial"/>
                          <a:cs typeface="Arial"/>
                        </a:rPr>
                        <a:t>0 USD</a:t>
                      </a:r>
                    </a:p>
                  </a:txBody>
                  <a:tcPr marL="91440" marR="91440" marT="45720" marB="45720" anchor="ctr">
                    <a:lnR w="9525">
                      <a:solidFill>
                        <a:srgbClr val="D9DBDF"/>
                      </a:solidFill>
                      <a:prstDash val="solid"/>
                    </a:lnR>
                    <a:lnB w="9525">
                      <a:solidFill>
                        <a:srgbClr val="D9DBDF"/>
                      </a:solidFill>
                      <a:prstDash val="solid"/>
                    </a:lnB>
                    <a:solidFill>
                      <a:srgbClr val="F3EEFA"/>
                    </a:solidFill>
                  </a:tcPr>
                </a:tc>
              </a:tr>
            </a:tbl>
          </a:graphicData>
        </a:graphic>
      </p:graphicFrame>
      <p:sp>
        <p:nvSpPr>
          <p:cNvPr id="4" name="">
            <a:extLst xmlns:a="http://schemas.openxmlformats.org/drawingml/2006/main">
              <a:ext uri="{FF2B5EF4-FFF2-40B4-BE49-F238E27FC236}">
                <a16:creationId xmlns:a16="http://schemas.microsoft.com/office/drawing/2014/main" id="{F95DCF49-80E2-467B-A717-6366FE91D0D7}"/>
              </a:ext>
            </a:extLst>
          </p:cNvPr>
          <p:cNvSpPr>
            <a:spLocks xmlns:a="http://schemas.openxmlformats.org/drawingml/2006/main" noGrp="1"/>
          </p:cNvSpPr>
          <p:nvPr/>
        </p:nvSpPr>
        <p:spPr>
          <a:xfrm xmlns:a="http://schemas.openxmlformats.org/drawingml/2006/main">
            <a:off x="533400" y="5143500"/>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202124"/>
                </a:solidFill>
                <a:latin typeface="Arial"/>
                <a:ea typeface="Arial"/>
                <a:cs typeface="Arial"/>
              </a:defRPr>
            </a:defPPr>
          </a:lstStyle>
          <a:p xmlns:a="http://schemas.openxmlformats.org/drawingml/2006/main">
            <a:pPr algn="ctr">
              <a:defRPr sz="2025" b="1">
                <a:solidFill>
                  <a:srgbClr val="202124"/>
                </a:solidFill>
                <a:latin typeface="Arial"/>
                <a:ea typeface="Arial"/>
                <a:cs typeface="Arial"/>
              </a:defRPr>
            </a:pPr>
            <a:r>
              <a:rPr sz="2025" b="1">
                <a:solidFill>
                  <a:srgbClr val="202124"/>
                </a:solidFill>
                <a:latin typeface="Arial"/>
                <a:ea typeface="Arial"/>
                <a:cs typeface="Arial"/>
              </a:rPr>
              <a:t>Claudia Florez</a:t>
            </a:r>
          </a:p>
        </p:txBody>
      </p:sp>
      <p:sp>
        <p:nvSpPr>
          <p:cNvPr id="5" name="">
            <a:extLst xmlns:a="http://schemas.openxmlformats.org/drawingml/2006/main">
              <a:ext uri="{FF2B5EF4-FFF2-40B4-BE49-F238E27FC236}">
                <a16:creationId xmlns:a16="http://schemas.microsoft.com/office/drawing/2014/main" id="{7A4D61C5-FD80-4FCB-A213-639B063F5A05}"/>
              </a:ext>
            </a:extLst>
          </p:cNvPr>
          <p:cNvSpPr>
            <a:spLocks xmlns:a="http://schemas.openxmlformats.org/drawingml/2006/main" noGrp="1"/>
          </p:cNvSpPr>
          <p:nvPr/>
        </p:nvSpPr>
        <p:spPr>
          <a:xfrm xmlns:a="http://schemas.openxmlformats.org/drawingml/2006/main">
            <a:off x="533400" y="558165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50555A"/>
                </a:solidFill>
                <a:latin typeface="Arial"/>
                <a:ea typeface="Arial"/>
                <a:cs typeface="Arial"/>
              </a:defRPr>
            </a:defPPr>
          </a:lstStyle>
          <a:p xmlns:a="http://schemas.openxmlformats.org/drawingml/2006/main">
            <a:pPr algn="ctr">
              <a:defRPr sz="1725" b="0">
                <a:solidFill>
                  <a:srgbClr val="50555A"/>
                </a:solidFill>
                <a:latin typeface="Arial"/>
                <a:ea typeface="Arial"/>
                <a:cs typeface="Arial"/>
              </a:defRPr>
            </a:pPr>
            <a:r>
              <a:rPr sz="1725" b="0">
                <a:solidFill>
                  <a:srgbClr val="50555A"/>
                </a:solidFill>
                <a:latin typeface="Arial"/>
                <a:ea typeface="Arial"/>
                <a:cs typeface="Arial"/>
              </a:rPr>
              <a:t>Cours 420-VD2-ID   Haythem Rehouma   16 octobre 2026</a:t>
            </a:r>
          </a:p>
        </p:txBody>
      </p:sp>
      <p:graphicFrame>
        <p:nvGraphicFramePr>
          <p:cNvPr id="6" name="">
            <a:extLst xmlns:a="http://schemas.openxmlformats.org/drawingml/2006/main">
              <a:ext uri="{FF2B5EF4-FFF2-40B4-BE49-F238E27FC236}">
                <a16:creationId xmlns:a16="http://schemas.microsoft.com/office/drawing/2014/main" id="{B1C7348E-A3AE-466D-BA36-6EA5334777B8}"/>
              </a:ext>
            </a:extLst>
          </p:cNvPr>
          <p:cNvGraphicFramePr/>
          <p:nvPr/>
        </p:nvGraphicFramePr>
        <p:xfrm>
          <a:off xmlns:a="http://schemas.openxmlformats.org/drawingml/2006/main" x="9829800" y="6115050"/>
          <a:ext xmlns:a="http://schemas.openxmlformats.org/drawingml/2006/main" cx="1828800" cy="457200"/>
        </p:xfrm>
        <a:graphic xmlns:a="http://schemas.openxmlformats.org/drawingml/2006/main">
          <a:graphicData uri="http://schemas.openxmlformats.org/drawingml/2006/table">
            <a:tbl>
              <a:tblPr/>
              <a:tblGrid>
                <a:gridCol w="1828800"/>
              </a:tblGrid>
              <a:tr h="457200">
                <a:tc>
                  <a:txBody>
                    <a:bodyPr/>
                    <a:lstStyle/>
                    <a:p>
                      <a:r>
                        <a:t/>
                      </a:r>
                    </a:p>
                  </a:txBody>
                  <a:tcPr marL="91440" marR="91440" marT="45720" marB="45720">
                    <a:lnL w="0">
                      <a:solidFill>
                        <a:srgbClr val="8171B5"/>
                      </a:solidFill>
                    </a:lnL>
                    <a:lnR w="0">
                      <a:solidFill>
                        <a:srgbClr val="8171B5"/>
                      </a:solidFill>
                    </a:lnR>
                    <a:lnT w="0">
                      <a:solidFill>
                        <a:srgbClr val="8171B5"/>
                      </a:solidFill>
                    </a:lnT>
                    <a:lnB w="0">
                      <a:solidFill>
                        <a:srgbClr val="8171B5"/>
                      </a:solidFill>
                    </a:lnB>
                    <a:solidFill>
                      <a:srgbClr val="8171B5"/>
                    </a:solidFill>
                  </a:tcPr>
                </a:tc>
              </a:tr>
            </a:tbl>
          </a:graphicData>
        </a:graphic>
      </p:graphicFrame>
      <p:pic>
        <p:nvPicPr>
          <p:cNvPr id="7" name="">
            <a:extLst xmlns:a="http://schemas.openxmlformats.org/drawingml/2006/main">
              <a:ext uri="{FF2B5EF4-FFF2-40B4-BE49-F238E27FC236}">
                <a16:creationId xmlns:a16="http://schemas.microsoft.com/office/drawing/2014/main" id="{458956AB-4A92-4490-ACCE-EA7A99E108B7}"/>
              </a:ext>
            </a:extLst>
          </p:cNvPr>
          <p:cNvPicPr>
            <a:picLocks xmlns:a="http://schemas.openxmlformats.org/drawingml/2006/main" noChangeAspect="1"/>
          </p:cNvPicPr>
          <p:nvPr/>
        </p:nvPicPr>
        <p:blipFill>
          <a:blip xmlns:r="http://schemas.openxmlformats.org/officeDocument/2006/relationships" xmlns:a="http://schemas.openxmlformats.org/drawingml/2006/main" r:embed="R8de302b4d05649a0"/>
          <a:stretch xmlns:a="http://schemas.openxmlformats.org/drawingml/2006/main"/>
        </p:blipFill>
        <p:spPr>
          <a:xfrm xmlns:a="http://schemas.openxmlformats.org/drawingml/2006/main">
            <a:off x="10297532" y="6191250"/>
            <a:ext cx="893337" cy="304800"/>
          </a:xfrm>
          <a:prstGeom xmlns:a="http://schemas.openxmlformats.org/drawingml/2006/main" prst="rect">
            <a:avLst/>
          </a:prstGeom>
        </p:spPr>
      </p:pic>
    </p:spTree>
    <p:extLst>
      <p:ext uri="{BB962C8B-B14F-4D97-AF65-F5344CB8AC3E}">
        <p14:creationId xmlns:p14="http://schemas.microsoft.com/office/powerpoint/2010/main" val="7812538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E67590-BF3A-468A-9F75-380A4AB0540C}"/>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Objectif et données</a:t>
            </a:r>
          </a:p>
        </p:txBody>
      </p:sp>
      <p:sp>
        <p:nvSpPr>
          <p:cNvPr id="2" name="">
            <a:extLst xmlns:a="http://schemas.openxmlformats.org/drawingml/2006/main">
              <a:ext uri="{FF2B5EF4-FFF2-40B4-BE49-F238E27FC236}">
                <a16:creationId xmlns:a16="http://schemas.microsoft.com/office/drawing/2014/main" id="{BCCCDDEF-EE01-4BCF-B797-C5F14B5DA148}"/>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Deux exports YouTube et des traces d’exécution distinctes</a:t>
            </a:r>
          </a:p>
        </p:txBody>
      </p:sp>
      <p:sp>
        <p:nvSpPr>
          <p:cNvPr id="3" name="">
            <a:extLst xmlns:a="http://schemas.openxmlformats.org/drawingml/2006/main">
              <a:ext uri="{FF2B5EF4-FFF2-40B4-BE49-F238E27FC236}">
                <a16:creationId xmlns:a16="http://schemas.microsoft.com/office/drawing/2014/main" id="{DBF38DAA-CCA1-4AB1-B200-853F702EBE24}"/>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BB51B62E-2496-4BE7-BE86-8EA9FCFD51AB}"/>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02</a:t>
            </a:r>
          </a:p>
        </p:txBody>
      </p:sp>
      <p:graphicFrame>
        <p:nvGraphicFramePr>
          <p:cNvPr id="5" name="">
            <a:extLst xmlns:a="http://schemas.openxmlformats.org/drawingml/2006/main">
              <a:ext uri="{FF2B5EF4-FFF2-40B4-BE49-F238E27FC236}">
                <a16:creationId xmlns:a16="http://schemas.microsoft.com/office/drawing/2014/main" id="{CBF51AB0-CCA5-4751-928F-99DBC340F5F3}"/>
              </a:ext>
            </a:extLst>
          </p:cNvPr>
          <p:cNvGraphicFramePr/>
          <p:nvPr/>
        </p:nvGraphicFramePr>
        <p:xfrm>
          <a:off xmlns:a="http://schemas.openxmlformats.org/drawingml/2006/main" x="533400" y="1304925"/>
          <a:ext xmlns:a="http://schemas.openxmlformats.org/drawingml/2006/main" cx="11125200" cy="381000"/>
        </p:xfrm>
        <a:graphic xmlns:a="http://schemas.openxmlformats.org/drawingml/2006/main">
          <a:graphicData uri="http://schemas.openxmlformats.org/drawingml/2006/table">
            <a:tbl>
              <a:tblPr/>
              <a:tblGrid>
                <a:gridCol w="11125200"/>
              </a:tblGrid>
              <a:tr h="381000">
                <a:tc>
                  <a:txBody>
                    <a:bodyPr lIns="133350" tIns="57150" rIns="114300" bIns="47625"/>
                    <a:lstStyle/>
                    <a:p>
                      <a:r>
                        <a:rPr sz="1725" b="1">
                          <a:solidFill>
                            <a:srgbClr val="202124"/>
                          </a:solidFill>
                          <a:latin typeface="Arial"/>
                          <a:ea typeface="Arial"/>
                          <a:cs typeface="Arial"/>
                        </a:rPr>
                        <a:t>Périmètre des observations</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2889AFA6-9341-48D0-8CDB-45D528E610F6}"/>
              </a:ext>
            </a:extLst>
          </p:cNvPr>
          <p:cNvGraphicFramePr/>
          <p:nvPr/>
        </p:nvGraphicFramePr>
        <p:xfrm>
          <a:off xmlns:a="http://schemas.openxmlformats.org/drawingml/2006/main" x="533400" y="1838325"/>
          <a:ext xmlns:a="http://schemas.openxmlformats.org/drawingml/2006/main" cx="11125200" cy="2286000"/>
        </p:xfrm>
        <a:graphic xmlns:a="http://schemas.openxmlformats.org/drawingml/2006/main">
          <a:graphicData uri="http://schemas.openxmlformats.org/drawingml/2006/table">
            <a:tbl>
              <a:tblPr firstRow="0" bandRow="0"/>
              <a:tblGrid>
                <a:gridCol w="2095500"/>
                <a:gridCol w="5334000"/>
                <a:gridCol w="1476375"/>
                <a:gridCol w="2219325"/>
              </a:tblGrid>
              <a:tr h="762000">
                <a:tc>
                  <a:txBody>
                    <a:bodyPr wrap="square" lIns="133350" tIns="95250" rIns="133350" bIns="95250">
                      <a:noAutofit/>
                    </a:bodyPr>
                    <a:lstStyle/>
                    <a:p>
                      <a:pPr algn="l"/>
                      <a:r>
                        <a:rPr sz="1875" b="1">
                          <a:solidFill>
                            <a:srgbClr val="202124"/>
                          </a:solidFill>
                          <a:latin typeface="Arial"/>
                          <a:ea typeface="Arial"/>
                          <a:cs typeface="Arial"/>
                        </a:rPr>
                        <a:t>Export</a:t>
                      </a:r>
                    </a:p>
                  </a:txBody>
                  <a:tcPr marL="91440" marR="91440" marT="45720" marB="45720" anchor="ctr">
                    <a:lnL w="9525">
                      <a:solidFill>
                        <a:srgbClr val="D9DBDF"/>
                      </a:solidFill>
                      <a:prstDash val="solid"/>
                    </a:lnL>
                    <a:lnR w="9525">
                      <a:solidFill>
                        <a:srgbClr val="D9DBDF"/>
                      </a:solidFill>
                      <a:prstDash val="solid"/>
                    </a:lnR>
                    <a:lnT w="9525">
                      <a:solidFill>
                        <a:srgbClr val="D9DBDF"/>
                      </a:solidFill>
                      <a:prstDash val="solid"/>
                    </a:lnT>
                    <a:lnB w="9525">
                      <a:solidFill>
                        <a:srgbClr val="D9DBDF"/>
                      </a:solidFill>
                      <a:prstDash val="solid"/>
                    </a:lnB>
                    <a:solidFill>
                      <a:srgbClr val="B4AFF0"/>
                    </a:solidFill>
                  </a:tcPr>
                </a:tc>
                <a:tc>
                  <a:txBody>
                    <a:bodyPr wrap="square" lIns="133350" tIns="95250" rIns="133350" bIns="95250">
                      <a:noAutofit/>
                    </a:bodyPr>
                    <a:lstStyle/>
                    <a:p>
                      <a:pPr algn="l"/>
                      <a:r>
                        <a:rPr sz="1875" b="1">
                          <a:solidFill>
                            <a:srgbClr val="202124"/>
                          </a:solidFill>
                          <a:latin typeface="Arial"/>
                          <a:ea typeface="Arial"/>
                          <a:cs typeface="Arial"/>
                        </a:rPr>
                        <a:t>Période déclarée</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4CD91"/>
                    </a:solidFill>
                  </a:tcPr>
                </a:tc>
                <a:tc>
                  <a:txBody>
                    <a:bodyPr wrap="square" lIns="133350" tIns="95250" rIns="133350" bIns="95250">
                      <a:noAutofit/>
                    </a:bodyPr>
                    <a:lstStyle/>
                    <a:p>
                      <a:pPr algn="ctr"/>
                      <a:r>
                        <a:rPr sz="1875" b="1">
                          <a:solidFill>
                            <a:srgbClr val="202124"/>
                          </a:solidFill>
                          <a:latin typeface="Arial"/>
                          <a:ea typeface="Arial"/>
                          <a:cs typeface="Arial"/>
                        </a:rPr>
                        <a:t>Vidéos</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1C8E2"/>
                    </a:solidFill>
                  </a:tcPr>
                </a:tc>
                <a:tc>
                  <a:txBody>
                    <a:bodyPr wrap="square" lIns="133350" tIns="95250" rIns="133350" bIns="95250">
                      <a:noAutofit/>
                    </a:bodyPr>
                    <a:lstStyle/>
                    <a:p>
                      <a:pPr algn="ctr"/>
                      <a:r>
                        <a:rPr sz="1875" b="1">
                          <a:solidFill>
                            <a:srgbClr val="202124"/>
                          </a:solidFill>
                          <a:latin typeface="Arial"/>
                          <a:ea typeface="Arial"/>
                          <a:cs typeface="Arial"/>
                        </a:rPr>
                        <a:t>Vues totales</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D6C6ED"/>
                    </a:solidFill>
                  </a:tcPr>
                </a:tc>
              </a:tr>
              <a:tr h="762000">
                <a:tc>
                  <a:txBody>
                    <a:bodyPr wrap="square" lIns="133350" tIns="95250" rIns="133350" bIns="95250">
                      <a:noAutofit/>
                    </a:bodyPr>
                    <a:lstStyle/>
                    <a:p>
                      <a:pPr algn="l"/>
                      <a:r>
                        <a:rPr sz="1875" b="0">
                          <a:solidFill>
                            <a:srgbClr val="202124"/>
                          </a:solidFill>
                          <a:latin typeface="Arial"/>
                          <a:ea typeface="Arial"/>
                          <a:cs typeface="Arial"/>
                        </a:rPr>
                        <a:t>Avant</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l"/>
                      <a:r>
                        <a:rPr sz="1875" b="0">
                          <a:solidFill>
                            <a:srgbClr val="202124"/>
                          </a:solidFill>
                          <a:latin typeface="Arial"/>
                          <a:ea typeface="Arial"/>
                          <a:cs typeface="Arial"/>
                        </a:rPr>
                        <a:t>20 août au 16 septembre 2026</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ctr"/>
                      <a:r>
                        <a:rPr sz="1875" b="0">
                          <a:solidFill>
                            <a:srgbClr val="202124"/>
                          </a:solidFill>
                          <a:latin typeface="Arial"/>
                          <a:ea typeface="Arial"/>
                          <a:cs typeface="Arial"/>
                        </a:rPr>
                        <a:t>67</a:t>
                      </a:r>
                    </a:p>
                  </a:txBody>
                  <a:tcPr marL="91440" marR="91440" marT="45720" marB="45720" anchor="ctr">
                    <a:lnR w="9525">
                      <a:solidFill>
                        <a:srgbClr val="D9DBDF"/>
                      </a:solidFill>
                      <a:prstDash val="solid"/>
                    </a:lnR>
                    <a:lnB w="9525">
                      <a:solidFill>
                        <a:srgbClr val="D9DBDF"/>
                      </a:solidFill>
                      <a:prstDash val="solid"/>
                    </a:lnB>
                    <a:solidFill>
                      <a:srgbClr val="FCEDF6"/>
                    </a:solidFill>
                  </a:tcPr>
                </a:tc>
                <a:tc>
                  <a:txBody>
                    <a:bodyPr wrap="square" lIns="133350" tIns="95250" rIns="133350" bIns="95250">
                      <a:noAutofit/>
                    </a:bodyPr>
                    <a:lstStyle/>
                    <a:p>
                      <a:pPr algn="ctr"/>
                      <a:r>
                        <a:rPr sz="1875" b="0">
                          <a:solidFill>
                            <a:srgbClr val="202124"/>
                          </a:solidFill>
                          <a:latin typeface="Arial"/>
                          <a:ea typeface="Arial"/>
                          <a:cs typeface="Arial"/>
                        </a:rPr>
                        <a:t>12 414</a:t>
                      </a:r>
                    </a:p>
                  </a:txBody>
                  <a:tcPr marL="91440" marR="91440" marT="45720" marB="45720" anchor="ctr">
                    <a:lnR w="9525">
                      <a:solidFill>
                        <a:srgbClr val="D9DBDF"/>
                      </a:solidFill>
                      <a:prstDash val="solid"/>
                    </a:lnR>
                    <a:lnB w="9525">
                      <a:solidFill>
                        <a:srgbClr val="D9DBDF"/>
                      </a:solidFill>
                      <a:prstDash val="solid"/>
                    </a:lnB>
                    <a:solidFill>
                      <a:srgbClr val="F3EEFA"/>
                    </a:solidFill>
                  </a:tcPr>
                </a:tc>
              </a:tr>
              <a:tr h="762000">
                <a:tc>
                  <a:txBody>
                    <a:bodyPr wrap="square" lIns="133350" tIns="95250" rIns="133350" bIns="95250">
                      <a:noAutofit/>
                    </a:bodyPr>
                    <a:lstStyle/>
                    <a:p>
                      <a:pPr algn="l"/>
                      <a:r>
                        <a:rPr sz="1875" b="0">
                          <a:solidFill>
                            <a:srgbClr val="202124"/>
                          </a:solidFill>
                          <a:latin typeface="Arial"/>
                          <a:ea typeface="Arial"/>
                          <a:cs typeface="Arial"/>
                        </a:rPr>
                        <a:t>Après</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l"/>
                      <a:r>
                        <a:rPr sz="1875" b="0">
                          <a:solidFill>
                            <a:srgbClr val="202124"/>
                          </a:solidFill>
                          <a:latin typeface="Arial"/>
                          <a:ea typeface="Arial"/>
                          <a:cs typeface="Arial"/>
                        </a:rPr>
                        <a:t>17 septembre au 14 octobre 2026</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ctr"/>
                      <a:r>
                        <a:rPr sz="1875" b="0">
                          <a:solidFill>
                            <a:srgbClr val="202124"/>
                          </a:solidFill>
                          <a:latin typeface="Arial"/>
                          <a:ea typeface="Arial"/>
                          <a:cs typeface="Arial"/>
                        </a:rPr>
                        <a:t>88</a:t>
                      </a:r>
                    </a:p>
                  </a:txBody>
                  <a:tcPr marL="91440" marR="91440" marT="45720" marB="45720" anchor="ctr">
                    <a:lnR w="9525">
                      <a:solidFill>
                        <a:srgbClr val="D9DBDF"/>
                      </a:solidFill>
                      <a:prstDash val="solid"/>
                    </a:lnR>
                    <a:lnB w="9525">
                      <a:solidFill>
                        <a:srgbClr val="D9DBDF"/>
                      </a:solidFill>
                      <a:prstDash val="solid"/>
                    </a:lnB>
                    <a:solidFill>
                      <a:srgbClr val="FCEDF6"/>
                    </a:solidFill>
                  </a:tcPr>
                </a:tc>
                <a:tc>
                  <a:txBody>
                    <a:bodyPr wrap="square" lIns="133350" tIns="95250" rIns="133350" bIns="95250">
                      <a:noAutofit/>
                    </a:bodyPr>
                    <a:lstStyle/>
                    <a:p>
                      <a:pPr algn="ctr"/>
                      <a:r>
                        <a:rPr sz="1875" b="0">
                          <a:solidFill>
                            <a:srgbClr val="202124"/>
                          </a:solidFill>
                          <a:latin typeface="Arial"/>
                          <a:ea typeface="Arial"/>
                          <a:cs typeface="Arial"/>
                        </a:rPr>
                        <a:t>9 737</a:t>
                      </a:r>
                    </a:p>
                  </a:txBody>
                  <a:tcPr marL="91440" marR="91440" marT="45720" marB="45720" anchor="ctr">
                    <a:lnR w="9525">
                      <a:solidFill>
                        <a:srgbClr val="D9DBDF"/>
                      </a:solidFill>
                      <a:prstDash val="solid"/>
                    </a:lnR>
                    <a:lnB w="9525">
                      <a:solidFill>
                        <a:srgbClr val="D9DBDF"/>
                      </a:solidFill>
                      <a:prstDash val="solid"/>
                    </a:lnB>
                    <a:solidFill>
                      <a:srgbClr val="F3EEFA"/>
                    </a:solidFill>
                  </a:tcPr>
                </a:tc>
              </a:tr>
            </a:tbl>
          </a:graphicData>
        </a:graphic>
      </p:graphicFrame>
      <p:graphicFrame>
        <p:nvGraphicFramePr>
          <p:cNvPr id="7" name="">
            <a:extLst xmlns:a="http://schemas.openxmlformats.org/drawingml/2006/main">
              <a:ext uri="{FF2B5EF4-FFF2-40B4-BE49-F238E27FC236}">
                <a16:creationId xmlns:a16="http://schemas.microsoft.com/office/drawing/2014/main" id="{30FCF454-03DE-47DF-A819-1898E1A9C2E6}"/>
              </a:ext>
            </a:extLst>
          </p:cNvPr>
          <p:cNvGraphicFramePr/>
          <p:nvPr/>
        </p:nvGraphicFramePr>
        <p:xfrm>
          <a:off xmlns:a="http://schemas.openxmlformats.org/drawingml/2006/main" x="533400" y="4572000"/>
          <a:ext xmlns:a="http://schemas.openxmlformats.org/drawingml/2006/main" cx="11125200" cy="904875"/>
        </p:xfrm>
        <a:graphic xmlns:a="http://schemas.openxmlformats.org/drawingml/2006/main">
          <a:graphicData uri="http://schemas.openxmlformats.org/drawingml/2006/table">
            <a:tbl>
              <a:tblPr/>
              <a:tblGrid>
                <a:gridCol w="11125200"/>
              </a:tblGrid>
              <a:tr h="333375">
                <a:tc>
                  <a:txBody>
                    <a:bodyPr lIns="133350" tIns="66675" rIns="133350" bIns="66675"/>
                    <a:lstStyle/>
                    <a:p>
                      <a:r>
                        <a:rPr sz="1650" b="1">
                          <a:solidFill>
                            <a:srgbClr val="202124"/>
                          </a:solidFill>
                          <a:latin typeface="Arial"/>
                          <a:ea typeface="Arial"/>
                          <a:cs typeface="Arial"/>
                        </a:rPr>
                        <a:t>Réserve de données</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r h="571500">
                <a:tc>
                  <a:txBody>
                    <a:bodyPr lIns="133350" tIns="66675" rIns="133350" bIns="66675"/>
                    <a:lstStyle/>
                    <a:p>
                      <a:r>
                        <a:rPr sz="1800" b="0">
                          <a:solidFill>
                            <a:srgbClr val="202124"/>
                          </a:solidFill>
                          <a:latin typeface="Arial"/>
                          <a:ea typeface="Arial"/>
                          <a:cs typeface="Arial"/>
                        </a:rPr>
                        <a:t>17 valeurs absentes par mesure dans l’export courant. Les absences restent distinctes de zéro.</a:t>
                      </a:r>
                    </a:p>
                  </a:txBody>
                  <a:tcPr marL="91440" marR="91440" marT="45720" marB="45720" anchor="ctr">
                    <a:lnL w="5715">
                      <a:solidFill>
                        <a:srgbClr val="D9DBDF"/>
                      </a:solidFill>
                    </a:lnL>
                    <a:lnR w="5715">
                      <a:solidFill>
                        <a:srgbClr val="D9DBDF"/>
                      </a:solidFill>
                    </a:lnR>
                    <a:lnB w="5715">
                      <a:solidFill>
                        <a:srgbClr val="D9DBDF"/>
                      </a:solidFill>
                    </a:lnB>
                    <a:solidFill>
                      <a:srgbClr val="FCEDF6"/>
                    </a:solidFill>
                  </a:tcPr>
                </a:tc>
              </a:tr>
            </a:tbl>
          </a:graphicData>
        </a:graphic>
      </p:graphicFrame>
    </p:spTree>
    <p:extLst>
      <p:ext uri="{BB962C8B-B14F-4D97-AF65-F5344CB8AC3E}">
        <p14:creationId xmlns:p14="http://schemas.microsoft.com/office/powerpoint/2010/main" val="1465606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AFF464-3FDA-413C-BAF4-F8416320A277}"/>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Architecture locale</a:t>
            </a:r>
          </a:p>
        </p:txBody>
      </p:sp>
      <p:sp>
        <p:nvSpPr>
          <p:cNvPr id="2" name="">
            <a:extLst xmlns:a="http://schemas.openxmlformats.org/drawingml/2006/main">
              <a:ext uri="{FF2B5EF4-FFF2-40B4-BE49-F238E27FC236}">
                <a16:creationId xmlns:a16="http://schemas.microsoft.com/office/drawing/2014/main" id="{9315677C-935A-4AD1-9C3A-D487CB0BC651}"/>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Le navigateur, le worker et le modèle travaillent sur le même ordinateur</a:t>
            </a:r>
          </a:p>
        </p:txBody>
      </p:sp>
      <p:sp>
        <p:nvSpPr>
          <p:cNvPr id="3" name="">
            <a:extLst xmlns:a="http://schemas.openxmlformats.org/drawingml/2006/main">
              <a:ext uri="{FF2B5EF4-FFF2-40B4-BE49-F238E27FC236}">
                <a16:creationId xmlns:a16="http://schemas.microsoft.com/office/drawing/2014/main" id="{B11187F0-3F9F-4046-B81E-4BED002C1436}"/>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1FF77616-285E-4C18-8D03-647F2807BAC0}"/>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C51FA877-A2E0-458F-AAF4-2790898BB3FA}"/>
              </a:ext>
            </a:extLst>
          </p:cNvPr>
          <p:cNvGraphicFramePr/>
          <p:nvPr/>
        </p:nvGraphicFramePr>
        <p:xfrm>
          <a:off xmlns:a="http://schemas.openxmlformats.org/drawingml/2006/main" x="533400" y="1514475"/>
          <a:ext xmlns:a="http://schemas.openxmlformats.org/drawingml/2006/main" cx="11125200" cy="3524250"/>
        </p:xfrm>
        <a:graphic xmlns:a="http://schemas.openxmlformats.org/drawingml/2006/main">
          <a:graphicData uri="http://schemas.openxmlformats.org/drawingml/2006/table">
            <a:tbl>
              <a:tblPr firstRow="0" bandRow="0"/>
              <a:tblGrid>
                <a:gridCol w="2619375"/>
                <a:gridCol w="5286375"/>
                <a:gridCol w="3219450"/>
              </a:tblGrid>
              <a:tr h="587375">
                <a:tc>
                  <a:txBody>
                    <a:bodyPr wrap="square" lIns="133350" tIns="95250" rIns="133350" bIns="95250">
                      <a:noAutofit/>
                    </a:bodyPr>
                    <a:lstStyle/>
                    <a:p>
                      <a:pPr algn="l"/>
                      <a:r>
                        <a:rPr sz="1800" b="1">
                          <a:solidFill>
                            <a:srgbClr val="202124"/>
                          </a:solidFill>
                          <a:latin typeface="Arial"/>
                          <a:ea typeface="Arial"/>
                          <a:cs typeface="Arial"/>
                        </a:rPr>
                        <a:t>Composant</a:t>
                      </a:r>
                    </a:p>
                  </a:txBody>
                  <a:tcPr marL="91440" marR="91440" marT="45720" marB="45720" anchor="ctr">
                    <a:lnL w="9525">
                      <a:solidFill>
                        <a:srgbClr val="D9DBDF"/>
                      </a:solidFill>
                      <a:prstDash val="solid"/>
                    </a:lnL>
                    <a:lnR w="9525">
                      <a:solidFill>
                        <a:srgbClr val="D9DBDF"/>
                      </a:solidFill>
                      <a:prstDash val="solid"/>
                    </a:lnR>
                    <a:lnT w="9525">
                      <a:solidFill>
                        <a:srgbClr val="D9DBDF"/>
                      </a:solidFill>
                      <a:prstDash val="solid"/>
                    </a:lnT>
                    <a:lnB w="9525">
                      <a:solidFill>
                        <a:srgbClr val="D9DBDF"/>
                      </a:solidFill>
                      <a:prstDash val="solid"/>
                    </a:lnB>
                    <a:solidFill>
                      <a:srgbClr val="B4AFF0"/>
                    </a:solidFill>
                  </a:tcPr>
                </a:tc>
                <a:tc>
                  <a:txBody>
                    <a:bodyPr wrap="square" lIns="133350" tIns="95250" rIns="133350" bIns="95250">
                      <a:noAutofit/>
                    </a:bodyPr>
                    <a:lstStyle/>
                    <a:p>
                      <a:pPr algn="l"/>
                      <a:r>
                        <a:rPr sz="1800" b="1">
                          <a:solidFill>
                            <a:srgbClr val="202124"/>
                          </a:solidFill>
                          <a:latin typeface="Arial"/>
                          <a:ea typeface="Arial"/>
                          <a:cs typeface="Arial"/>
                        </a:rPr>
                        <a:t>Rôle dans le flux</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4CD91"/>
                    </a:solidFill>
                  </a:tcPr>
                </a:tc>
                <a:tc>
                  <a:txBody>
                    <a:bodyPr wrap="square" lIns="133350" tIns="95250" rIns="133350" bIns="95250">
                      <a:noAutofit/>
                    </a:bodyPr>
                    <a:lstStyle/>
                    <a:p>
                      <a:pPr algn="l"/>
                      <a:r>
                        <a:rPr sz="1800" b="1">
                          <a:solidFill>
                            <a:srgbClr val="202124"/>
                          </a:solidFill>
                          <a:latin typeface="Arial"/>
                          <a:ea typeface="Arial"/>
                          <a:cs typeface="Arial"/>
                        </a:rPr>
                        <a:t>Point d’accès</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1C8E2"/>
                    </a:solidFill>
                  </a:tcPr>
                </a:tc>
              </a:tr>
              <a:tr h="587375">
                <a:tc>
                  <a:txBody>
                    <a:bodyPr wrap="square" lIns="133350" tIns="95250" rIns="133350" bIns="95250">
                      <a:noAutofit/>
                    </a:bodyPr>
                    <a:lstStyle/>
                    <a:p>
                      <a:pPr algn="l"/>
                      <a:r>
                        <a:rPr sz="1800" b="0">
                          <a:solidFill>
                            <a:srgbClr val="202124"/>
                          </a:solidFill>
                          <a:latin typeface="Arial"/>
                          <a:ea typeface="Arial"/>
                          <a:cs typeface="Arial"/>
                        </a:rPr>
                        <a:t>Streamlit</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800" b="0">
                          <a:solidFill>
                            <a:srgbClr val="202124"/>
                          </a:solidFill>
                          <a:latin typeface="Arial"/>
                          <a:ea typeface="Arial"/>
                          <a:cs typeface="Arial"/>
                        </a:rPr>
                        <a:t>Chargement et consultation</a:t>
                      </a:r>
                    </a:p>
                  </a:txBody>
                  <a:tcPr marL="91440" marR="91440" marT="45720" marB="45720" anchor="ctr">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800" b="0">
                          <a:solidFill>
                            <a:srgbClr val="202124"/>
                          </a:solidFill>
                          <a:latin typeface="Arial"/>
                          <a:ea typeface="Arial"/>
                          <a:cs typeface="Arial"/>
                        </a:rPr>
                        <a:t>127.0.0.1:8501</a:t>
                      </a:r>
                    </a:p>
                  </a:txBody>
                  <a:tcPr marL="91440" marR="91440" marT="45720" marB="45720" anchor="ctr">
                    <a:lnR w="9525">
                      <a:solidFill>
                        <a:srgbClr val="D9DBDF"/>
                      </a:solidFill>
                      <a:prstDash val="solid"/>
                    </a:lnR>
                    <a:lnB w="9525">
                      <a:solidFill>
                        <a:srgbClr val="D9DBDF"/>
                      </a:solidFill>
                      <a:prstDash val="solid"/>
                    </a:lnB>
                    <a:solidFill>
                      <a:srgbClr val="FFFFFF"/>
                    </a:solidFill>
                  </a:tcPr>
                </a:tc>
              </a:tr>
              <a:tr h="587375">
                <a:tc>
                  <a:txBody>
                    <a:bodyPr wrap="square" lIns="133350" tIns="95250" rIns="133350" bIns="95250">
                      <a:noAutofit/>
                    </a:bodyPr>
                    <a:lstStyle/>
                    <a:p>
                      <a:pPr algn="l"/>
                      <a:r>
                        <a:rPr sz="1800" b="0">
                          <a:solidFill>
                            <a:srgbClr val="202124"/>
                          </a:solidFill>
                          <a:latin typeface="Arial"/>
                          <a:ea typeface="Arial"/>
                          <a:cs typeface="Arial"/>
                        </a:rPr>
                        <a:t>Worker CrewAI</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800" b="0">
                          <a:solidFill>
                            <a:srgbClr val="202124"/>
                          </a:solidFill>
                          <a:latin typeface="Arial"/>
                          <a:ea typeface="Arial"/>
                          <a:cs typeface="Arial"/>
                        </a:rPr>
                        <a:t>Quatre rôles et cinq tâches</a:t>
                      </a:r>
                    </a:p>
                  </a:txBody>
                  <a:tcPr marL="91440" marR="91440" marT="45720" marB="45720" anchor="ctr">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800" b="0">
                          <a:solidFill>
                            <a:srgbClr val="202124"/>
                          </a:solidFill>
                          <a:latin typeface="Arial"/>
                          <a:ea typeface="Arial"/>
                          <a:cs typeface="Arial"/>
                        </a:rPr>
                        <a:t>Processus Python isolé</a:t>
                      </a:r>
                    </a:p>
                  </a:txBody>
                  <a:tcPr marL="91440" marR="91440" marT="45720" marB="45720" anchor="ctr">
                    <a:lnR w="9525">
                      <a:solidFill>
                        <a:srgbClr val="D9DBDF"/>
                      </a:solidFill>
                      <a:prstDash val="solid"/>
                    </a:lnR>
                    <a:lnB w="9525">
                      <a:solidFill>
                        <a:srgbClr val="D9DBDF"/>
                      </a:solidFill>
                      <a:prstDash val="solid"/>
                    </a:lnB>
                    <a:solidFill>
                      <a:srgbClr val="FFFFFF"/>
                    </a:solidFill>
                  </a:tcPr>
                </a:tc>
              </a:tr>
              <a:tr h="587375">
                <a:tc>
                  <a:txBody>
                    <a:bodyPr wrap="square" lIns="133350" tIns="95250" rIns="133350" bIns="95250">
                      <a:noAutofit/>
                    </a:bodyPr>
                    <a:lstStyle/>
                    <a:p>
                      <a:pPr algn="l"/>
                      <a:r>
                        <a:rPr sz="1800" b="0">
                          <a:solidFill>
                            <a:srgbClr val="202124"/>
                          </a:solidFill>
                          <a:latin typeface="Arial"/>
                          <a:ea typeface="Arial"/>
                          <a:cs typeface="Arial"/>
                        </a:rPr>
                        <a:t>Ollama et Qwen3 4B</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800" b="0">
                          <a:solidFill>
                            <a:srgbClr val="202124"/>
                          </a:solidFill>
                          <a:latin typeface="Arial"/>
                          <a:ea typeface="Arial"/>
                          <a:cs typeface="Arial"/>
                        </a:rPr>
                        <a:t>Inférence locale sur CPU</a:t>
                      </a:r>
                    </a:p>
                  </a:txBody>
                  <a:tcPr marL="91440" marR="91440" marT="45720" marB="45720" anchor="ctr">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800" b="0">
                          <a:solidFill>
                            <a:srgbClr val="202124"/>
                          </a:solidFill>
                          <a:latin typeface="Arial"/>
                          <a:ea typeface="Arial"/>
                          <a:cs typeface="Arial"/>
                        </a:rPr>
                        <a:t>127.0.0.1:11434</a:t>
                      </a:r>
                    </a:p>
                  </a:txBody>
                  <a:tcPr marL="91440" marR="91440" marT="45720" marB="45720" anchor="ctr">
                    <a:lnR w="9525">
                      <a:solidFill>
                        <a:srgbClr val="D9DBDF"/>
                      </a:solidFill>
                      <a:prstDash val="solid"/>
                    </a:lnR>
                    <a:lnB w="9525">
                      <a:solidFill>
                        <a:srgbClr val="D9DBDF"/>
                      </a:solidFill>
                      <a:prstDash val="solid"/>
                    </a:lnB>
                    <a:solidFill>
                      <a:srgbClr val="FFFFFF"/>
                    </a:solidFill>
                  </a:tcPr>
                </a:tc>
              </a:tr>
              <a:tr h="587375">
                <a:tc>
                  <a:txBody>
                    <a:bodyPr wrap="square" lIns="133350" tIns="95250" rIns="133350" bIns="95250">
                      <a:noAutofit/>
                    </a:bodyPr>
                    <a:lstStyle/>
                    <a:p>
                      <a:pPr algn="l"/>
                      <a:r>
                        <a:rPr sz="1800" b="0">
                          <a:solidFill>
                            <a:srgbClr val="202124"/>
                          </a:solidFill>
                          <a:latin typeface="Arial"/>
                          <a:ea typeface="Arial"/>
                          <a:cs typeface="Arial"/>
                        </a:rPr>
                        <a:t>Outils Python</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800" b="0">
                          <a:solidFill>
                            <a:srgbClr val="202124"/>
                          </a:solidFill>
                          <a:latin typeface="Arial"/>
                          <a:ea typeface="Arial"/>
                          <a:cs typeface="Arial"/>
                        </a:rPr>
                        <a:t>Calcul et recalcul indépendant</a:t>
                      </a:r>
                    </a:p>
                  </a:txBody>
                  <a:tcPr marL="91440" marR="91440" marT="45720" marB="45720" anchor="ctr">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800" b="0">
                          <a:solidFill>
                            <a:srgbClr val="202124"/>
                          </a:solidFill>
                          <a:latin typeface="Arial"/>
                          <a:ea typeface="Arial"/>
                          <a:cs typeface="Arial"/>
                        </a:rPr>
                        <a:t>Instantanés des CSV</a:t>
                      </a:r>
                    </a:p>
                  </a:txBody>
                  <a:tcPr marL="91440" marR="91440" marT="45720" marB="45720" anchor="ctr">
                    <a:lnR w="9525">
                      <a:solidFill>
                        <a:srgbClr val="D9DBDF"/>
                      </a:solidFill>
                      <a:prstDash val="solid"/>
                    </a:lnR>
                    <a:lnB w="9525">
                      <a:solidFill>
                        <a:srgbClr val="D9DBDF"/>
                      </a:solidFill>
                      <a:prstDash val="solid"/>
                    </a:lnB>
                    <a:solidFill>
                      <a:srgbClr val="FFFFFF"/>
                    </a:solidFill>
                  </a:tcPr>
                </a:tc>
              </a:tr>
              <a:tr h="587375">
                <a:tc>
                  <a:txBody>
                    <a:bodyPr wrap="square" lIns="133350" tIns="95250" rIns="133350" bIns="95250">
                      <a:noAutofit/>
                    </a:bodyPr>
                    <a:lstStyle/>
                    <a:p>
                      <a:pPr algn="l"/>
                      <a:r>
                        <a:rPr sz="1800" b="0">
                          <a:solidFill>
                            <a:srgbClr val="202124"/>
                          </a:solidFill>
                          <a:latin typeface="Arial"/>
                          <a:ea typeface="Arial"/>
                          <a:cs typeface="Arial"/>
                        </a:rPr>
                        <a:t>SQLite</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800" b="0">
                          <a:solidFill>
                            <a:srgbClr val="202124"/>
                          </a:solidFill>
                          <a:latin typeface="Arial"/>
                          <a:ea typeface="Arial"/>
                          <a:cs typeface="Arial"/>
                        </a:rPr>
                        <a:t>Imports, traces et avis</a:t>
                      </a:r>
                    </a:p>
                  </a:txBody>
                  <a:tcPr marL="91440" marR="91440" marT="45720" marB="45720" anchor="ctr">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800" b="0">
                          <a:solidFill>
                            <a:srgbClr val="202124"/>
                          </a:solidFill>
                          <a:latin typeface="Arial"/>
                          <a:ea typeface="Arial"/>
                          <a:cs typeface="Arial"/>
                        </a:rPr>
                        <a:t>Stockage local</a:t>
                      </a:r>
                    </a:p>
                  </a:txBody>
                  <a:tcPr marL="91440" marR="91440" marT="45720" marB="45720" anchor="ctr">
                    <a:lnR w="9525">
                      <a:solidFill>
                        <a:srgbClr val="D9DBDF"/>
                      </a:solidFill>
                      <a:prstDash val="solid"/>
                    </a:lnR>
                    <a:lnB w="9525">
                      <a:solidFill>
                        <a:srgbClr val="D9DBDF"/>
                      </a:solidFill>
                      <a:prstDash val="solid"/>
                    </a:lnB>
                    <a:solidFill>
                      <a:srgbClr val="FFFFFF"/>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C3E898AF-A868-40EC-8F35-D9184AD24A16}"/>
              </a:ext>
            </a:extLst>
          </p:cNvPr>
          <p:cNvGraphicFramePr/>
          <p:nvPr/>
        </p:nvGraphicFramePr>
        <p:xfrm>
          <a:off xmlns:a="http://schemas.openxmlformats.org/drawingml/2006/main" x="533400" y="5238750"/>
          <a:ext xmlns:a="http://schemas.openxmlformats.org/drawingml/2006/main" cx="11125200" cy="904875"/>
        </p:xfrm>
        <a:graphic xmlns:a="http://schemas.openxmlformats.org/drawingml/2006/main">
          <a:graphicData uri="http://schemas.openxmlformats.org/drawingml/2006/table">
            <a:tbl>
              <a:tblPr/>
              <a:tblGrid>
                <a:gridCol w="11125200"/>
              </a:tblGrid>
              <a:tr h="333375">
                <a:tc>
                  <a:txBody>
                    <a:bodyPr lIns="133350" tIns="66675" rIns="133350" bIns="66675"/>
                    <a:lstStyle/>
                    <a:p>
                      <a:r>
                        <a:rPr sz="1650" b="1">
                          <a:solidFill>
                            <a:srgbClr val="202124"/>
                          </a:solidFill>
                          <a:latin typeface="Arial"/>
                          <a:ea typeface="Arial"/>
                          <a:cs typeface="Arial"/>
                        </a:rPr>
                        <a:t>Observabilité effective</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r h="571500">
                <a:tc>
                  <a:txBody>
                    <a:bodyPr lIns="133350" tIns="66675" rIns="133350" bIns="66675"/>
                    <a:lstStyle/>
                    <a:p>
                      <a:r>
                        <a:rPr sz="1800" b="0">
                          <a:solidFill>
                            <a:srgbClr val="202124"/>
                          </a:solidFill>
                          <a:latin typeface="Arial"/>
                          <a:ea typeface="Arial"/>
                          <a:cs typeface="Arial"/>
                        </a:rPr>
                        <a:t>SQLite conserve les traces complètes. AgentOps reçoit un résumé technique après exécution.</a:t>
                      </a:r>
                    </a:p>
                  </a:txBody>
                  <a:tcPr marL="91440" marR="91440" marT="45720" marB="45720" anchor="ctr">
                    <a:lnL w="5715">
                      <a:solidFill>
                        <a:srgbClr val="D9DBDF"/>
                      </a:solidFill>
                    </a:lnL>
                    <a:lnR w="5715">
                      <a:solidFill>
                        <a:srgbClr val="D9DBDF"/>
                      </a:solidFill>
                    </a:lnR>
                    <a:lnB w="5715">
                      <a:solidFill>
                        <a:srgbClr val="D9DBDF"/>
                      </a:solidFill>
                    </a:lnB>
                    <a:solidFill>
                      <a:srgbClr val="F3EEFA"/>
                    </a:solidFill>
                  </a:tcPr>
                </a:tc>
              </a:tr>
            </a:tbl>
          </a:graphicData>
        </a:graphic>
      </p:graphicFrame>
    </p:spTree>
    <p:extLst>
      <p:ext uri="{BB962C8B-B14F-4D97-AF65-F5344CB8AC3E}">
        <p14:creationId xmlns:p14="http://schemas.microsoft.com/office/powerpoint/2010/main" val="9628431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7BB214B6-02C0-47CB-88DF-DC34F2DC3A57}"/>
              </a:ext>
            </a:extLst>
          </p:cNvPr>
          <p:cNvCxnSpPr>
            <a:stCxn xmlns:a="http://schemas.openxmlformats.org/drawingml/2006/main" id="12" idx="1"/>
            <a:endCxn xmlns:a="http://schemas.openxmlformats.org/drawingml/2006/main" id="14" idx="5"/>
          </p:cNvCxnSpPr>
          <p:nvPr/>
        </p:nvCxnSpPr>
        <p:spPr>
          <a:xfrm xmlns:a="http://schemas.openxmlformats.org/drawingml/2006/main" flipH="1" flipV="1">
            <a:off x="3629141" y="3724391"/>
            <a:ext cx="314093" cy="1123718"/>
          </a:xfrm>
          <a:prstGeom xmlns:a="http://schemas.openxmlformats.org/drawingml/2006/main" prst="straightConnector1">
            <a:avLst/>
          </a:prstGeom>
          <a:ln xmlns:a="http://schemas.openxmlformats.org/drawingml/2006/main" w="19050">
            <a:solidFill>
              <a:srgbClr val="8B8D90"/>
            </a:solidFill>
            <a:tailEnd type="triangle" w="med" len="med"/>
          </a:ln>
        </p:spPr>
      </p:cxnSp>
      <p:cxnSp>
        <p:nvCxnSpPr>
          <p:cNvPr id="18" name="">
            <a:extLst xmlns:a="http://schemas.openxmlformats.org/drawingml/2006/main">
              <a:ext uri="{FF2B5EF4-FFF2-40B4-BE49-F238E27FC236}">
                <a16:creationId xmlns:a16="http://schemas.microsoft.com/office/drawing/2014/main" id="{B72F31F0-4709-440E-8D1E-3EF3DCECACB2}"/>
              </a:ext>
            </a:extLst>
          </p:cNvPr>
          <p:cNvCxnSpPr>
            <a:stCxn xmlns:a="http://schemas.openxmlformats.org/drawingml/2006/main" id="10" idx="2"/>
            <a:endCxn xmlns:a="http://schemas.openxmlformats.org/drawingml/2006/main" id="12" idx="6"/>
          </p:cNvCxnSpPr>
          <p:nvPr/>
        </p:nvCxnSpPr>
        <p:spPr>
          <a:xfrm xmlns:a="http://schemas.openxmlformats.org/drawingml/2006/main" flipH="1">
            <a:off x="4886325" y="5238750"/>
            <a:ext cx="2419350" cy="0"/>
          </a:xfrm>
          <a:prstGeom xmlns:a="http://schemas.openxmlformats.org/drawingml/2006/main" prst="straightConnector1">
            <a:avLst/>
          </a:prstGeom>
          <a:ln xmlns:a="http://schemas.openxmlformats.org/drawingml/2006/main" w="19050">
            <a:solidFill>
              <a:srgbClr val="8B8D90"/>
            </a:solidFill>
            <a:tailEnd type="triangle" w="med" len="med"/>
          </a:ln>
        </p:spPr>
      </p:cxnSp>
      <p:cxnSp>
        <p:nvCxnSpPr>
          <p:cNvPr id="17" name="">
            <a:extLst xmlns:a="http://schemas.openxmlformats.org/drawingml/2006/main">
              <a:ext uri="{FF2B5EF4-FFF2-40B4-BE49-F238E27FC236}">
                <a16:creationId xmlns:a16="http://schemas.microsoft.com/office/drawing/2014/main" id="{ACFFBB15-C7E3-46CB-AE28-7922EF1BDA74}"/>
              </a:ext>
            </a:extLst>
          </p:cNvPr>
          <p:cNvCxnSpPr>
            <a:stCxn xmlns:a="http://schemas.openxmlformats.org/drawingml/2006/main" id="8" idx="3"/>
            <a:endCxn xmlns:a="http://schemas.openxmlformats.org/drawingml/2006/main" id="10" idx="7"/>
          </p:cNvCxnSpPr>
          <p:nvPr/>
        </p:nvCxnSpPr>
        <p:spPr>
          <a:xfrm xmlns:a="http://schemas.openxmlformats.org/drawingml/2006/main" flipH="1">
            <a:off x="8248766" y="3724391"/>
            <a:ext cx="314093" cy="1123718"/>
          </a:xfrm>
          <a:prstGeom xmlns:a="http://schemas.openxmlformats.org/drawingml/2006/main" prst="straightConnector1">
            <a:avLst/>
          </a:prstGeom>
          <a:ln xmlns:a="http://schemas.openxmlformats.org/drawingml/2006/main" w="19050">
            <a:solidFill>
              <a:srgbClr val="8B8D90"/>
            </a:solidFill>
            <a:tailEnd type="triangle" w="med" len="med"/>
          </a:ln>
        </p:spPr>
      </p:cxnSp>
      <p:cxnSp>
        <p:nvCxnSpPr>
          <p:cNvPr id="16" name="">
            <a:extLst xmlns:a="http://schemas.openxmlformats.org/drawingml/2006/main">
              <a:ext uri="{FF2B5EF4-FFF2-40B4-BE49-F238E27FC236}">
                <a16:creationId xmlns:a16="http://schemas.microsoft.com/office/drawing/2014/main" id="{4EF08FD3-A9B2-4725-86CA-CDFBFE7971E1}"/>
              </a:ext>
            </a:extLst>
          </p:cNvPr>
          <p:cNvCxnSpPr>
            <a:stCxn xmlns:a="http://schemas.openxmlformats.org/drawingml/2006/main" id="6" idx="6"/>
            <a:endCxn xmlns:a="http://schemas.openxmlformats.org/drawingml/2006/main" id="8" idx="2"/>
          </p:cNvCxnSpPr>
          <p:nvPr/>
        </p:nvCxnSpPr>
        <p:spPr>
          <a:xfrm xmlns:a="http://schemas.openxmlformats.org/drawingml/2006/main">
            <a:off x="6648450" y="2428875"/>
            <a:ext cx="1752600" cy="904875"/>
          </a:xfrm>
          <a:prstGeom xmlns:a="http://schemas.openxmlformats.org/drawingml/2006/main" prst="straightConnector1">
            <a:avLst/>
          </a:prstGeom>
          <a:ln xmlns:a="http://schemas.openxmlformats.org/drawingml/2006/main" w="19050">
            <a:solidFill>
              <a:srgbClr val="8B8D90"/>
            </a:solidFill>
            <a:tailEnd type="triangle" w="med" len="med"/>
          </a:ln>
        </p:spPr>
      </p:cxnSp>
      <p:sp>
        <p:nvSpPr>
          <p:cNvPr id="21" name="">
            <a:extLst xmlns:a="http://schemas.openxmlformats.org/drawingml/2006/main">
              <a:ext uri="{FF2B5EF4-FFF2-40B4-BE49-F238E27FC236}">
                <a16:creationId xmlns:a16="http://schemas.microsoft.com/office/drawing/2014/main" id="{A88CC750-614A-4F91-8963-A3818352A54D}"/>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Flux des quatre agents</a:t>
            </a:r>
          </a:p>
        </p:txBody>
      </p:sp>
      <p:sp>
        <p:nvSpPr>
          <p:cNvPr id="2" name="">
            <a:extLst xmlns:a="http://schemas.openxmlformats.org/drawingml/2006/main">
              <a:ext uri="{FF2B5EF4-FFF2-40B4-BE49-F238E27FC236}">
                <a16:creationId xmlns:a16="http://schemas.microsoft.com/office/drawing/2014/main" id="{B5D6034E-1966-4B4B-9256-6515D73CCC56}"/>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Cinq étapes observables autour d’une mission locale</a:t>
            </a:r>
          </a:p>
        </p:txBody>
      </p:sp>
      <p:sp>
        <p:nvSpPr>
          <p:cNvPr id="3" name="">
            <a:extLst xmlns:a="http://schemas.openxmlformats.org/drawingml/2006/main">
              <a:ext uri="{FF2B5EF4-FFF2-40B4-BE49-F238E27FC236}">
                <a16:creationId xmlns:a16="http://schemas.microsoft.com/office/drawing/2014/main" id="{3877F3F4-EFDD-495B-93CE-70F2735600E3}"/>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F5E7EEF1-18ED-41C1-97D8-7C2EBFF6F116}"/>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04C4C55-FF04-4DF7-841F-67467A723A06}"/>
              </a:ext>
            </a:extLst>
          </p:cNvPr>
          <p:cNvSpPr>
            <a:spLocks xmlns:a="http://schemas.openxmlformats.org/drawingml/2006/main" noGrp="1"/>
          </p:cNvSpPr>
          <p:nvPr/>
        </p:nvSpPr>
        <p:spPr>
          <a:xfrm xmlns:a="http://schemas.openxmlformats.org/drawingml/2006/main">
            <a:off x="5257800" y="3019425"/>
            <a:ext cx="1676400" cy="1676400"/>
          </a:xfrm>
          <a:prstGeom xmlns:a="http://schemas.openxmlformats.org/drawingml/2006/main" prst="ellipse">
            <a:avLst/>
          </a:prstGeom>
          <a:solidFill xmlns:a="http://schemas.openxmlformats.org/drawingml/2006/main">
            <a:srgbClr val="77797C"/>
          </a:solidFill>
          <a:ln xmlns:a="http://schemas.openxmlformats.org/drawingml/2006/main" w="0">
            <a:noFill/>
          </a:ln>
        </p:spPr>
        <p:txBody>
          <a:bodyPr xmlns:a="http://schemas.openxmlformats.org/drawingml/2006/main" lIns="114300" tIns="114300" rIns="114300" bIns="114300" anchor="ctr"/>
          <a:lstStyle xmlns:a="http://schemas.openxmlformats.org/drawingml/2006/main">
            <a:defPPr algn="ctr">
              <a:defRPr sz="1950" b="1">
                <a:solidFill>
                  <a:srgbClr val="FFFFFF"/>
                </a:solidFill>
                <a:latin typeface="Arial"/>
                <a:ea typeface="Arial"/>
                <a:cs typeface="Arial"/>
              </a:defRPr>
            </a:def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Mission IA</a:t>
            </a:r>
          </a:p>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locale</a:t>
            </a:r>
          </a:p>
        </p:txBody>
      </p:sp>
      <p:sp>
        <p:nvSpPr>
          <p:cNvPr id="6" name="">
            <a:extLst xmlns:a="http://schemas.openxmlformats.org/drawingml/2006/main">
              <a:ext uri="{FF2B5EF4-FFF2-40B4-BE49-F238E27FC236}">
                <a16:creationId xmlns:a16="http://schemas.microsoft.com/office/drawing/2014/main" id="{2E4F12B8-07A7-4AE9-8341-C59D9C0522A1}"/>
              </a:ext>
            </a:extLst>
          </p:cNvPr>
          <p:cNvSpPr>
            <a:spLocks xmlns:a="http://schemas.openxmlformats.org/drawingml/2006/main" noGrp="1"/>
          </p:cNvSpPr>
          <p:nvPr/>
        </p:nvSpPr>
        <p:spPr>
          <a:xfrm xmlns:a="http://schemas.openxmlformats.org/drawingml/2006/main">
            <a:off x="5543550" y="1876425"/>
            <a:ext cx="1104900" cy="1104900"/>
          </a:xfrm>
          <a:prstGeom xmlns:a="http://schemas.openxmlformats.org/drawingml/2006/main" prst="ellipse">
            <a:avLst/>
          </a:prstGeom>
          <a:solidFill xmlns:a="http://schemas.openxmlformats.org/drawingml/2006/main">
            <a:srgbClr val="58B78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3150" b="1">
                <a:solidFill>
                  <a:srgbClr val="FFFFFF"/>
                </a:solidFill>
                <a:latin typeface="Arial"/>
                <a:ea typeface="Arial"/>
                <a:cs typeface="Arial"/>
              </a:defRPr>
            </a:defPPr>
          </a:lstStyle>
          <a:p xmlns:a="http://schemas.openxmlformats.org/drawingml/2006/main">
            <a:pPr algn="ctr">
              <a:defRPr sz="3150" b="1">
                <a:solidFill>
                  <a:srgbClr val="FFFFFF"/>
                </a:solidFill>
                <a:latin typeface="Arial"/>
                <a:ea typeface="Arial"/>
                <a:cs typeface="Arial"/>
              </a:defRPr>
            </a:pPr>
            <a:r>
              <a:rPr sz="31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A34A5F4B-7627-4534-A94A-ACD3F4F53C37}"/>
              </a:ext>
            </a:extLst>
          </p:cNvPr>
          <p:cNvSpPr>
            <a:spLocks xmlns:a="http://schemas.openxmlformats.org/drawingml/2006/main" noGrp="1"/>
          </p:cNvSpPr>
          <p:nvPr/>
        </p:nvSpPr>
        <p:spPr>
          <a:xfrm xmlns:a="http://schemas.openxmlformats.org/drawingml/2006/main">
            <a:off x="4762500" y="128587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202124"/>
                </a:solidFill>
                <a:latin typeface="Arial"/>
                <a:ea typeface="Arial"/>
                <a:cs typeface="Arial"/>
              </a:defRPr>
            </a:defPPr>
          </a:lstStyle>
          <a:p xmlns:a="http://schemas.openxmlformats.org/drawingml/2006/main">
            <a:pPr algn="ctr">
              <a:defRPr sz="1800" b="1">
                <a:solidFill>
                  <a:srgbClr val="202124"/>
                </a:solidFill>
                <a:latin typeface="Arial"/>
                <a:ea typeface="Arial"/>
                <a:cs typeface="Arial"/>
              </a:defRPr>
            </a:pPr>
            <a:r>
              <a:rPr sz="1800" b="1">
                <a:solidFill>
                  <a:srgbClr val="202124"/>
                </a:solidFill>
                <a:latin typeface="Arial"/>
                <a:ea typeface="Arial"/>
                <a:cs typeface="Arial"/>
              </a:rPr>
              <a:t>Coordonnateur</a:t>
            </a:r>
          </a:p>
          <a:p xmlns:a="http://schemas.openxmlformats.org/drawingml/2006/main">
            <a:pPr algn="ctr">
              <a:defRPr sz="1800" b="1">
                <a:solidFill>
                  <a:srgbClr val="202124"/>
                </a:solidFill>
                <a:latin typeface="Arial"/>
                <a:ea typeface="Arial"/>
                <a:cs typeface="Arial"/>
              </a:defRPr>
            </a:pPr>
            <a:r>
              <a:rPr sz="1800" b="1">
                <a:solidFill>
                  <a:srgbClr val="202124"/>
                </a:solidFill>
                <a:latin typeface="Arial"/>
                <a:ea typeface="Arial"/>
                <a:cs typeface="Arial"/>
              </a:rPr>
              <a:t>Cadrage</a:t>
            </a:r>
          </a:p>
        </p:txBody>
      </p:sp>
      <p:sp>
        <p:nvSpPr>
          <p:cNvPr id="8" name="">
            <a:extLst xmlns:a="http://schemas.openxmlformats.org/drawingml/2006/main">
              <a:ext uri="{FF2B5EF4-FFF2-40B4-BE49-F238E27FC236}">
                <a16:creationId xmlns:a16="http://schemas.microsoft.com/office/drawing/2014/main" id="{DCBEF33F-205A-47E3-9A56-C4CFEB19D567}"/>
              </a:ext>
            </a:extLst>
          </p:cNvPr>
          <p:cNvSpPr>
            <a:spLocks xmlns:a="http://schemas.openxmlformats.org/drawingml/2006/main" noGrp="1"/>
          </p:cNvSpPr>
          <p:nvPr/>
        </p:nvSpPr>
        <p:spPr>
          <a:xfrm xmlns:a="http://schemas.openxmlformats.org/drawingml/2006/main">
            <a:off x="8401050" y="2781300"/>
            <a:ext cx="1104900" cy="1104900"/>
          </a:xfrm>
          <a:prstGeom xmlns:a="http://schemas.openxmlformats.org/drawingml/2006/main" prst="ellipse">
            <a:avLst/>
          </a:prstGeom>
          <a:solidFill xmlns:a="http://schemas.openxmlformats.org/drawingml/2006/main">
            <a:srgbClr val="38ABC4"/>
          </a:solidFill>
          <a:ln xmlns:a="http://schemas.openxmlformats.org/drawingml/2006/main" w="0">
            <a:noFill/>
          </a:ln>
        </p:spPr>
        <p:txBody>
          <a:bodyPr xmlns:a="http://schemas.openxmlformats.org/drawingml/2006/main" lIns="0" tIns="0" rIns="0" bIns="0" anchor="ctr"/>
          <a:lstStyle xmlns:a="http://schemas.openxmlformats.org/drawingml/2006/main">
            <a:defPPr algn="ctr">
              <a:defRPr sz="3150" b="1">
                <a:solidFill>
                  <a:srgbClr val="FFFFFF"/>
                </a:solidFill>
                <a:latin typeface="Arial"/>
                <a:ea typeface="Arial"/>
                <a:cs typeface="Arial"/>
              </a:defRPr>
            </a:defPPr>
          </a:lstStyle>
          <a:p xmlns:a="http://schemas.openxmlformats.org/drawingml/2006/main">
            <a:pPr algn="ctr">
              <a:defRPr sz="3150" b="1">
                <a:solidFill>
                  <a:srgbClr val="FFFFFF"/>
                </a:solidFill>
                <a:latin typeface="Arial"/>
                <a:ea typeface="Arial"/>
                <a:cs typeface="Arial"/>
              </a:defRPr>
            </a:pPr>
            <a:r>
              <a:rPr sz="3150" b="1">
                <a:solidFill>
                  <a:srgbClr val="FFFFFF"/>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5641C692-DF83-4390-B591-1C00E1157B98}"/>
              </a:ext>
            </a:extLst>
          </p:cNvPr>
          <p:cNvSpPr>
            <a:spLocks xmlns:a="http://schemas.openxmlformats.org/drawingml/2006/main" noGrp="1"/>
          </p:cNvSpPr>
          <p:nvPr/>
        </p:nvSpPr>
        <p:spPr>
          <a:xfrm xmlns:a="http://schemas.openxmlformats.org/drawingml/2006/main">
            <a:off x="9601200" y="2952750"/>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202124"/>
                </a:solidFill>
                <a:latin typeface="Arial"/>
                <a:ea typeface="Arial"/>
                <a:cs typeface="Arial"/>
              </a:defRPr>
            </a:defPPr>
          </a:lstStyle>
          <a:p xmlns:a="http://schemas.openxmlformats.org/drawingml/2006/main">
            <a:pPr algn="l">
              <a:defRPr sz="1800" b="0">
                <a:solidFill>
                  <a:srgbClr val="202124"/>
                </a:solidFill>
                <a:latin typeface="Arial"/>
                <a:ea typeface="Arial"/>
                <a:cs typeface="Arial"/>
              </a:defRPr>
            </a:pPr>
            <a:r>
              <a:rPr sz="1800" b="0">
                <a:solidFill>
                  <a:srgbClr val="202124"/>
                </a:solidFill>
                <a:latin typeface="Arial"/>
                <a:ea typeface="Arial"/>
                <a:cs typeface="Arial"/>
              </a:rPr>
              <a:t>Chercheur</a:t>
            </a:r>
          </a:p>
          <a:p xmlns:a="http://schemas.openxmlformats.org/drawingml/2006/main">
            <a:pPr algn="l">
              <a:defRPr sz="1800" b="0">
                <a:solidFill>
                  <a:srgbClr val="202124"/>
                </a:solidFill>
                <a:latin typeface="Arial"/>
                <a:ea typeface="Arial"/>
                <a:cs typeface="Arial"/>
              </a:defRPr>
            </a:pPr>
            <a:r>
              <a:rPr sz="1800" b="0">
                <a:solidFill>
                  <a:srgbClr val="202124"/>
                </a:solidFill>
                <a:latin typeface="Arial"/>
                <a:ea typeface="Arial"/>
                <a:cs typeface="Arial"/>
              </a:rPr>
              <a:t>lire_import</a:t>
            </a:r>
          </a:p>
        </p:txBody>
      </p:sp>
      <p:sp>
        <p:nvSpPr>
          <p:cNvPr id="10" name="">
            <a:extLst xmlns:a="http://schemas.openxmlformats.org/drawingml/2006/main">
              <a:ext uri="{FF2B5EF4-FFF2-40B4-BE49-F238E27FC236}">
                <a16:creationId xmlns:a16="http://schemas.microsoft.com/office/drawing/2014/main" id="{488E2DB0-445D-433A-B8F4-8BFB7B6824CD}"/>
              </a:ext>
            </a:extLst>
          </p:cNvPr>
          <p:cNvSpPr>
            <a:spLocks xmlns:a="http://schemas.openxmlformats.org/drawingml/2006/main" noGrp="1"/>
          </p:cNvSpPr>
          <p:nvPr/>
        </p:nvSpPr>
        <p:spPr>
          <a:xfrm xmlns:a="http://schemas.openxmlformats.org/drawingml/2006/main">
            <a:off x="7305675" y="4686300"/>
            <a:ext cx="1104900" cy="1104900"/>
          </a:xfrm>
          <a:prstGeom xmlns:a="http://schemas.openxmlformats.org/drawingml/2006/main" prst="ellipse">
            <a:avLst/>
          </a:prstGeom>
          <a:solidFill xmlns:a="http://schemas.openxmlformats.org/drawingml/2006/main">
            <a:srgbClr val="D9B33D"/>
          </a:solidFill>
          <a:ln xmlns:a="http://schemas.openxmlformats.org/drawingml/2006/main" w="0">
            <a:noFill/>
          </a:ln>
        </p:spPr>
        <p:txBody>
          <a:bodyPr xmlns:a="http://schemas.openxmlformats.org/drawingml/2006/main" lIns="0" tIns="0" rIns="0" bIns="0" anchor="ctr"/>
          <a:lstStyle xmlns:a="http://schemas.openxmlformats.org/drawingml/2006/main">
            <a:defPPr algn="ctr">
              <a:defRPr sz="3150" b="1">
                <a:solidFill>
                  <a:srgbClr val="FFFFFF"/>
                </a:solidFill>
                <a:latin typeface="Arial"/>
                <a:ea typeface="Arial"/>
                <a:cs typeface="Arial"/>
              </a:defRPr>
            </a:defPPr>
          </a:lstStyle>
          <a:p xmlns:a="http://schemas.openxmlformats.org/drawingml/2006/main">
            <a:pPr algn="ctr">
              <a:defRPr sz="3150" b="1">
                <a:solidFill>
                  <a:srgbClr val="FFFFFF"/>
                </a:solidFill>
                <a:latin typeface="Arial"/>
                <a:ea typeface="Arial"/>
                <a:cs typeface="Arial"/>
              </a:defRPr>
            </a:pPr>
            <a:r>
              <a:rPr sz="3150" b="1">
                <a:solidFill>
                  <a:srgbClr val="FFFFFF"/>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FFD8D634-6DAF-4E6E-BD7D-F78F4EF6D1D0}"/>
              </a:ext>
            </a:extLst>
          </p:cNvPr>
          <p:cNvSpPr>
            <a:spLocks xmlns:a="http://schemas.openxmlformats.org/drawingml/2006/main" noGrp="1"/>
          </p:cNvSpPr>
          <p:nvPr/>
        </p:nvSpPr>
        <p:spPr>
          <a:xfrm xmlns:a="http://schemas.openxmlformats.org/drawingml/2006/main">
            <a:off x="8601075" y="4857750"/>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202124"/>
                </a:solidFill>
                <a:latin typeface="Arial"/>
                <a:ea typeface="Arial"/>
                <a:cs typeface="Arial"/>
              </a:defRPr>
            </a:defPPr>
          </a:lstStyle>
          <a:p xmlns:a="http://schemas.openxmlformats.org/drawingml/2006/main">
            <a:pPr algn="l">
              <a:defRPr sz="1800" b="0">
                <a:solidFill>
                  <a:srgbClr val="202124"/>
                </a:solidFill>
                <a:latin typeface="Arial"/>
                <a:ea typeface="Arial"/>
                <a:cs typeface="Arial"/>
              </a:defRPr>
            </a:pPr>
            <a:r>
              <a:rPr sz="1800" b="0">
                <a:solidFill>
                  <a:srgbClr val="202124"/>
                </a:solidFill>
                <a:latin typeface="Arial"/>
                <a:ea typeface="Arial"/>
                <a:cs typeface="Arial"/>
              </a:rPr>
              <a:t>Analyste</a:t>
            </a:r>
          </a:p>
          <a:p xmlns:a="http://schemas.openxmlformats.org/drawingml/2006/main">
            <a:pPr algn="l">
              <a:defRPr sz="1800" b="0">
                <a:solidFill>
                  <a:srgbClr val="202124"/>
                </a:solidFill>
                <a:latin typeface="Arial"/>
                <a:ea typeface="Arial"/>
                <a:cs typeface="Arial"/>
              </a:defRPr>
            </a:pPr>
            <a:r>
              <a:rPr sz="1800" b="0">
                <a:solidFill>
                  <a:srgbClr val="202124"/>
                </a:solidFill>
                <a:latin typeface="Arial"/>
                <a:ea typeface="Arial"/>
                <a:cs typeface="Arial"/>
              </a:rPr>
              <a:t>Outil de calcul</a:t>
            </a:r>
          </a:p>
        </p:txBody>
      </p:sp>
      <p:sp>
        <p:nvSpPr>
          <p:cNvPr id="12" name="">
            <a:extLst xmlns:a="http://schemas.openxmlformats.org/drawingml/2006/main">
              <a:ext uri="{FF2B5EF4-FFF2-40B4-BE49-F238E27FC236}">
                <a16:creationId xmlns:a16="http://schemas.microsoft.com/office/drawing/2014/main" id="{78D9467A-AFCA-4485-AC04-0F1DB1DA83DC}"/>
              </a:ext>
            </a:extLst>
          </p:cNvPr>
          <p:cNvSpPr>
            <a:spLocks xmlns:a="http://schemas.openxmlformats.org/drawingml/2006/main" noGrp="1"/>
          </p:cNvSpPr>
          <p:nvPr/>
        </p:nvSpPr>
        <p:spPr>
          <a:xfrm xmlns:a="http://schemas.openxmlformats.org/drawingml/2006/main">
            <a:off x="3781425" y="4686300"/>
            <a:ext cx="1104900" cy="1104900"/>
          </a:xfrm>
          <a:prstGeom xmlns:a="http://schemas.openxmlformats.org/drawingml/2006/main" prst="ellipse">
            <a:avLst/>
          </a:prstGeom>
          <a:solidFill xmlns:a="http://schemas.openxmlformats.org/drawingml/2006/main">
            <a:srgbClr val="DE716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3150" b="1">
                <a:solidFill>
                  <a:srgbClr val="FFFFFF"/>
                </a:solidFill>
                <a:latin typeface="Arial"/>
                <a:ea typeface="Arial"/>
                <a:cs typeface="Arial"/>
              </a:defRPr>
            </a:defPPr>
          </a:lstStyle>
          <a:p xmlns:a="http://schemas.openxmlformats.org/drawingml/2006/main">
            <a:pPr algn="ctr">
              <a:defRPr sz="3150" b="1">
                <a:solidFill>
                  <a:srgbClr val="FFFFFF"/>
                </a:solidFill>
                <a:latin typeface="Arial"/>
                <a:ea typeface="Arial"/>
                <a:cs typeface="Arial"/>
              </a:defRPr>
            </a:pPr>
            <a:r>
              <a:rPr sz="3150" b="1">
                <a:solidFill>
                  <a:srgbClr val="FFFFFF"/>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40A03B9E-3E5B-4F43-AB8C-7DED4CA2E80A}"/>
              </a:ext>
            </a:extLst>
          </p:cNvPr>
          <p:cNvSpPr>
            <a:spLocks xmlns:a="http://schemas.openxmlformats.org/drawingml/2006/main" noGrp="1"/>
          </p:cNvSpPr>
          <p:nvPr/>
        </p:nvSpPr>
        <p:spPr>
          <a:xfrm xmlns:a="http://schemas.openxmlformats.org/drawingml/2006/main">
            <a:off x="952500" y="48577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202124"/>
                </a:solidFill>
                <a:latin typeface="Arial"/>
                <a:ea typeface="Arial"/>
                <a:cs typeface="Arial"/>
              </a:defRPr>
            </a:defPPr>
          </a:lstStyle>
          <a:p xmlns:a="http://schemas.openxmlformats.org/drawingml/2006/main">
            <a:pPr algn="r">
              <a:defRPr sz="1800" b="0">
                <a:solidFill>
                  <a:srgbClr val="202124"/>
                </a:solidFill>
                <a:latin typeface="Arial"/>
                <a:ea typeface="Arial"/>
                <a:cs typeface="Arial"/>
              </a:defRPr>
            </a:pPr>
            <a:r>
              <a:rPr sz="1800" b="0">
                <a:solidFill>
                  <a:srgbClr val="202124"/>
                </a:solidFill>
                <a:latin typeface="Arial"/>
                <a:ea typeface="Arial"/>
                <a:cs typeface="Arial"/>
              </a:rPr>
              <a:t>Vérificateur</a:t>
            </a:r>
          </a:p>
          <a:p xmlns:a="http://schemas.openxmlformats.org/drawingml/2006/main">
            <a:pPr algn="r">
              <a:defRPr sz="1800" b="0">
                <a:solidFill>
                  <a:srgbClr val="202124"/>
                </a:solidFill>
                <a:latin typeface="Arial"/>
                <a:ea typeface="Arial"/>
                <a:cs typeface="Arial"/>
              </a:defRPr>
            </a:pPr>
            <a:r>
              <a:rPr sz="1800" b="0">
                <a:solidFill>
                  <a:srgbClr val="202124"/>
                </a:solidFill>
                <a:latin typeface="Arial"/>
                <a:ea typeface="Arial"/>
                <a:cs typeface="Arial"/>
              </a:rPr>
              <a:t>Recalcul indépendant</a:t>
            </a:r>
          </a:p>
        </p:txBody>
      </p:sp>
      <p:sp>
        <p:nvSpPr>
          <p:cNvPr id="14" name="">
            <a:extLst xmlns:a="http://schemas.openxmlformats.org/drawingml/2006/main">
              <a:ext uri="{FF2B5EF4-FFF2-40B4-BE49-F238E27FC236}">
                <a16:creationId xmlns:a16="http://schemas.microsoft.com/office/drawing/2014/main" id="{697245E8-DB2C-47F2-A89B-76BCE97E6849}"/>
              </a:ext>
            </a:extLst>
          </p:cNvPr>
          <p:cNvSpPr>
            <a:spLocks xmlns:a="http://schemas.openxmlformats.org/drawingml/2006/main" noGrp="1"/>
          </p:cNvSpPr>
          <p:nvPr/>
        </p:nvSpPr>
        <p:spPr>
          <a:xfrm xmlns:a="http://schemas.openxmlformats.org/drawingml/2006/main">
            <a:off x="2686050" y="2781300"/>
            <a:ext cx="1104900" cy="1104900"/>
          </a:xfrm>
          <a:prstGeom xmlns:a="http://schemas.openxmlformats.org/drawingml/2006/main" prst="ellipse">
            <a:avLst/>
          </a:prstGeom>
          <a:solidFill xmlns:a="http://schemas.openxmlformats.org/drawingml/2006/main">
            <a:srgbClr val="AC70CE"/>
          </a:solidFill>
          <a:ln xmlns:a="http://schemas.openxmlformats.org/drawingml/2006/main" w="0">
            <a:noFill/>
          </a:ln>
        </p:spPr>
        <p:txBody>
          <a:bodyPr xmlns:a="http://schemas.openxmlformats.org/drawingml/2006/main" lIns="0" tIns="0" rIns="0" bIns="0" anchor="ctr"/>
          <a:lstStyle xmlns:a="http://schemas.openxmlformats.org/drawingml/2006/main">
            <a:defPPr algn="ctr">
              <a:defRPr sz="3150" b="1">
                <a:solidFill>
                  <a:srgbClr val="FFFFFF"/>
                </a:solidFill>
                <a:latin typeface="Arial"/>
                <a:ea typeface="Arial"/>
                <a:cs typeface="Arial"/>
              </a:defRPr>
            </a:defPPr>
          </a:lstStyle>
          <a:p xmlns:a="http://schemas.openxmlformats.org/drawingml/2006/main">
            <a:pPr algn="ctr">
              <a:defRPr sz="3150" b="1">
                <a:solidFill>
                  <a:srgbClr val="FFFFFF"/>
                </a:solidFill>
                <a:latin typeface="Arial"/>
                <a:ea typeface="Arial"/>
                <a:cs typeface="Arial"/>
              </a:defRPr>
            </a:pPr>
            <a:r>
              <a:rPr sz="3150" b="1">
                <a:solidFill>
                  <a:srgbClr val="FFFFFF"/>
                </a:solidFill>
                <a:latin typeface="Arial"/>
                <a:ea typeface="Arial"/>
                <a:cs typeface="Arial"/>
              </a:rPr>
              <a:t>5</a:t>
            </a:r>
          </a:p>
        </p:txBody>
      </p:sp>
      <p:sp>
        <p:nvSpPr>
          <p:cNvPr id="15" name="">
            <a:extLst xmlns:a="http://schemas.openxmlformats.org/drawingml/2006/main">
              <a:ext uri="{FF2B5EF4-FFF2-40B4-BE49-F238E27FC236}">
                <a16:creationId xmlns:a16="http://schemas.microsoft.com/office/drawing/2014/main" id="{B80FC815-F959-496C-BD3A-2403453590F0}"/>
              </a:ext>
            </a:extLst>
          </p:cNvPr>
          <p:cNvSpPr>
            <a:spLocks xmlns:a="http://schemas.openxmlformats.org/drawingml/2006/main" noGrp="1"/>
          </p:cNvSpPr>
          <p:nvPr/>
        </p:nvSpPr>
        <p:spPr>
          <a:xfrm xmlns:a="http://schemas.openxmlformats.org/drawingml/2006/main">
            <a:off x="571500" y="2952750"/>
            <a:ext cx="200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202124"/>
                </a:solidFill>
                <a:latin typeface="Arial"/>
                <a:ea typeface="Arial"/>
                <a:cs typeface="Arial"/>
              </a:defRPr>
            </a:defPPr>
          </a:lstStyle>
          <a:p xmlns:a="http://schemas.openxmlformats.org/drawingml/2006/main">
            <a:pPr algn="r">
              <a:defRPr sz="1800" b="0">
                <a:solidFill>
                  <a:srgbClr val="202124"/>
                </a:solidFill>
                <a:latin typeface="Arial"/>
                <a:ea typeface="Arial"/>
                <a:cs typeface="Arial"/>
              </a:defRPr>
            </a:pPr>
            <a:r>
              <a:rPr sz="1800" b="0">
                <a:solidFill>
                  <a:srgbClr val="202124"/>
                </a:solidFill>
                <a:latin typeface="Arial"/>
                <a:ea typeface="Arial"/>
                <a:cs typeface="Arial"/>
              </a:rPr>
              <a:t>Coordonnateur</a:t>
            </a:r>
          </a:p>
          <a:p xmlns:a="http://schemas.openxmlformats.org/drawingml/2006/main">
            <a:pPr algn="r">
              <a:defRPr sz="1800" b="0">
                <a:solidFill>
                  <a:srgbClr val="202124"/>
                </a:solidFill>
                <a:latin typeface="Arial"/>
                <a:ea typeface="Arial"/>
                <a:cs typeface="Arial"/>
              </a:defRPr>
            </a:pPr>
            <a:r>
              <a:rPr sz="1800" b="0">
                <a:solidFill>
                  <a:srgbClr val="202124"/>
                </a:solidFill>
                <a:latin typeface="Arial"/>
                <a:ea typeface="Arial"/>
                <a:cs typeface="Arial"/>
              </a:rPr>
              <a:t>Synthèse</a:t>
            </a:r>
          </a:p>
        </p:txBody>
      </p:sp>
      <p:sp>
        <p:nvSpPr>
          <p:cNvPr id="20" name="">
            <a:extLst xmlns:a="http://schemas.openxmlformats.org/drawingml/2006/main">
              <a:ext uri="{FF2B5EF4-FFF2-40B4-BE49-F238E27FC236}">
                <a16:creationId xmlns:a16="http://schemas.microsoft.com/office/drawing/2014/main" id="{B4EED747-26BB-47EE-901C-ADC2A15BAEC7}"/>
              </a:ext>
            </a:extLst>
          </p:cNvPr>
          <p:cNvSpPr>
            <a:spLocks xmlns:a="http://schemas.openxmlformats.org/drawingml/2006/main" noGrp="1"/>
          </p:cNvSpPr>
          <p:nvPr/>
        </p:nvSpPr>
        <p:spPr>
          <a:xfrm xmlns:a="http://schemas.openxmlformats.org/drawingml/2006/main">
            <a:off x="533400" y="6048375"/>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0555A"/>
                </a:solidFill>
                <a:latin typeface="Arial"/>
                <a:ea typeface="Arial"/>
                <a:cs typeface="Arial"/>
              </a:defRPr>
            </a:defPPr>
          </a:lstStyle>
          <a:p xmlns:a="http://schemas.openxmlformats.org/drawingml/2006/main">
            <a:pPr algn="ctr">
              <a:defRPr sz="1650" b="0">
                <a:solidFill>
                  <a:srgbClr val="50555A"/>
                </a:solidFill>
                <a:latin typeface="Arial"/>
                <a:ea typeface="Arial"/>
                <a:cs typeface="Arial"/>
              </a:defRPr>
            </a:pPr>
            <a:r>
              <a:rPr sz="1650" b="0">
                <a:solidFill>
                  <a:srgbClr val="50555A"/>
                </a:solidFill>
                <a:latin typeface="Arial"/>
                <a:ea typeface="Arial"/>
                <a:cs typeface="Arial"/>
              </a:rPr>
              <a:t>Le coordonnateur intervient deux fois. Les flèches suivent l’ordre réel des cinq tâches.</a:t>
            </a:r>
          </a:p>
        </p:txBody>
      </p:sp>
    </p:spTree>
    <p:extLst>
      <p:ext uri="{BB962C8B-B14F-4D97-AF65-F5344CB8AC3E}">
        <p14:creationId xmlns:p14="http://schemas.microsoft.com/office/powerpoint/2010/main" val="5864840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15CCDBAB-6881-40B0-9539-588FE9799CF5}"/>
              </a:ext>
            </a:extLst>
          </p:cNvPr>
          <p:cNvCxnSpPr>
            <a:stCxn xmlns:a="http://schemas.openxmlformats.org/drawingml/2006/main" id="12" idx="1"/>
            <a:endCxn xmlns:a="http://schemas.openxmlformats.org/drawingml/2006/main" id="14" idx="5"/>
          </p:cNvCxnSpPr>
          <p:nvPr/>
        </p:nvCxnSpPr>
        <p:spPr>
          <a:xfrm xmlns:a="http://schemas.openxmlformats.org/drawingml/2006/main" flipH="1" flipV="1">
            <a:off x="3629141" y="3724391"/>
            <a:ext cx="314093" cy="1123718"/>
          </a:xfrm>
          <a:prstGeom xmlns:a="http://schemas.openxmlformats.org/drawingml/2006/main" prst="straightConnector1">
            <a:avLst/>
          </a:prstGeom>
          <a:ln xmlns:a="http://schemas.openxmlformats.org/drawingml/2006/main" w="19050">
            <a:solidFill>
              <a:srgbClr val="8B8D90"/>
            </a:solidFill>
            <a:tailEnd type="triangle" w="med" len="med"/>
          </a:ln>
        </p:spPr>
      </p:cxnSp>
      <p:cxnSp>
        <p:nvCxnSpPr>
          <p:cNvPr id="18" name="">
            <a:extLst xmlns:a="http://schemas.openxmlformats.org/drawingml/2006/main">
              <a:ext uri="{FF2B5EF4-FFF2-40B4-BE49-F238E27FC236}">
                <a16:creationId xmlns:a16="http://schemas.microsoft.com/office/drawing/2014/main" id="{4B44391F-70F6-4EF1-BB73-9BB0A4F625C7}"/>
              </a:ext>
            </a:extLst>
          </p:cNvPr>
          <p:cNvCxnSpPr>
            <a:stCxn xmlns:a="http://schemas.openxmlformats.org/drawingml/2006/main" id="10" idx="2"/>
            <a:endCxn xmlns:a="http://schemas.openxmlformats.org/drawingml/2006/main" id="12" idx="6"/>
          </p:cNvCxnSpPr>
          <p:nvPr/>
        </p:nvCxnSpPr>
        <p:spPr>
          <a:xfrm xmlns:a="http://schemas.openxmlformats.org/drawingml/2006/main" flipH="1">
            <a:off x="4886325" y="5238750"/>
            <a:ext cx="2419350" cy="0"/>
          </a:xfrm>
          <a:prstGeom xmlns:a="http://schemas.openxmlformats.org/drawingml/2006/main" prst="straightConnector1">
            <a:avLst/>
          </a:prstGeom>
          <a:ln xmlns:a="http://schemas.openxmlformats.org/drawingml/2006/main" w="19050">
            <a:solidFill>
              <a:srgbClr val="8B8D90"/>
            </a:solidFill>
            <a:tailEnd type="triangle" w="med" len="med"/>
          </a:ln>
        </p:spPr>
      </p:cxnSp>
      <p:cxnSp>
        <p:nvCxnSpPr>
          <p:cNvPr id="17" name="">
            <a:extLst xmlns:a="http://schemas.openxmlformats.org/drawingml/2006/main">
              <a:ext uri="{FF2B5EF4-FFF2-40B4-BE49-F238E27FC236}">
                <a16:creationId xmlns:a16="http://schemas.microsoft.com/office/drawing/2014/main" id="{D9EAF3C2-A2DB-459B-B220-43FDB28BB381}"/>
              </a:ext>
            </a:extLst>
          </p:cNvPr>
          <p:cNvCxnSpPr>
            <a:stCxn xmlns:a="http://schemas.openxmlformats.org/drawingml/2006/main" id="8" idx="3"/>
            <a:endCxn xmlns:a="http://schemas.openxmlformats.org/drawingml/2006/main" id="10" idx="7"/>
          </p:cNvCxnSpPr>
          <p:nvPr/>
        </p:nvCxnSpPr>
        <p:spPr>
          <a:xfrm xmlns:a="http://schemas.openxmlformats.org/drawingml/2006/main" flipH="1">
            <a:off x="8248766" y="3724391"/>
            <a:ext cx="314093" cy="1123718"/>
          </a:xfrm>
          <a:prstGeom xmlns:a="http://schemas.openxmlformats.org/drawingml/2006/main" prst="straightConnector1">
            <a:avLst/>
          </a:prstGeom>
          <a:ln xmlns:a="http://schemas.openxmlformats.org/drawingml/2006/main" w="19050">
            <a:solidFill>
              <a:srgbClr val="8B8D90"/>
            </a:solidFill>
            <a:tailEnd type="triangle" w="med" len="med"/>
          </a:ln>
        </p:spPr>
      </p:cxnSp>
      <p:cxnSp>
        <p:nvCxnSpPr>
          <p:cNvPr id="16" name="">
            <a:extLst xmlns:a="http://schemas.openxmlformats.org/drawingml/2006/main">
              <a:ext uri="{FF2B5EF4-FFF2-40B4-BE49-F238E27FC236}">
                <a16:creationId xmlns:a16="http://schemas.microsoft.com/office/drawing/2014/main" id="{91F31B79-C388-4434-8E2E-A299025AE370}"/>
              </a:ext>
            </a:extLst>
          </p:cNvPr>
          <p:cNvCxnSpPr>
            <a:stCxn xmlns:a="http://schemas.openxmlformats.org/drawingml/2006/main" id="6" idx="6"/>
            <a:endCxn xmlns:a="http://schemas.openxmlformats.org/drawingml/2006/main" id="8" idx="2"/>
          </p:cNvCxnSpPr>
          <p:nvPr/>
        </p:nvCxnSpPr>
        <p:spPr>
          <a:xfrm xmlns:a="http://schemas.openxmlformats.org/drawingml/2006/main">
            <a:off x="6648450" y="2428875"/>
            <a:ext cx="1752600" cy="904875"/>
          </a:xfrm>
          <a:prstGeom xmlns:a="http://schemas.openxmlformats.org/drawingml/2006/main" prst="straightConnector1">
            <a:avLst/>
          </a:prstGeom>
          <a:ln xmlns:a="http://schemas.openxmlformats.org/drawingml/2006/main" w="19050">
            <a:solidFill>
              <a:srgbClr val="8B8D90"/>
            </a:solidFill>
            <a:tailEnd type="triangle" w="med" len="med"/>
          </a:ln>
        </p:spPr>
      </p:cxnSp>
      <p:sp>
        <p:nvSpPr>
          <p:cNvPr id="21" name="">
            <a:extLst xmlns:a="http://schemas.openxmlformats.org/drawingml/2006/main">
              <a:ext uri="{FF2B5EF4-FFF2-40B4-BE49-F238E27FC236}">
                <a16:creationId xmlns:a16="http://schemas.microsoft.com/office/drawing/2014/main" id="{26DB98B7-B8D8-4429-8E9D-5CC4DF9A490F}"/>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Flux des données de la campagne</a:t>
            </a:r>
          </a:p>
        </p:txBody>
      </p:sp>
      <p:sp>
        <p:nvSpPr>
          <p:cNvPr id="2" name="">
            <a:extLst xmlns:a="http://schemas.openxmlformats.org/drawingml/2006/main">
              <a:ext uri="{FF2B5EF4-FFF2-40B4-BE49-F238E27FC236}">
                <a16:creationId xmlns:a16="http://schemas.microsoft.com/office/drawing/2014/main" id="{B3142B19-4FEC-421F-94D0-36C9BDC852A8}"/>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Les sources et chaque résultat restent identifiables</a:t>
            </a:r>
          </a:p>
        </p:txBody>
      </p:sp>
      <p:sp>
        <p:nvSpPr>
          <p:cNvPr id="3" name="">
            <a:extLst xmlns:a="http://schemas.openxmlformats.org/drawingml/2006/main">
              <a:ext uri="{FF2B5EF4-FFF2-40B4-BE49-F238E27FC236}">
                <a16:creationId xmlns:a16="http://schemas.microsoft.com/office/drawing/2014/main" id="{4833AE23-8124-4437-A344-ED6FB3D7D217}"/>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1CEF8EF2-BA64-4103-96CB-4C4A6B314B7C}"/>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813AE4AB-B4B1-494B-A668-A0490A00680E}"/>
              </a:ext>
            </a:extLst>
          </p:cNvPr>
          <p:cNvSpPr>
            <a:spLocks xmlns:a="http://schemas.openxmlformats.org/drawingml/2006/main" noGrp="1"/>
          </p:cNvSpPr>
          <p:nvPr/>
        </p:nvSpPr>
        <p:spPr>
          <a:xfrm xmlns:a="http://schemas.openxmlformats.org/drawingml/2006/main">
            <a:off x="5257800" y="3019425"/>
            <a:ext cx="1676400" cy="1676400"/>
          </a:xfrm>
          <a:prstGeom xmlns:a="http://schemas.openxmlformats.org/drawingml/2006/main" prst="ellipse">
            <a:avLst/>
          </a:prstGeom>
          <a:solidFill xmlns:a="http://schemas.openxmlformats.org/drawingml/2006/main">
            <a:srgbClr val="77797C"/>
          </a:solidFill>
          <a:ln xmlns:a="http://schemas.openxmlformats.org/drawingml/2006/main" w="0">
            <a:noFill/>
          </a:ln>
        </p:spPr>
        <p:txBody>
          <a:bodyPr xmlns:a="http://schemas.openxmlformats.org/drawingml/2006/main" lIns="114300" tIns="114300" rIns="114300" bIns="114300" anchor="ctr"/>
          <a:lstStyle xmlns:a="http://schemas.openxmlformats.org/drawingml/2006/main">
            <a:defPPr algn="ctr">
              <a:defRPr sz="1950" b="1">
                <a:solidFill>
                  <a:srgbClr val="FFFFFF"/>
                </a:solidFill>
                <a:latin typeface="Arial"/>
                <a:ea typeface="Arial"/>
                <a:cs typeface="Arial"/>
              </a:defRPr>
            </a:def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SQLite</a:t>
            </a:r>
          </a:p>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Traces et</a:t>
            </a:r>
          </a:p>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avis</a:t>
            </a:r>
          </a:p>
        </p:txBody>
      </p:sp>
      <p:sp>
        <p:nvSpPr>
          <p:cNvPr id="6" name="">
            <a:extLst xmlns:a="http://schemas.openxmlformats.org/drawingml/2006/main">
              <a:ext uri="{FF2B5EF4-FFF2-40B4-BE49-F238E27FC236}">
                <a16:creationId xmlns:a16="http://schemas.microsoft.com/office/drawing/2014/main" id="{71C41183-AA8F-4A7B-A4E0-A5A9039723CD}"/>
              </a:ext>
            </a:extLst>
          </p:cNvPr>
          <p:cNvSpPr>
            <a:spLocks xmlns:a="http://schemas.openxmlformats.org/drawingml/2006/main" noGrp="1"/>
          </p:cNvSpPr>
          <p:nvPr/>
        </p:nvSpPr>
        <p:spPr>
          <a:xfrm xmlns:a="http://schemas.openxmlformats.org/drawingml/2006/main">
            <a:off x="5543550" y="1876425"/>
            <a:ext cx="1104900" cy="1104900"/>
          </a:xfrm>
          <a:prstGeom xmlns:a="http://schemas.openxmlformats.org/drawingml/2006/main" prst="ellipse">
            <a:avLst/>
          </a:prstGeom>
          <a:solidFill xmlns:a="http://schemas.openxmlformats.org/drawingml/2006/main">
            <a:srgbClr val="58B78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3150" b="1">
                <a:solidFill>
                  <a:srgbClr val="FFFFFF"/>
                </a:solidFill>
                <a:latin typeface="Arial"/>
                <a:ea typeface="Arial"/>
                <a:cs typeface="Arial"/>
              </a:defRPr>
            </a:defPPr>
          </a:lstStyle>
          <a:p xmlns:a="http://schemas.openxmlformats.org/drawingml/2006/main">
            <a:pPr algn="ctr">
              <a:defRPr sz="3150" b="1">
                <a:solidFill>
                  <a:srgbClr val="FFFFFF"/>
                </a:solidFill>
                <a:latin typeface="Arial"/>
                <a:ea typeface="Arial"/>
                <a:cs typeface="Arial"/>
              </a:defRPr>
            </a:pPr>
            <a:r>
              <a:rPr sz="31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46F452BF-520B-47B6-9E80-BBC4E7D90C76}"/>
              </a:ext>
            </a:extLst>
          </p:cNvPr>
          <p:cNvSpPr>
            <a:spLocks xmlns:a="http://schemas.openxmlformats.org/drawingml/2006/main" noGrp="1"/>
          </p:cNvSpPr>
          <p:nvPr/>
        </p:nvSpPr>
        <p:spPr>
          <a:xfrm xmlns:a="http://schemas.openxmlformats.org/drawingml/2006/main">
            <a:off x="4762500" y="128587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202124"/>
                </a:solidFill>
                <a:latin typeface="Arial"/>
                <a:ea typeface="Arial"/>
                <a:cs typeface="Arial"/>
              </a:defRPr>
            </a:defPPr>
          </a:lstStyle>
          <a:p xmlns:a="http://schemas.openxmlformats.org/drawingml/2006/main">
            <a:pPr algn="ctr">
              <a:defRPr sz="1800" b="1">
                <a:solidFill>
                  <a:srgbClr val="202124"/>
                </a:solidFill>
                <a:latin typeface="Arial"/>
                <a:ea typeface="Arial"/>
                <a:cs typeface="Arial"/>
              </a:defRPr>
            </a:pPr>
            <a:r>
              <a:rPr sz="1800" b="1">
                <a:solidFill>
                  <a:srgbClr val="202124"/>
                </a:solidFill>
                <a:latin typeface="Arial"/>
                <a:ea typeface="Arial"/>
                <a:cs typeface="Arial"/>
              </a:rPr>
              <a:t>CSV locaux</a:t>
            </a:r>
          </a:p>
          <a:p xmlns:a="http://schemas.openxmlformats.org/drawingml/2006/main">
            <a:pPr algn="ctr">
              <a:defRPr sz="1800" b="1">
                <a:solidFill>
                  <a:srgbClr val="202124"/>
                </a:solidFill>
                <a:latin typeface="Arial"/>
                <a:ea typeface="Arial"/>
                <a:cs typeface="Arial"/>
              </a:defRPr>
            </a:pPr>
            <a:r>
              <a:rPr sz="1800" b="1">
                <a:solidFill>
                  <a:srgbClr val="202124"/>
                </a:solidFill>
                <a:latin typeface="Arial"/>
                <a:ea typeface="Arial"/>
                <a:cs typeface="Arial"/>
              </a:rPr>
              <a:t>Dates et SHA256</a:t>
            </a:r>
          </a:p>
        </p:txBody>
      </p:sp>
      <p:sp>
        <p:nvSpPr>
          <p:cNvPr id="8" name="">
            <a:extLst xmlns:a="http://schemas.openxmlformats.org/drawingml/2006/main">
              <a:ext uri="{FF2B5EF4-FFF2-40B4-BE49-F238E27FC236}">
                <a16:creationId xmlns:a16="http://schemas.microsoft.com/office/drawing/2014/main" id="{74A80601-53B2-4237-B467-4872227BA532}"/>
              </a:ext>
            </a:extLst>
          </p:cNvPr>
          <p:cNvSpPr>
            <a:spLocks xmlns:a="http://schemas.openxmlformats.org/drawingml/2006/main" noGrp="1"/>
          </p:cNvSpPr>
          <p:nvPr/>
        </p:nvSpPr>
        <p:spPr>
          <a:xfrm xmlns:a="http://schemas.openxmlformats.org/drawingml/2006/main">
            <a:off x="8401050" y="2781300"/>
            <a:ext cx="1104900" cy="1104900"/>
          </a:xfrm>
          <a:prstGeom xmlns:a="http://schemas.openxmlformats.org/drawingml/2006/main" prst="ellipse">
            <a:avLst/>
          </a:prstGeom>
          <a:solidFill xmlns:a="http://schemas.openxmlformats.org/drawingml/2006/main">
            <a:srgbClr val="38ABC4"/>
          </a:solidFill>
          <a:ln xmlns:a="http://schemas.openxmlformats.org/drawingml/2006/main" w="0">
            <a:noFill/>
          </a:ln>
        </p:spPr>
        <p:txBody>
          <a:bodyPr xmlns:a="http://schemas.openxmlformats.org/drawingml/2006/main" lIns="0" tIns="0" rIns="0" bIns="0" anchor="ctr"/>
          <a:lstStyle xmlns:a="http://schemas.openxmlformats.org/drawingml/2006/main">
            <a:defPPr algn="ctr">
              <a:defRPr sz="3150" b="1">
                <a:solidFill>
                  <a:srgbClr val="FFFFFF"/>
                </a:solidFill>
                <a:latin typeface="Arial"/>
                <a:ea typeface="Arial"/>
                <a:cs typeface="Arial"/>
              </a:defRPr>
            </a:defPPr>
          </a:lstStyle>
          <a:p xmlns:a="http://schemas.openxmlformats.org/drawingml/2006/main">
            <a:pPr algn="ctr">
              <a:defRPr sz="3150" b="1">
                <a:solidFill>
                  <a:srgbClr val="FFFFFF"/>
                </a:solidFill>
                <a:latin typeface="Arial"/>
                <a:ea typeface="Arial"/>
                <a:cs typeface="Arial"/>
              </a:defRPr>
            </a:pPr>
            <a:r>
              <a:rPr sz="3150" b="1">
                <a:solidFill>
                  <a:srgbClr val="FFFFFF"/>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5EC12C26-A606-49AD-B704-59132ADCFF3E}"/>
              </a:ext>
            </a:extLst>
          </p:cNvPr>
          <p:cNvSpPr>
            <a:spLocks xmlns:a="http://schemas.openxmlformats.org/drawingml/2006/main" noGrp="1"/>
          </p:cNvSpPr>
          <p:nvPr/>
        </p:nvSpPr>
        <p:spPr>
          <a:xfrm xmlns:a="http://schemas.openxmlformats.org/drawingml/2006/main">
            <a:off x="9601200" y="2952750"/>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202124"/>
                </a:solidFill>
                <a:latin typeface="Arial"/>
                <a:ea typeface="Arial"/>
                <a:cs typeface="Arial"/>
              </a:defRPr>
            </a:defPPr>
          </a:lstStyle>
          <a:p xmlns:a="http://schemas.openxmlformats.org/drawingml/2006/main">
            <a:pPr algn="l">
              <a:defRPr sz="1800" b="0">
                <a:solidFill>
                  <a:srgbClr val="202124"/>
                </a:solidFill>
                <a:latin typeface="Arial"/>
                <a:ea typeface="Arial"/>
                <a:cs typeface="Arial"/>
              </a:defRPr>
            </a:pPr>
            <a:r>
              <a:rPr sz="1800" b="0">
                <a:solidFill>
                  <a:srgbClr val="202124"/>
                </a:solidFill>
                <a:latin typeface="Arial"/>
                <a:ea typeface="Arial"/>
                <a:cs typeface="Arial"/>
              </a:rPr>
              <a:t>Plan figé</a:t>
            </a:r>
          </a:p>
          <a:p xmlns:a="http://schemas.openxmlformats.org/drawingml/2006/main">
            <a:pPr algn="l">
              <a:defRPr sz="1800" b="0">
                <a:solidFill>
                  <a:srgbClr val="202124"/>
                </a:solidFill>
                <a:latin typeface="Arial"/>
                <a:ea typeface="Arial"/>
                <a:cs typeface="Arial"/>
              </a:defRPr>
            </a:pPr>
            <a:r>
              <a:rPr sz="1800" b="0">
                <a:solidFill>
                  <a:srgbClr val="202124"/>
                </a:solidFill>
                <a:latin typeface="Arial"/>
                <a:ea typeface="Arial"/>
                <a:cs typeface="Arial"/>
              </a:rPr>
              <a:t>20 identifiants</a:t>
            </a:r>
          </a:p>
        </p:txBody>
      </p:sp>
      <p:sp>
        <p:nvSpPr>
          <p:cNvPr id="10" name="">
            <a:extLst xmlns:a="http://schemas.openxmlformats.org/drawingml/2006/main">
              <a:ext uri="{FF2B5EF4-FFF2-40B4-BE49-F238E27FC236}">
                <a16:creationId xmlns:a16="http://schemas.microsoft.com/office/drawing/2014/main" id="{88696B03-8C8E-4FA0-8F9F-DA08DE91AF0B}"/>
              </a:ext>
            </a:extLst>
          </p:cNvPr>
          <p:cNvSpPr>
            <a:spLocks xmlns:a="http://schemas.openxmlformats.org/drawingml/2006/main" noGrp="1"/>
          </p:cNvSpPr>
          <p:nvPr/>
        </p:nvSpPr>
        <p:spPr>
          <a:xfrm xmlns:a="http://schemas.openxmlformats.org/drawingml/2006/main">
            <a:off x="7305675" y="4686300"/>
            <a:ext cx="1104900" cy="1104900"/>
          </a:xfrm>
          <a:prstGeom xmlns:a="http://schemas.openxmlformats.org/drawingml/2006/main" prst="ellipse">
            <a:avLst/>
          </a:prstGeom>
          <a:solidFill xmlns:a="http://schemas.openxmlformats.org/drawingml/2006/main">
            <a:srgbClr val="D9B33D"/>
          </a:solidFill>
          <a:ln xmlns:a="http://schemas.openxmlformats.org/drawingml/2006/main" w="0">
            <a:noFill/>
          </a:ln>
        </p:spPr>
        <p:txBody>
          <a:bodyPr xmlns:a="http://schemas.openxmlformats.org/drawingml/2006/main" lIns="0" tIns="0" rIns="0" bIns="0" anchor="ctr"/>
          <a:lstStyle xmlns:a="http://schemas.openxmlformats.org/drawingml/2006/main">
            <a:defPPr algn="ctr">
              <a:defRPr sz="3150" b="1">
                <a:solidFill>
                  <a:srgbClr val="FFFFFF"/>
                </a:solidFill>
                <a:latin typeface="Arial"/>
                <a:ea typeface="Arial"/>
                <a:cs typeface="Arial"/>
              </a:defRPr>
            </a:defPPr>
          </a:lstStyle>
          <a:p xmlns:a="http://schemas.openxmlformats.org/drawingml/2006/main">
            <a:pPr algn="ctr">
              <a:defRPr sz="3150" b="1">
                <a:solidFill>
                  <a:srgbClr val="FFFFFF"/>
                </a:solidFill>
                <a:latin typeface="Arial"/>
                <a:ea typeface="Arial"/>
                <a:cs typeface="Arial"/>
              </a:defRPr>
            </a:pPr>
            <a:r>
              <a:rPr sz="3150" b="1">
                <a:solidFill>
                  <a:srgbClr val="FFFFFF"/>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BCC1A702-ACAB-4493-8CFD-DCF9526C3E68}"/>
              </a:ext>
            </a:extLst>
          </p:cNvPr>
          <p:cNvSpPr>
            <a:spLocks xmlns:a="http://schemas.openxmlformats.org/drawingml/2006/main" noGrp="1"/>
          </p:cNvSpPr>
          <p:nvPr/>
        </p:nvSpPr>
        <p:spPr>
          <a:xfrm xmlns:a="http://schemas.openxmlformats.org/drawingml/2006/main">
            <a:off x="8601075" y="4857750"/>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202124"/>
                </a:solidFill>
                <a:latin typeface="Arial"/>
                <a:ea typeface="Arial"/>
                <a:cs typeface="Arial"/>
              </a:defRPr>
            </a:defPPr>
          </a:lstStyle>
          <a:p xmlns:a="http://schemas.openxmlformats.org/drawingml/2006/main">
            <a:pPr algn="l">
              <a:defRPr sz="1800" b="0">
                <a:solidFill>
                  <a:srgbClr val="202124"/>
                </a:solidFill>
                <a:latin typeface="Arial"/>
                <a:ea typeface="Arial"/>
                <a:cs typeface="Arial"/>
              </a:defRPr>
            </a:pPr>
            <a:r>
              <a:rPr sz="1800" b="0">
                <a:solidFill>
                  <a:srgbClr val="202124"/>
                </a:solidFill>
                <a:latin typeface="Arial"/>
                <a:ea typeface="Arial"/>
                <a:cs typeface="Arial"/>
              </a:rPr>
              <a:t>CrewAI</a:t>
            </a:r>
          </a:p>
          <a:p xmlns:a="http://schemas.openxmlformats.org/drawingml/2006/main">
            <a:pPr algn="l">
              <a:defRPr sz="1800" b="0">
                <a:solidFill>
                  <a:srgbClr val="202124"/>
                </a:solidFill>
                <a:latin typeface="Arial"/>
                <a:ea typeface="Arial"/>
                <a:cs typeface="Arial"/>
              </a:defRPr>
            </a:pPr>
            <a:r>
              <a:rPr sz="1800" b="0">
                <a:solidFill>
                  <a:srgbClr val="202124"/>
                </a:solidFill>
                <a:latin typeface="Arial"/>
                <a:ea typeface="Arial"/>
                <a:cs typeface="Arial"/>
              </a:rPr>
              <a:t>Modèle et outils</a:t>
            </a:r>
          </a:p>
        </p:txBody>
      </p:sp>
      <p:sp>
        <p:nvSpPr>
          <p:cNvPr id="12" name="">
            <a:extLst xmlns:a="http://schemas.openxmlformats.org/drawingml/2006/main">
              <a:ext uri="{FF2B5EF4-FFF2-40B4-BE49-F238E27FC236}">
                <a16:creationId xmlns:a16="http://schemas.microsoft.com/office/drawing/2014/main" id="{99E5DE0B-4ECF-4416-AD73-096C75C149E7}"/>
              </a:ext>
            </a:extLst>
          </p:cNvPr>
          <p:cNvSpPr>
            <a:spLocks xmlns:a="http://schemas.openxmlformats.org/drawingml/2006/main" noGrp="1"/>
          </p:cNvSpPr>
          <p:nvPr/>
        </p:nvSpPr>
        <p:spPr>
          <a:xfrm xmlns:a="http://schemas.openxmlformats.org/drawingml/2006/main">
            <a:off x="3781425" y="4686300"/>
            <a:ext cx="1104900" cy="1104900"/>
          </a:xfrm>
          <a:prstGeom xmlns:a="http://schemas.openxmlformats.org/drawingml/2006/main" prst="ellipse">
            <a:avLst/>
          </a:prstGeom>
          <a:solidFill xmlns:a="http://schemas.openxmlformats.org/drawingml/2006/main">
            <a:srgbClr val="DE716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3150" b="1">
                <a:solidFill>
                  <a:srgbClr val="FFFFFF"/>
                </a:solidFill>
                <a:latin typeface="Arial"/>
                <a:ea typeface="Arial"/>
                <a:cs typeface="Arial"/>
              </a:defRPr>
            </a:defPPr>
          </a:lstStyle>
          <a:p xmlns:a="http://schemas.openxmlformats.org/drawingml/2006/main">
            <a:pPr algn="ctr">
              <a:defRPr sz="3150" b="1">
                <a:solidFill>
                  <a:srgbClr val="FFFFFF"/>
                </a:solidFill>
                <a:latin typeface="Arial"/>
                <a:ea typeface="Arial"/>
                <a:cs typeface="Arial"/>
              </a:defRPr>
            </a:pPr>
            <a:r>
              <a:rPr sz="3150" b="1">
                <a:solidFill>
                  <a:srgbClr val="FFFFFF"/>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7D82ACC0-EB53-4E82-ADED-E8F62CBBE868}"/>
              </a:ext>
            </a:extLst>
          </p:cNvPr>
          <p:cNvSpPr>
            <a:spLocks xmlns:a="http://schemas.openxmlformats.org/drawingml/2006/main" noGrp="1"/>
          </p:cNvSpPr>
          <p:nvPr/>
        </p:nvSpPr>
        <p:spPr>
          <a:xfrm xmlns:a="http://schemas.openxmlformats.org/drawingml/2006/main">
            <a:off x="952500" y="48577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202124"/>
                </a:solidFill>
                <a:latin typeface="Arial"/>
                <a:ea typeface="Arial"/>
                <a:cs typeface="Arial"/>
              </a:defRPr>
            </a:defPPr>
          </a:lstStyle>
          <a:p xmlns:a="http://schemas.openxmlformats.org/drawingml/2006/main">
            <a:pPr algn="r">
              <a:defRPr sz="1800" b="0">
                <a:solidFill>
                  <a:srgbClr val="202124"/>
                </a:solidFill>
                <a:latin typeface="Arial"/>
                <a:ea typeface="Arial"/>
                <a:cs typeface="Arial"/>
              </a:defRPr>
            </a:pPr>
            <a:r>
              <a:rPr sz="1800" b="0">
                <a:solidFill>
                  <a:srgbClr val="202124"/>
                </a:solidFill>
                <a:latin typeface="Arial"/>
                <a:ea typeface="Arial"/>
                <a:cs typeface="Arial"/>
              </a:rPr>
              <a:t>Traces</a:t>
            </a:r>
          </a:p>
          <a:p xmlns:a="http://schemas.openxmlformats.org/drawingml/2006/main">
            <a:pPr algn="r">
              <a:defRPr sz="1800" b="0">
                <a:solidFill>
                  <a:srgbClr val="202124"/>
                </a:solidFill>
                <a:latin typeface="Arial"/>
                <a:ea typeface="Arial"/>
                <a:cs typeface="Arial"/>
              </a:defRPr>
            </a:pPr>
            <a:r>
              <a:rPr sz="1800" b="0">
                <a:solidFill>
                  <a:srgbClr val="202124"/>
                </a:solidFill>
                <a:latin typeface="Arial"/>
                <a:ea typeface="Arial"/>
                <a:cs typeface="Arial"/>
              </a:rPr>
              <a:t>Mesures et contrôles</a:t>
            </a:r>
          </a:p>
        </p:txBody>
      </p:sp>
      <p:sp>
        <p:nvSpPr>
          <p:cNvPr id="14" name="">
            <a:extLst xmlns:a="http://schemas.openxmlformats.org/drawingml/2006/main">
              <a:ext uri="{FF2B5EF4-FFF2-40B4-BE49-F238E27FC236}">
                <a16:creationId xmlns:a16="http://schemas.microsoft.com/office/drawing/2014/main" id="{F7AFF7AB-2181-4ED4-86C0-78853CCFD5DF}"/>
              </a:ext>
            </a:extLst>
          </p:cNvPr>
          <p:cNvSpPr>
            <a:spLocks xmlns:a="http://schemas.openxmlformats.org/drawingml/2006/main" noGrp="1"/>
          </p:cNvSpPr>
          <p:nvPr/>
        </p:nvSpPr>
        <p:spPr>
          <a:xfrm xmlns:a="http://schemas.openxmlformats.org/drawingml/2006/main">
            <a:off x="2686050" y="2781300"/>
            <a:ext cx="1104900" cy="1104900"/>
          </a:xfrm>
          <a:prstGeom xmlns:a="http://schemas.openxmlformats.org/drawingml/2006/main" prst="ellipse">
            <a:avLst/>
          </a:prstGeom>
          <a:solidFill xmlns:a="http://schemas.openxmlformats.org/drawingml/2006/main">
            <a:srgbClr val="AC70CE"/>
          </a:solidFill>
          <a:ln xmlns:a="http://schemas.openxmlformats.org/drawingml/2006/main" w="0">
            <a:noFill/>
          </a:ln>
        </p:spPr>
        <p:txBody>
          <a:bodyPr xmlns:a="http://schemas.openxmlformats.org/drawingml/2006/main" lIns="0" tIns="0" rIns="0" bIns="0" anchor="ctr"/>
          <a:lstStyle xmlns:a="http://schemas.openxmlformats.org/drawingml/2006/main">
            <a:defPPr algn="ctr">
              <a:defRPr sz="3150" b="1">
                <a:solidFill>
                  <a:srgbClr val="FFFFFF"/>
                </a:solidFill>
                <a:latin typeface="Arial"/>
                <a:ea typeface="Arial"/>
                <a:cs typeface="Arial"/>
              </a:defRPr>
            </a:defPPr>
          </a:lstStyle>
          <a:p xmlns:a="http://schemas.openxmlformats.org/drawingml/2006/main">
            <a:pPr algn="ctr">
              <a:defRPr sz="3150" b="1">
                <a:solidFill>
                  <a:srgbClr val="FFFFFF"/>
                </a:solidFill>
                <a:latin typeface="Arial"/>
                <a:ea typeface="Arial"/>
                <a:cs typeface="Arial"/>
              </a:defRPr>
            </a:pPr>
            <a:r>
              <a:rPr sz="3150" b="1">
                <a:solidFill>
                  <a:srgbClr val="FFFFFF"/>
                </a:solidFill>
                <a:latin typeface="Arial"/>
                <a:ea typeface="Arial"/>
                <a:cs typeface="Arial"/>
              </a:rPr>
              <a:t>5</a:t>
            </a:r>
          </a:p>
        </p:txBody>
      </p:sp>
      <p:sp>
        <p:nvSpPr>
          <p:cNvPr id="15" name="">
            <a:extLst xmlns:a="http://schemas.openxmlformats.org/drawingml/2006/main">
              <a:ext uri="{FF2B5EF4-FFF2-40B4-BE49-F238E27FC236}">
                <a16:creationId xmlns:a16="http://schemas.microsoft.com/office/drawing/2014/main" id="{3F35E4FF-5C9A-48FA-A18B-1FA9B8DB0EE6}"/>
              </a:ext>
            </a:extLst>
          </p:cNvPr>
          <p:cNvSpPr>
            <a:spLocks xmlns:a="http://schemas.openxmlformats.org/drawingml/2006/main" noGrp="1"/>
          </p:cNvSpPr>
          <p:nvPr/>
        </p:nvSpPr>
        <p:spPr>
          <a:xfrm xmlns:a="http://schemas.openxmlformats.org/drawingml/2006/main">
            <a:off x="571500" y="2952750"/>
            <a:ext cx="200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202124"/>
                </a:solidFill>
                <a:latin typeface="Arial"/>
                <a:ea typeface="Arial"/>
                <a:cs typeface="Arial"/>
              </a:defRPr>
            </a:defPPr>
          </a:lstStyle>
          <a:p xmlns:a="http://schemas.openxmlformats.org/drawingml/2006/main">
            <a:pPr algn="r">
              <a:defRPr sz="1800" b="0">
                <a:solidFill>
                  <a:srgbClr val="202124"/>
                </a:solidFill>
                <a:latin typeface="Arial"/>
                <a:ea typeface="Arial"/>
                <a:cs typeface="Arial"/>
              </a:defRPr>
            </a:pPr>
            <a:r>
              <a:rPr sz="1800" b="0">
                <a:solidFill>
                  <a:srgbClr val="202124"/>
                </a:solidFill>
                <a:latin typeface="Arial"/>
                <a:ea typeface="Arial"/>
                <a:cs typeface="Arial"/>
              </a:rPr>
              <a:t>Revue</a:t>
            </a:r>
          </a:p>
          <a:p xmlns:a="http://schemas.openxmlformats.org/drawingml/2006/main">
            <a:pPr algn="r">
              <a:defRPr sz="1800" b="0">
                <a:solidFill>
                  <a:srgbClr val="202124"/>
                </a:solidFill>
                <a:latin typeface="Arial"/>
                <a:ea typeface="Arial"/>
                <a:cs typeface="Arial"/>
              </a:defRPr>
            </a:pPr>
            <a:r>
              <a:rPr sz="1800" b="0">
                <a:solidFill>
                  <a:srgbClr val="202124"/>
                </a:solidFill>
                <a:latin typeface="Arial"/>
                <a:ea typeface="Arial"/>
                <a:cs typeface="Arial"/>
              </a:rPr>
              <a:t>20 avis humains</a:t>
            </a:r>
          </a:p>
        </p:txBody>
      </p:sp>
      <p:sp>
        <p:nvSpPr>
          <p:cNvPr id="20" name="">
            <a:extLst xmlns:a="http://schemas.openxmlformats.org/drawingml/2006/main">
              <a:ext uri="{FF2B5EF4-FFF2-40B4-BE49-F238E27FC236}">
                <a16:creationId xmlns:a16="http://schemas.microsoft.com/office/drawing/2014/main" id="{87850CC1-128F-46AD-8A0E-5B45FA7BD6F2}"/>
              </a:ext>
            </a:extLst>
          </p:cNvPr>
          <p:cNvSpPr>
            <a:spLocks xmlns:a="http://schemas.openxmlformats.org/drawingml/2006/main" noGrp="1"/>
          </p:cNvSpPr>
          <p:nvPr/>
        </p:nvSpPr>
        <p:spPr>
          <a:xfrm xmlns:a="http://schemas.openxmlformats.org/drawingml/2006/main">
            <a:off x="533400" y="6048375"/>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0555A"/>
                </a:solidFill>
                <a:latin typeface="Arial"/>
                <a:ea typeface="Arial"/>
                <a:cs typeface="Arial"/>
              </a:defRPr>
            </a:defPPr>
          </a:lstStyle>
          <a:p xmlns:a="http://schemas.openxmlformats.org/drawingml/2006/main">
            <a:pPr algn="ctr">
              <a:defRPr sz="1650" b="0">
                <a:solidFill>
                  <a:srgbClr val="50555A"/>
                </a:solidFill>
                <a:latin typeface="Arial"/>
                <a:ea typeface="Arial"/>
                <a:cs typeface="Arial"/>
              </a:defRPr>
            </a:pPr>
            <a:r>
              <a:rPr sz="1650" b="0">
                <a:solidFill>
                  <a:srgbClr val="50555A"/>
                </a:solidFill>
                <a:latin typeface="Arial"/>
                <a:ea typeface="Arial"/>
                <a:cs typeface="Arial"/>
              </a:rPr>
              <a:t>Les CSV originaux restent inchangés. La relecture consulte les preuves conservées.</a:t>
            </a:r>
          </a:p>
        </p:txBody>
      </p:sp>
    </p:spTree>
    <p:extLst>
      <p:ext uri="{BB962C8B-B14F-4D97-AF65-F5344CB8AC3E}">
        <p14:creationId xmlns:p14="http://schemas.microsoft.com/office/powerpoint/2010/main" val="8752331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4AFB92-96BB-48E2-B8C7-C7CCFD401040}"/>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Les cinq scénarios</a:t>
            </a:r>
          </a:p>
        </p:txBody>
      </p:sp>
      <p:sp>
        <p:nvSpPr>
          <p:cNvPr id="2" name="">
            <a:extLst xmlns:a="http://schemas.openxmlformats.org/drawingml/2006/main">
              <a:ext uri="{FF2B5EF4-FFF2-40B4-BE49-F238E27FC236}">
                <a16:creationId xmlns:a16="http://schemas.microsoft.com/office/drawing/2014/main" id="{184D3C5C-ADEF-4215-9830-AAADF5F254EC}"/>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Chaque mission conserve ses données et ses limites</a:t>
            </a:r>
          </a:p>
        </p:txBody>
      </p:sp>
      <p:sp>
        <p:nvSpPr>
          <p:cNvPr id="3" name="">
            <a:extLst xmlns:a="http://schemas.openxmlformats.org/drawingml/2006/main">
              <a:ext uri="{FF2B5EF4-FFF2-40B4-BE49-F238E27FC236}">
                <a16:creationId xmlns:a16="http://schemas.microsoft.com/office/drawing/2014/main" id="{88E02036-DE3B-47E9-8294-4A556825B70C}"/>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B3F3CEB4-6C1E-4B16-971C-B100A1A4F20D}"/>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8534B915-096C-42A8-83F7-C8F6AC50C99E}"/>
              </a:ext>
            </a:extLst>
          </p:cNvPr>
          <p:cNvGraphicFramePr/>
          <p:nvPr/>
        </p:nvGraphicFramePr>
        <p:xfrm>
          <a:off xmlns:a="http://schemas.openxmlformats.org/drawingml/2006/main" x="533400" y="1514475"/>
          <a:ext xmlns:a="http://schemas.openxmlformats.org/drawingml/2006/main" cx="11125200" cy="4143375"/>
        </p:xfrm>
        <a:graphic xmlns:a="http://schemas.openxmlformats.org/drawingml/2006/main">
          <a:graphicData uri="http://schemas.openxmlformats.org/drawingml/2006/table">
            <a:tbl>
              <a:tblPr firstRow="0" bandRow="0"/>
              <a:tblGrid>
                <a:gridCol w="1428750"/>
                <a:gridCol w="6000750"/>
                <a:gridCol w="3695700"/>
              </a:tblGrid>
              <a:tr h="690563">
                <a:tc>
                  <a:txBody>
                    <a:bodyPr wrap="square" lIns="133350" tIns="95250" rIns="133350" bIns="95250">
                      <a:noAutofit/>
                    </a:bodyPr>
                    <a:lstStyle/>
                    <a:p>
                      <a:pPr algn="l"/>
                      <a:r>
                        <a:rPr sz="1800" b="1">
                          <a:solidFill>
                            <a:srgbClr val="202124"/>
                          </a:solidFill>
                          <a:latin typeface="Arial"/>
                          <a:ea typeface="Arial"/>
                          <a:cs typeface="Arial"/>
                        </a:rPr>
                        <a:t>Scénario</a:t>
                      </a:r>
                    </a:p>
                  </a:txBody>
                  <a:tcPr marL="91440" marR="91440" marT="45720" marB="45720" anchor="ctr">
                    <a:lnL w="9525">
                      <a:solidFill>
                        <a:srgbClr val="D9DBDF"/>
                      </a:solidFill>
                      <a:prstDash val="solid"/>
                    </a:lnL>
                    <a:lnR w="9525">
                      <a:solidFill>
                        <a:srgbClr val="D9DBDF"/>
                      </a:solidFill>
                      <a:prstDash val="solid"/>
                    </a:lnR>
                    <a:lnT w="9525">
                      <a:solidFill>
                        <a:srgbClr val="D9DBDF"/>
                      </a:solidFill>
                      <a:prstDash val="solid"/>
                    </a:lnT>
                    <a:lnB w="9525">
                      <a:solidFill>
                        <a:srgbClr val="D9DBDF"/>
                      </a:solidFill>
                      <a:prstDash val="solid"/>
                    </a:lnB>
                    <a:solidFill>
                      <a:srgbClr val="B4AFF0"/>
                    </a:solidFill>
                  </a:tcPr>
                </a:tc>
                <a:tc>
                  <a:txBody>
                    <a:bodyPr wrap="square" lIns="133350" tIns="95250" rIns="133350" bIns="95250">
                      <a:noAutofit/>
                    </a:bodyPr>
                    <a:lstStyle/>
                    <a:p>
                      <a:pPr algn="l"/>
                      <a:r>
                        <a:rPr sz="1800" b="1">
                          <a:solidFill>
                            <a:srgbClr val="202124"/>
                          </a:solidFill>
                          <a:latin typeface="Arial"/>
                          <a:ea typeface="Arial"/>
                          <a:cs typeface="Arial"/>
                        </a:rPr>
                        <a:t>Question</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4CD91"/>
                    </a:solidFill>
                  </a:tcPr>
                </a:tc>
                <a:tc>
                  <a:txBody>
                    <a:bodyPr wrap="square" lIns="133350" tIns="95250" rIns="133350" bIns="95250">
                      <a:noAutofit/>
                    </a:bodyPr>
                    <a:lstStyle/>
                    <a:p>
                      <a:pPr algn="l"/>
                      <a:r>
                        <a:rPr sz="1800" b="1">
                          <a:solidFill>
                            <a:srgbClr val="202124"/>
                          </a:solidFill>
                          <a:latin typeface="Arial"/>
                          <a:ea typeface="Arial"/>
                          <a:cs typeface="Arial"/>
                        </a:rPr>
                        <a:t>Réserve principale</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1C8E2"/>
                    </a:solidFill>
                  </a:tcPr>
                </a:tc>
              </a:tr>
              <a:tr h="690563">
                <a:tc>
                  <a:txBody>
                    <a:bodyPr wrap="square" lIns="133350" tIns="95250" rIns="133350" bIns="95250">
                      <a:noAutofit/>
                    </a:bodyPr>
                    <a:lstStyle/>
                    <a:p>
                      <a:pPr algn="l"/>
                      <a:r>
                        <a:rPr sz="1800" b="0">
                          <a:solidFill>
                            <a:srgbClr val="202124"/>
                          </a:solidFill>
                          <a:latin typeface="Arial"/>
                          <a:ea typeface="Arial"/>
                          <a:cs typeface="Arial"/>
                        </a:rPr>
                        <a:t>S1</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l"/>
                      <a:r>
                        <a:rPr sz="1800" b="0">
                          <a:solidFill>
                            <a:srgbClr val="202124"/>
                          </a:solidFill>
                          <a:latin typeface="Arial"/>
                          <a:ea typeface="Arial"/>
                          <a:cs typeface="Arial"/>
                        </a:rPr>
                        <a:t>Quels sont les trois premiers par vues et heures ?</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l"/>
                      <a:r>
                        <a:rPr sz="1800" b="0">
                          <a:solidFill>
                            <a:srgbClr val="202124"/>
                          </a:solidFill>
                          <a:latin typeface="Arial"/>
                          <a:ea typeface="Arial"/>
                          <a:cs typeface="Arial"/>
                        </a:rPr>
                        <a:t>Deux classements distincts</a:t>
                      </a:r>
                    </a:p>
                  </a:txBody>
                  <a:tcPr marL="91440" marR="91440" marT="45720" marB="45720" anchor="ctr">
                    <a:lnR w="9525">
                      <a:solidFill>
                        <a:srgbClr val="D9DBDF"/>
                      </a:solidFill>
                      <a:prstDash val="solid"/>
                    </a:lnR>
                    <a:lnB w="9525">
                      <a:solidFill>
                        <a:srgbClr val="D9DBDF"/>
                      </a:solidFill>
                      <a:prstDash val="solid"/>
                    </a:lnB>
                    <a:solidFill>
                      <a:srgbClr val="FCEDF6"/>
                    </a:solidFill>
                  </a:tcPr>
                </a:tc>
              </a:tr>
              <a:tr h="690563">
                <a:tc>
                  <a:txBody>
                    <a:bodyPr wrap="square" lIns="133350" tIns="95250" rIns="133350" bIns="95250">
                      <a:noAutofit/>
                    </a:bodyPr>
                    <a:lstStyle/>
                    <a:p>
                      <a:pPr algn="l"/>
                      <a:r>
                        <a:rPr sz="1800" b="0">
                          <a:solidFill>
                            <a:srgbClr val="202124"/>
                          </a:solidFill>
                          <a:latin typeface="Arial"/>
                          <a:ea typeface="Arial"/>
                          <a:cs typeface="Arial"/>
                        </a:rPr>
                        <a:t>S2</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l"/>
                      <a:r>
                        <a:rPr sz="1800" b="0">
                          <a:solidFill>
                            <a:srgbClr val="202124"/>
                          </a:solidFill>
                          <a:latin typeface="Arial"/>
                          <a:ea typeface="Arial"/>
                          <a:cs typeface="Arial"/>
                        </a:rPr>
                        <a:t>Comment diffèrent les deux groupes choisis ?</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l"/>
                      <a:r>
                        <a:rPr sz="1800" b="0">
                          <a:solidFill>
                            <a:srgbClr val="202124"/>
                          </a:solidFill>
                          <a:latin typeface="Arial"/>
                          <a:ea typeface="Arial"/>
                          <a:cs typeface="Arial"/>
                        </a:rPr>
                        <a:t>Deux vidéos par groupe</a:t>
                      </a:r>
                    </a:p>
                  </a:txBody>
                  <a:tcPr marL="91440" marR="91440" marT="45720" marB="45720" anchor="ctr">
                    <a:lnR w="9525">
                      <a:solidFill>
                        <a:srgbClr val="D9DBDF"/>
                      </a:solidFill>
                      <a:prstDash val="solid"/>
                    </a:lnR>
                    <a:lnB w="9525">
                      <a:solidFill>
                        <a:srgbClr val="D9DBDF"/>
                      </a:solidFill>
                      <a:prstDash val="solid"/>
                    </a:lnB>
                    <a:solidFill>
                      <a:srgbClr val="FCEDF6"/>
                    </a:solidFill>
                  </a:tcPr>
                </a:tc>
              </a:tr>
              <a:tr h="690563">
                <a:tc>
                  <a:txBody>
                    <a:bodyPr wrap="square" lIns="133350" tIns="95250" rIns="133350" bIns="95250">
                      <a:noAutofit/>
                    </a:bodyPr>
                    <a:lstStyle/>
                    <a:p>
                      <a:pPr algn="l"/>
                      <a:r>
                        <a:rPr sz="1800" b="0">
                          <a:solidFill>
                            <a:srgbClr val="202124"/>
                          </a:solidFill>
                          <a:latin typeface="Arial"/>
                          <a:ea typeface="Arial"/>
                          <a:cs typeface="Arial"/>
                        </a:rPr>
                        <a:t>S3</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l"/>
                      <a:r>
                        <a:rPr sz="1800" b="0">
                          <a:solidFill>
                            <a:srgbClr val="202124"/>
                          </a:solidFill>
                          <a:latin typeface="Arial"/>
                          <a:ea typeface="Arial"/>
                          <a:cs typeface="Arial"/>
                        </a:rPr>
                        <a:t>Comment évoluent canal et cohorte ?</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l"/>
                      <a:r>
                        <a:rPr sz="1800" b="0">
                          <a:solidFill>
                            <a:srgbClr val="202124"/>
                          </a:solidFill>
                          <a:latin typeface="Arial"/>
                          <a:ea typeface="Arial"/>
                          <a:cs typeface="Arial"/>
                        </a:rPr>
                        <a:t>50 paires connues sur 67</a:t>
                      </a:r>
                    </a:p>
                  </a:txBody>
                  <a:tcPr marL="91440" marR="91440" marT="45720" marB="45720" anchor="ctr">
                    <a:lnR w="9525">
                      <a:solidFill>
                        <a:srgbClr val="D9DBDF"/>
                      </a:solidFill>
                      <a:prstDash val="solid"/>
                    </a:lnR>
                    <a:lnB w="9525">
                      <a:solidFill>
                        <a:srgbClr val="D9DBDF"/>
                      </a:solidFill>
                      <a:prstDash val="solid"/>
                    </a:lnB>
                    <a:solidFill>
                      <a:srgbClr val="FCEDF6"/>
                    </a:solidFill>
                  </a:tcPr>
                </a:tc>
              </a:tr>
              <a:tr h="690563">
                <a:tc>
                  <a:txBody>
                    <a:bodyPr wrap="square" lIns="133350" tIns="95250" rIns="133350" bIns="95250">
                      <a:noAutofit/>
                    </a:bodyPr>
                    <a:lstStyle/>
                    <a:p>
                      <a:pPr algn="l"/>
                      <a:r>
                        <a:rPr sz="1800" b="0">
                          <a:solidFill>
                            <a:srgbClr val="202124"/>
                          </a:solidFill>
                          <a:latin typeface="Arial"/>
                          <a:ea typeface="Arial"/>
                          <a:cs typeface="Arial"/>
                        </a:rPr>
                        <a:t>S4</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l"/>
                      <a:r>
                        <a:rPr sz="1800" b="0">
                          <a:solidFill>
                            <a:srgbClr val="202124"/>
                          </a:solidFill>
                          <a:latin typeface="Arial"/>
                          <a:ea typeface="Arial"/>
                          <a:cs typeface="Arial"/>
                        </a:rPr>
                        <a:t>Où se situe le contenu cible ?</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l"/>
                      <a:r>
                        <a:rPr sz="1800" b="0">
                          <a:solidFill>
                            <a:srgbClr val="202124"/>
                          </a:solidFill>
                          <a:latin typeface="Arial"/>
                          <a:ea typeface="Arial"/>
                          <a:cs typeface="Arial"/>
                        </a:rPr>
                        <a:t>Comparabilité non démontrée</a:t>
                      </a:r>
                    </a:p>
                  </a:txBody>
                  <a:tcPr marL="91440" marR="91440" marT="45720" marB="45720" anchor="ctr">
                    <a:lnR w="9525">
                      <a:solidFill>
                        <a:srgbClr val="D9DBDF"/>
                      </a:solidFill>
                      <a:prstDash val="solid"/>
                    </a:lnR>
                    <a:lnB w="9525">
                      <a:solidFill>
                        <a:srgbClr val="D9DBDF"/>
                      </a:solidFill>
                      <a:prstDash val="solid"/>
                    </a:lnB>
                    <a:solidFill>
                      <a:srgbClr val="FCEDF6"/>
                    </a:solidFill>
                  </a:tcPr>
                </a:tc>
              </a:tr>
              <a:tr h="690563">
                <a:tc>
                  <a:txBody>
                    <a:bodyPr wrap="square" lIns="133350" tIns="95250" rIns="133350" bIns="95250">
                      <a:noAutofit/>
                    </a:bodyPr>
                    <a:lstStyle/>
                    <a:p>
                      <a:pPr algn="l"/>
                      <a:r>
                        <a:rPr sz="1800" b="0">
                          <a:solidFill>
                            <a:srgbClr val="202124"/>
                          </a:solidFill>
                          <a:latin typeface="Arial"/>
                          <a:ea typeface="Arial"/>
                          <a:cs typeface="Arial"/>
                        </a:rPr>
                        <a:t>S5</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l"/>
                      <a:r>
                        <a:rPr sz="1800" b="0">
                          <a:solidFill>
                            <a:srgbClr val="202124"/>
                          </a:solidFill>
                          <a:latin typeface="Arial"/>
                          <a:ea typeface="Arial"/>
                          <a:cs typeface="Arial"/>
                        </a:rPr>
                        <a:t>Quelle action éditoriale tester ?</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l"/>
                      <a:r>
                        <a:rPr sz="1800" b="0">
                          <a:solidFill>
                            <a:srgbClr val="202124"/>
                          </a:solidFill>
                          <a:latin typeface="Arial"/>
                          <a:ea typeface="Arial"/>
                          <a:cs typeface="Arial"/>
                        </a:rPr>
                        <a:t>Angle encore générique</a:t>
                      </a:r>
                    </a:p>
                  </a:txBody>
                  <a:tcPr marL="91440" marR="91440" marT="45720" marB="45720" anchor="ctr">
                    <a:lnR w="9525">
                      <a:solidFill>
                        <a:srgbClr val="D9DBDF"/>
                      </a:solidFill>
                      <a:prstDash val="solid"/>
                    </a:lnR>
                    <a:lnB w="9525">
                      <a:solidFill>
                        <a:srgbClr val="D9DBDF"/>
                      </a:solidFill>
                      <a:prstDash val="solid"/>
                    </a:lnB>
                    <a:solidFill>
                      <a:srgbClr val="FCEDF6"/>
                    </a:solidFill>
                  </a:tcPr>
                </a:tc>
              </a:tr>
            </a:tbl>
          </a:graphicData>
        </a:graphic>
      </p:graphicFrame>
    </p:spTree>
    <p:extLst>
      <p:ext uri="{BB962C8B-B14F-4D97-AF65-F5344CB8AC3E}">
        <p14:creationId xmlns:p14="http://schemas.microsoft.com/office/powerpoint/2010/main" val="4427346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AC76E5-2BB7-4F58-BFCF-4C3E0C11289B}"/>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Protocole des vingt essais</a:t>
            </a:r>
          </a:p>
        </p:txBody>
      </p:sp>
      <p:sp>
        <p:nvSpPr>
          <p:cNvPr id="2" name="">
            <a:extLst xmlns:a="http://schemas.openxmlformats.org/drawingml/2006/main">
              <a:ext uri="{FF2B5EF4-FFF2-40B4-BE49-F238E27FC236}">
                <a16:creationId xmlns:a16="http://schemas.microsoft.com/office/drawing/2014/main" id="{B24A493B-4A83-46D2-9B1D-0A11A04B7CFE}"/>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Cinq scénarios, deux configurations et deux répétitions</a:t>
            </a:r>
          </a:p>
        </p:txBody>
      </p:sp>
      <p:sp>
        <p:nvSpPr>
          <p:cNvPr id="3" name="">
            <a:extLst xmlns:a="http://schemas.openxmlformats.org/drawingml/2006/main">
              <a:ext uri="{FF2B5EF4-FFF2-40B4-BE49-F238E27FC236}">
                <a16:creationId xmlns:a16="http://schemas.microsoft.com/office/drawing/2014/main" id="{D6ED818F-5AE0-4D0A-A4DF-5D8DDFC91001}"/>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EC21BBDA-AEDF-4960-A8AB-0A3BFE59ECF6}"/>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BC4908B7-AEFA-4C51-86D4-7FD39533A71C}"/>
              </a:ext>
            </a:extLst>
          </p:cNvPr>
          <p:cNvGraphicFramePr/>
          <p:nvPr/>
        </p:nvGraphicFramePr>
        <p:xfrm>
          <a:off xmlns:a="http://schemas.openxmlformats.org/drawingml/2006/main" x="533400" y="1514475"/>
          <a:ext xmlns:a="http://schemas.openxmlformats.org/drawingml/2006/main" cx="11125200" cy="3429000"/>
        </p:xfrm>
        <a:graphic xmlns:a="http://schemas.openxmlformats.org/drawingml/2006/main">
          <a:graphicData uri="http://schemas.openxmlformats.org/drawingml/2006/table">
            <a:tbl>
              <a:tblPr firstRow="0" bandRow="0"/>
              <a:tblGrid>
                <a:gridCol w="4381500"/>
                <a:gridCol w="3371850"/>
                <a:gridCol w="3371850"/>
              </a:tblGrid>
              <a:tr h="571500">
                <a:tc>
                  <a:txBody>
                    <a:bodyPr wrap="square" lIns="133350" tIns="95250" rIns="133350" bIns="95250">
                      <a:noAutofit/>
                    </a:bodyPr>
                    <a:lstStyle/>
                    <a:p>
                      <a:pPr algn="l"/>
                      <a:r>
                        <a:rPr sz="1875" b="1">
                          <a:solidFill>
                            <a:srgbClr val="202124"/>
                          </a:solidFill>
                          <a:latin typeface="Arial"/>
                          <a:ea typeface="Arial"/>
                          <a:cs typeface="Arial"/>
                        </a:rPr>
                        <a:t>Paramètre</a:t>
                      </a:r>
                    </a:p>
                  </a:txBody>
                  <a:tcPr marL="91440" marR="91440" marT="45720" marB="45720" anchor="ctr">
                    <a:lnL w="9525">
                      <a:solidFill>
                        <a:srgbClr val="D9DBDF"/>
                      </a:solidFill>
                      <a:prstDash val="solid"/>
                    </a:lnL>
                    <a:lnR w="9525">
                      <a:solidFill>
                        <a:srgbClr val="D9DBDF"/>
                      </a:solidFill>
                      <a:prstDash val="solid"/>
                    </a:lnR>
                    <a:lnT w="9525">
                      <a:solidFill>
                        <a:srgbClr val="D9DBDF"/>
                      </a:solidFill>
                      <a:prstDash val="solid"/>
                    </a:lnT>
                    <a:lnB w="9525">
                      <a:solidFill>
                        <a:srgbClr val="D9DBDF"/>
                      </a:solidFill>
                      <a:prstDash val="solid"/>
                    </a:lnB>
                    <a:solidFill>
                      <a:srgbClr val="B4AFF0"/>
                    </a:solidFill>
                  </a:tcPr>
                </a:tc>
                <a:tc>
                  <a:txBody>
                    <a:bodyPr wrap="square" lIns="133350" tIns="95250" rIns="133350" bIns="95250">
                      <a:noAutofit/>
                    </a:bodyPr>
                    <a:lstStyle/>
                    <a:p>
                      <a:pPr algn="ctr"/>
                      <a:r>
                        <a:rPr sz="1875" b="1">
                          <a:solidFill>
                            <a:srgbClr val="202124"/>
                          </a:solidFill>
                          <a:latin typeface="Arial"/>
                          <a:ea typeface="Arial"/>
                          <a:cs typeface="Arial"/>
                        </a:rPr>
                        <a:t>T0</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4CD91"/>
                    </a:solidFill>
                  </a:tcPr>
                </a:tc>
                <a:tc>
                  <a:txBody>
                    <a:bodyPr wrap="square" lIns="133350" tIns="95250" rIns="133350" bIns="95250">
                      <a:noAutofit/>
                    </a:bodyPr>
                    <a:lstStyle/>
                    <a:p>
                      <a:pPr algn="ctr"/>
                      <a:r>
                        <a:rPr sz="1875" b="1">
                          <a:solidFill>
                            <a:srgbClr val="202124"/>
                          </a:solidFill>
                          <a:latin typeface="Arial"/>
                          <a:ea typeface="Arial"/>
                          <a:cs typeface="Arial"/>
                        </a:rPr>
                        <a:t>T04</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1C8E2"/>
                    </a:solidFill>
                  </a:tcPr>
                </a:tc>
              </a:tr>
              <a:tr h="571500">
                <a:tc>
                  <a:txBody>
                    <a:bodyPr wrap="square" lIns="133350" tIns="95250" rIns="133350" bIns="95250">
                      <a:noAutofit/>
                    </a:bodyPr>
                    <a:lstStyle/>
                    <a:p>
                      <a:pPr algn="l"/>
                      <a:r>
                        <a:rPr sz="1875" b="0">
                          <a:solidFill>
                            <a:srgbClr val="202124"/>
                          </a:solidFill>
                          <a:latin typeface="Arial"/>
                          <a:ea typeface="Arial"/>
                          <a:cs typeface="Arial"/>
                        </a:rPr>
                        <a:t>Modèle</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ctr"/>
                      <a:r>
                        <a:rPr sz="1875" b="0">
                          <a:solidFill>
                            <a:srgbClr val="202124"/>
                          </a:solidFill>
                          <a:latin typeface="Arial"/>
                          <a:ea typeface="Arial"/>
                          <a:cs typeface="Arial"/>
                        </a:rPr>
                        <a:t>Qwen3 4B</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ctr"/>
                      <a:r>
                        <a:rPr sz="1875" b="0">
                          <a:solidFill>
                            <a:srgbClr val="202124"/>
                          </a:solidFill>
                          <a:latin typeface="Arial"/>
                          <a:ea typeface="Arial"/>
                          <a:cs typeface="Arial"/>
                        </a:rPr>
                        <a:t>Qwen3 4B</a:t>
                      </a:r>
                    </a:p>
                  </a:txBody>
                  <a:tcPr marL="91440" marR="91440" marT="45720" marB="45720" anchor="ctr">
                    <a:lnR w="9525">
                      <a:solidFill>
                        <a:srgbClr val="D9DBDF"/>
                      </a:solidFill>
                      <a:prstDash val="solid"/>
                    </a:lnR>
                    <a:lnB w="9525">
                      <a:solidFill>
                        <a:srgbClr val="D9DBDF"/>
                      </a:solidFill>
                      <a:prstDash val="solid"/>
                    </a:lnB>
                    <a:solidFill>
                      <a:srgbClr val="FCEDF6"/>
                    </a:solidFill>
                  </a:tcPr>
                </a:tc>
              </a:tr>
              <a:tr h="571500">
                <a:tc>
                  <a:txBody>
                    <a:bodyPr wrap="square" lIns="133350" tIns="95250" rIns="133350" bIns="95250">
                      <a:noAutofit/>
                    </a:bodyPr>
                    <a:lstStyle/>
                    <a:p>
                      <a:pPr algn="l"/>
                      <a:r>
                        <a:rPr sz="1875" b="0">
                          <a:solidFill>
                            <a:srgbClr val="202124"/>
                          </a:solidFill>
                          <a:latin typeface="Arial"/>
                          <a:ea typeface="Arial"/>
                          <a:cs typeface="Arial"/>
                        </a:rPr>
                        <a:t>Température</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ctr"/>
                      <a:r>
                        <a:rPr sz="1875" b="0">
                          <a:solidFill>
                            <a:srgbClr val="202124"/>
                          </a:solidFill>
                          <a:latin typeface="Arial"/>
                          <a:ea typeface="Arial"/>
                          <a:cs typeface="Arial"/>
                        </a:rPr>
                        <a:t>0</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ctr"/>
                      <a:r>
                        <a:rPr sz="1875" b="0">
                          <a:solidFill>
                            <a:srgbClr val="202124"/>
                          </a:solidFill>
                          <a:latin typeface="Arial"/>
                          <a:ea typeface="Arial"/>
                          <a:cs typeface="Arial"/>
                        </a:rPr>
                        <a:t>0,4</a:t>
                      </a:r>
                    </a:p>
                  </a:txBody>
                  <a:tcPr marL="91440" marR="91440" marT="45720" marB="45720" anchor="ctr">
                    <a:lnR w="9525">
                      <a:solidFill>
                        <a:srgbClr val="D9DBDF"/>
                      </a:solidFill>
                      <a:prstDash val="solid"/>
                    </a:lnR>
                    <a:lnB w="9525">
                      <a:solidFill>
                        <a:srgbClr val="D9DBDF"/>
                      </a:solidFill>
                      <a:prstDash val="solid"/>
                    </a:lnB>
                    <a:solidFill>
                      <a:srgbClr val="FCEDF6"/>
                    </a:solidFill>
                  </a:tcPr>
                </a:tc>
              </a:tr>
              <a:tr h="571500">
                <a:tc>
                  <a:txBody>
                    <a:bodyPr wrap="square" lIns="133350" tIns="95250" rIns="133350" bIns="95250">
                      <a:noAutofit/>
                    </a:bodyPr>
                    <a:lstStyle/>
                    <a:p>
                      <a:pPr algn="l"/>
                      <a:r>
                        <a:rPr sz="1875" b="0">
                          <a:solidFill>
                            <a:srgbClr val="202124"/>
                          </a:solidFill>
                          <a:latin typeface="Arial"/>
                          <a:ea typeface="Arial"/>
                          <a:cs typeface="Arial"/>
                        </a:rPr>
                        <a:t>Essais par configuration</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ctr"/>
                      <a:r>
                        <a:rPr sz="1875" b="0">
                          <a:solidFill>
                            <a:srgbClr val="202124"/>
                          </a:solidFill>
                          <a:latin typeface="Arial"/>
                          <a:ea typeface="Arial"/>
                          <a:cs typeface="Arial"/>
                        </a:rPr>
                        <a:t>10</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ctr"/>
                      <a:r>
                        <a:rPr sz="1875" b="0">
                          <a:solidFill>
                            <a:srgbClr val="202124"/>
                          </a:solidFill>
                          <a:latin typeface="Arial"/>
                          <a:ea typeface="Arial"/>
                          <a:cs typeface="Arial"/>
                        </a:rPr>
                        <a:t>10</a:t>
                      </a:r>
                    </a:p>
                  </a:txBody>
                  <a:tcPr marL="91440" marR="91440" marT="45720" marB="45720" anchor="ctr">
                    <a:lnR w="9525">
                      <a:solidFill>
                        <a:srgbClr val="D9DBDF"/>
                      </a:solidFill>
                      <a:prstDash val="solid"/>
                    </a:lnR>
                    <a:lnB w="9525">
                      <a:solidFill>
                        <a:srgbClr val="D9DBDF"/>
                      </a:solidFill>
                      <a:prstDash val="solid"/>
                    </a:lnB>
                    <a:solidFill>
                      <a:srgbClr val="FCEDF6"/>
                    </a:solidFill>
                  </a:tcPr>
                </a:tc>
              </a:tr>
              <a:tr h="571500">
                <a:tc>
                  <a:txBody>
                    <a:bodyPr wrap="square" lIns="133350" tIns="95250" rIns="133350" bIns="95250">
                      <a:noAutofit/>
                    </a:bodyPr>
                    <a:lstStyle/>
                    <a:p>
                      <a:pPr algn="l"/>
                      <a:r>
                        <a:rPr sz="1875" b="0">
                          <a:solidFill>
                            <a:srgbClr val="202124"/>
                          </a:solidFill>
                          <a:latin typeface="Arial"/>
                          <a:ea typeface="Arial"/>
                          <a:cs typeface="Arial"/>
                        </a:rPr>
                        <a:t>Graines par répétition</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ctr"/>
                      <a:r>
                        <a:rPr sz="1875" b="0">
                          <a:solidFill>
                            <a:srgbClr val="202124"/>
                          </a:solidFill>
                          <a:latin typeface="Arial"/>
                          <a:ea typeface="Arial"/>
                          <a:cs typeface="Arial"/>
                        </a:rPr>
                        <a:t>4101 puis 4102</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ctr"/>
                      <a:r>
                        <a:rPr sz="1875" b="0">
                          <a:solidFill>
                            <a:srgbClr val="202124"/>
                          </a:solidFill>
                          <a:latin typeface="Arial"/>
                          <a:ea typeface="Arial"/>
                          <a:cs typeface="Arial"/>
                        </a:rPr>
                        <a:t>4101 puis 4102</a:t>
                      </a:r>
                    </a:p>
                  </a:txBody>
                  <a:tcPr marL="91440" marR="91440" marT="45720" marB="45720" anchor="ctr">
                    <a:lnR w="9525">
                      <a:solidFill>
                        <a:srgbClr val="D9DBDF"/>
                      </a:solidFill>
                      <a:prstDash val="solid"/>
                    </a:lnR>
                    <a:lnB w="9525">
                      <a:solidFill>
                        <a:srgbClr val="D9DBDF"/>
                      </a:solidFill>
                      <a:prstDash val="solid"/>
                    </a:lnB>
                    <a:solidFill>
                      <a:srgbClr val="FCEDF6"/>
                    </a:solidFill>
                  </a:tcPr>
                </a:tc>
              </a:tr>
              <a:tr h="571500">
                <a:tc>
                  <a:txBody>
                    <a:bodyPr wrap="square" lIns="133350" tIns="95250" rIns="133350" bIns="95250">
                      <a:noAutofit/>
                    </a:bodyPr>
                    <a:lstStyle/>
                    <a:p>
                      <a:pPr algn="l"/>
                      <a:r>
                        <a:rPr sz="1875" b="0">
                          <a:solidFill>
                            <a:srgbClr val="202124"/>
                          </a:solidFill>
                          <a:latin typeface="Arial"/>
                          <a:ea typeface="Arial"/>
                          <a:cs typeface="Arial"/>
                        </a:rPr>
                        <a:t>Contexte et limite de sortie</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ctr"/>
                      <a:r>
                        <a:rPr sz="1875" b="0">
                          <a:solidFill>
                            <a:srgbClr val="202124"/>
                          </a:solidFill>
                          <a:latin typeface="Arial"/>
                          <a:ea typeface="Arial"/>
                          <a:cs typeface="Arial"/>
                        </a:rPr>
                        <a:t>4 096 et 512 jetons</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ctr"/>
                      <a:r>
                        <a:rPr sz="1875" b="0">
                          <a:solidFill>
                            <a:srgbClr val="202124"/>
                          </a:solidFill>
                          <a:latin typeface="Arial"/>
                          <a:ea typeface="Arial"/>
                          <a:cs typeface="Arial"/>
                        </a:rPr>
                        <a:t>4 096 et 512 jetons</a:t>
                      </a:r>
                    </a:p>
                  </a:txBody>
                  <a:tcPr marL="91440" marR="91440" marT="45720" marB="45720" anchor="ctr">
                    <a:lnR w="9525">
                      <a:solidFill>
                        <a:srgbClr val="D9DBDF"/>
                      </a:solidFill>
                      <a:prstDash val="solid"/>
                    </a:lnR>
                    <a:lnB w="9525">
                      <a:solidFill>
                        <a:srgbClr val="D9DBDF"/>
                      </a:solidFill>
                      <a:prstDash val="solid"/>
                    </a:lnB>
                    <a:solidFill>
                      <a:srgbClr val="FCEDF6"/>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B158B2D5-5C4F-4CF1-B6AD-6D5BEF0F6043}"/>
              </a:ext>
            </a:extLst>
          </p:cNvPr>
          <p:cNvGraphicFramePr/>
          <p:nvPr/>
        </p:nvGraphicFramePr>
        <p:xfrm>
          <a:off xmlns:a="http://schemas.openxmlformats.org/drawingml/2006/main" x="533400" y="5191125"/>
          <a:ext xmlns:a="http://schemas.openxmlformats.org/drawingml/2006/main" cx="11125200" cy="904875"/>
        </p:xfrm>
        <a:graphic xmlns:a="http://schemas.openxmlformats.org/drawingml/2006/main">
          <a:graphicData uri="http://schemas.openxmlformats.org/drawingml/2006/table">
            <a:tbl>
              <a:tblPr/>
              <a:tblGrid>
                <a:gridCol w="11125200"/>
              </a:tblGrid>
              <a:tr h="333375">
                <a:tc>
                  <a:txBody>
                    <a:bodyPr lIns="133350" tIns="66675" rIns="133350" bIns="66675"/>
                    <a:lstStyle/>
                    <a:p>
                      <a:r>
                        <a:rPr sz="1650" b="1">
                          <a:solidFill>
                            <a:srgbClr val="202124"/>
                          </a:solidFill>
                          <a:latin typeface="Arial"/>
                          <a:ea typeface="Arial"/>
                          <a:cs typeface="Arial"/>
                        </a:rPr>
                        <a:t>Portée de la comparaison</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r h="571500">
                <a:tc>
                  <a:txBody>
                    <a:bodyPr lIns="133350" tIns="66675" rIns="133350" bIns="66675"/>
                    <a:lstStyle/>
                    <a:p>
                      <a:r>
                        <a:rPr sz="1800" b="0">
                          <a:solidFill>
                            <a:srgbClr val="202124"/>
                          </a:solidFill>
                          <a:latin typeface="Arial"/>
                          <a:ea typeface="Arial"/>
                          <a:cs typeface="Arial"/>
                        </a:rPr>
                        <a:t>Deux températures du même modèle. Textes fortement contraints et ordre de passage à examiner.</a:t>
                      </a:r>
                    </a:p>
                  </a:txBody>
                  <a:tcPr marL="91440" marR="91440" marT="45720" marB="45720" anchor="ctr">
                    <a:lnL w="5715">
                      <a:solidFill>
                        <a:srgbClr val="D9DBDF"/>
                      </a:solidFill>
                    </a:lnL>
                    <a:lnR w="5715">
                      <a:solidFill>
                        <a:srgbClr val="D9DBDF"/>
                      </a:solidFill>
                    </a:lnR>
                    <a:lnB w="5715">
                      <a:solidFill>
                        <a:srgbClr val="D9DBDF"/>
                      </a:solidFill>
                    </a:lnB>
                    <a:solidFill>
                      <a:srgbClr val="FCEDF6"/>
                    </a:solidFill>
                  </a:tcPr>
                </a:tc>
              </a:tr>
            </a:tbl>
          </a:graphicData>
        </a:graphic>
      </p:graphicFrame>
    </p:spTree>
    <p:extLst>
      <p:ext uri="{BB962C8B-B14F-4D97-AF65-F5344CB8AC3E}">
        <p14:creationId xmlns:p14="http://schemas.microsoft.com/office/powerpoint/2010/main" val="15207933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9C97DE-9B78-492B-9303-42FA554B089C}"/>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Durées de la répétition 1</a:t>
            </a:r>
          </a:p>
        </p:txBody>
      </p:sp>
      <p:sp>
        <p:nvSpPr>
          <p:cNvPr id="2" name="">
            <a:extLst xmlns:a="http://schemas.openxmlformats.org/drawingml/2006/main">
              <a:ext uri="{FF2B5EF4-FFF2-40B4-BE49-F238E27FC236}">
                <a16:creationId xmlns:a16="http://schemas.microsoft.com/office/drawing/2014/main" id="{E634EDD8-AD5D-4DF2-BA29-9370DE97C690}"/>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Durée du workflow complet en secondes</a:t>
            </a:r>
          </a:p>
        </p:txBody>
      </p:sp>
      <p:sp>
        <p:nvSpPr>
          <p:cNvPr id="3" name="">
            <a:extLst xmlns:a="http://schemas.openxmlformats.org/drawingml/2006/main">
              <a:ext uri="{FF2B5EF4-FFF2-40B4-BE49-F238E27FC236}">
                <a16:creationId xmlns:a16="http://schemas.microsoft.com/office/drawing/2014/main" id="{5BAF12D9-7825-4D0C-99C1-DD770D3099C9}"/>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568283F9-A4B4-4CDF-8495-D9DD5146A9D9}"/>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D5887ABB-08FC-4E96-9409-5F052446BC14}"/>
              </a:ext>
            </a:extLst>
          </p:cNvPr>
          <p:cNvGraphicFramePr/>
          <p:nvPr/>
        </p:nvGraphicFramePr>
        <p:xfrm>
          <a:off xmlns:a="http://schemas.openxmlformats.org/drawingml/2006/main" x="533400" y="1304925"/>
          <a:ext xmlns:a="http://schemas.openxmlformats.org/drawingml/2006/main" cx="11125200" cy="381000"/>
        </p:xfrm>
        <a:graphic xmlns:a="http://schemas.openxmlformats.org/drawingml/2006/main">
          <a:graphicData uri="http://schemas.openxmlformats.org/drawingml/2006/table">
            <a:tbl>
              <a:tblPr/>
              <a:tblGrid>
                <a:gridCol w="11125200"/>
              </a:tblGrid>
              <a:tr h="381000">
                <a:tc>
                  <a:txBody>
                    <a:bodyPr lIns="133350" tIns="57150" rIns="114300" bIns="47625"/>
                    <a:lstStyle/>
                    <a:p>
                      <a:r>
                        <a:rPr sz="1725" b="1">
                          <a:solidFill>
                            <a:srgbClr val="202124"/>
                          </a:solidFill>
                          <a:latin typeface="Arial"/>
                          <a:ea typeface="Arial"/>
                          <a:cs typeface="Arial"/>
                        </a:rPr>
                        <a:t>T0 température 0 et T04 température 0,4</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bl>
          </a:graphicData>
        </a:graphic>
      </p:graphicFrame>
      <p:graphicFrame>
        <p:nvGraphicFramePr>
          <p:cNvPr id="6" name="Chart">
            <a:extLst xmlns:a="http://schemas.openxmlformats.org/drawingml/2006/main">
              <a:ext uri="{FF2B5EF4-FFF2-40B4-BE49-F238E27FC236}">
                <a16:creationId xmlns:a16="http://schemas.microsoft.com/office/drawing/2014/main" id="{99599982-7008-4809-86CF-182E8F6CD679}"/>
              </a:ext>
            </a:extLst>
          </p:cNvPr>
          <p:cNvGraphicFramePr/>
          <p:nvPr/>
        </p:nvGraphicFramePr>
        <p:xfrm>
          <a:off xmlns:a="http://schemas.openxmlformats.org/drawingml/2006/main" x="533400" y="1838325"/>
          <a:ext xmlns:a="http://schemas.openxmlformats.org/drawingml/2006/main" cx="11125200" cy="3381375"/>
        </p:xfrm>
        <a:graphic xmlns:a="http://schemas.openxmlformats.org/drawingml/2006/main">
          <a:graphicData uri="http://schemas.openxmlformats.org/drawingml/2006/chart">
            <c:chart xmlns:r="http://schemas.openxmlformats.org/officeDocument/2006/relationships" xmlns:c="http://schemas.openxmlformats.org/drawingml/2006/chart" r:id="R0698790339bf4081"/>
          </a:graphicData>
        </a:graphic>
      </p:graphicFrame>
      <p:graphicFrame>
        <p:nvGraphicFramePr>
          <p:cNvPr id="7" name="">
            <a:extLst xmlns:a="http://schemas.openxmlformats.org/drawingml/2006/main">
              <a:ext uri="{FF2B5EF4-FFF2-40B4-BE49-F238E27FC236}">
                <a16:creationId xmlns:a16="http://schemas.microsoft.com/office/drawing/2014/main" id="{F1916BC0-FBE5-4F5A-82D6-277245F8188B}"/>
              </a:ext>
            </a:extLst>
          </p:cNvPr>
          <p:cNvGraphicFramePr/>
          <p:nvPr/>
        </p:nvGraphicFramePr>
        <p:xfrm>
          <a:off xmlns:a="http://schemas.openxmlformats.org/drawingml/2006/main" x="533400" y="5429250"/>
          <a:ext xmlns:a="http://schemas.openxmlformats.org/drawingml/2006/main" cx="11125200" cy="904875"/>
        </p:xfrm>
        <a:graphic xmlns:a="http://schemas.openxmlformats.org/drawingml/2006/main">
          <a:graphicData uri="http://schemas.openxmlformats.org/drawingml/2006/table">
            <a:tbl>
              <a:tblPr/>
              <a:tblGrid>
                <a:gridCol w="11125200"/>
              </a:tblGrid>
              <a:tr h="333375">
                <a:tc>
                  <a:txBody>
                    <a:bodyPr lIns="133350" tIns="66675" rIns="133350" bIns="66675"/>
                    <a:lstStyle/>
                    <a:p>
                      <a:r>
                        <a:rPr sz="1650" b="1">
                          <a:solidFill>
                            <a:srgbClr val="202124"/>
                          </a:solidFill>
                          <a:latin typeface="Arial"/>
                          <a:ea typeface="Arial"/>
                          <a:cs typeface="Arial"/>
                        </a:rPr>
                        <a:t>Moyennes sur toute la campagne</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r h="571500">
                <a:tc>
                  <a:txBody>
                    <a:bodyPr lIns="133350" tIns="66675" rIns="133350" bIns="66675"/>
                    <a:lstStyle/>
                    <a:p>
                      <a:r>
                        <a:rPr sz="1800" b="0">
                          <a:solidFill>
                            <a:srgbClr val="202124"/>
                          </a:solidFill>
                          <a:latin typeface="Arial"/>
                          <a:ea typeface="Arial"/>
                          <a:cs typeface="Arial"/>
                        </a:rPr>
                        <a:t>T0 : 109,20 s. T04 : 85,16 s. T04 est plus rapide dans 6 des 10 paires.</a:t>
                      </a:r>
                    </a:p>
                  </a:txBody>
                  <a:tcPr marL="91440" marR="91440" marT="45720" marB="45720" anchor="ctr">
                    <a:lnL w="5715">
                      <a:solidFill>
                        <a:srgbClr val="D9DBDF"/>
                      </a:solidFill>
                    </a:lnL>
                    <a:lnR w="5715">
                      <a:solidFill>
                        <a:srgbClr val="D9DBDF"/>
                      </a:solidFill>
                    </a:lnR>
                    <a:lnB w="5715">
                      <a:solidFill>
                        <a:srgbClr val="D9DBDF"/>
                      </a:solidFill>
                    </a:lnB>
                    <a:solidFill>
                      <a:srgbClr val="FFF4E2"/>
                    </a:solidFill>
                  </a:tcPr>
                </a:tc>
              </a:tr>
            </a:tbl>
          </a:graphicData>
        </a:graphic>
      </p:graphicFrame>
    </p:spTree>
    <p:extLst>
      <p:ext uri="{BB962C8B-B14F-4D97-AF65-F5344CB8AC3E}">
        <p14:creationId xmlns:p14="http://schemas.microsoft.com/office/powerpoint/2010/main" val="1108711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7F544B-319E-4141-8B93-BE67E51704DC}"/>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Durées de la répétition 2</a:t>
            </a:r>
          </a:p>
        </p:txBody>
      </p:sp>
      <p:sp>
        <p:nvSpPr>
          <p:cNvPr id="2" name="">
            <a:extLst xmlns:a="http://schemas.openxmlformats.org/drawingml/2006/main">
              <a:ext uri="{FF2B5EF4-FFF2-40B4-BE49-F238E27FC236}">
                <a16:creationId xmlns:a16="http://schemas.microsoft.com/office/drawing/2014/main" id="{3B333E74-4C80-42D4-913C-1FB217F2D941}"/>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Durée du workflow complet en secondes</a:t>
            </a:r>
          </a:p>
        </p:txBody>
      </p:sp>
      <p:sp>
        <p:nvSpPr>
          <p:cNvPr id="3" name="">
            <a:extLst xmlns:a="http://schemas.openxmlformats.org/drawingml/2006/main">
              <a:ext uri="{FF2B5EF4-FFF2-40B4-BE49-F238E27FC236}">
                <a16:creationId xmlns:a16="http://schemas.microsoft.com/office/drawing/2014/main" id="{ED82AB97-8660-4935-A06D-5DE23E041547}"/>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41FC5BB9-62D8-44BC-BBFC-4C0F841FD05B}"/>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4A6C7150-EC4B-4C35-BA53-866C675A90E5}"/>
              </a:ext>
            </a:extLst>
          </p:cNvPr>
          <p:cNvGraphicFramePr/>
          <p:nvPr/>
        </p:nvGraphicFramePr>
        <p:xfrm>
          <a:off xmlns:a="http://schemas.openxmlformats.org/drawingml/2006/main" x="533400" y="1304925"/>
          <a:ext xmlns:a="http://schemas.openxmlformats.org/drawingml/2006/main" cx="11125200" cy="381000"/>
        </p:xfrm>
        <a:graphic xmlns:a="http://schemas.openxmlformats.org/drawingml/2006/main">
          <a:graphicData uri="http://schemas.openxmlformats.org/drawingml/2006/table">
            <a:tbl>
              <a:tblPr/>
              <a:tblGrid>
                <a:gridCol w="11125200"/>
              </a:tblGrid>
              <a:tr h="381000">
                <a:tc>
                  <a:txBody>
                    <a:bodyPr lIns="133350" tIns="57150" rIns="114300" bIns="47625"/>
                    <a:lstStyle/>
                    <a:p>
                      <a:r>
                        <a:rPr sz="1725" b="1">
                          <a:solidFill>
                            <a:srgbClr val="202124"/>
                          </a:solidFill>
                          <a:latin typeface="Arial"/>
                          <a:ea typeface="Arial"/>
                          <a:cs typeface="Arial"/>
                        </a:rPr>
                        <a:t>T0 température 0 et T04 température 0,4</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bl>
          </a:graphicData>
        </a:graphic>
      </p:graphicFrame>
      <p:graphicFrame>
        <p:nvGraphicFramePr>
          <p:cNvPr id="6" name="Chart">
            <a:extLst xmlns:a="http://schemas.openxmlformats.org/drawingml/2006/main">
              <a:ext uri="{FF2B5EF4-FFF2-40B4-BE49-F238E27FC236}">
                <a16:creationId xmlns:a16="http://schemas.microsoft.com/office/drawing/2014/main" id="{F1A4EB32-6BC4-47B6-8A8E-D0AFC30993F0}"/>
              </a:ext>
            </a:extLst>
          </p:cNvPr>
          <p:cNvGraphicFramePr/>
          <p:nvPr/>
        </p:nvGraphicFramePr>
        <p:xfrm>
          <a:off xmlns:a="http://schemas.openxmlformats.org/drawingml/2006/main" x="533400" y="1838325"/>
          <a:ext xmlns:a="http://schemas.openxmlformats.org/drawingml/2006/main" cx="11125200" cy="3381375"/>
        </p:xfrm>
        <a:graphic xmlns:a="http://schemas.openxmlformats.org/drawingml/2006/main">
          <a:graphicData uri="http://schemas.openxmlformats.org/drawingml/2006/chart">
            <c:chart xmlns:r="http://schemas.openxmlformats.org/officeDocument/2006/relationships" xmlns:c="http://schemas.openxmlformats.org/drawingml/2006/chart" r:id="R407fc94aa99d447a"/>
          </a:graphicData>
        </a:graphic>
      </p:graphicFrame>
      <p:graphicFrame>
        <p:nvGraphicFramePr>
          <p:cNvPr id="7" name="">
            <a:extLst xmlns:a="http://schemas.openxmlformats.org/drawingml/2006/main">
              <a:ext uri="{FF2B5EF4-FFF2-40B4-BE49-F238E27FC236}">
                <a16:creationId xmlns:a16="http://schemas.microsoft.com/office/drawing/2014/main" id="{ABEB5690-B21C-456E-BA60-091FC75CCF01}"/>
              </a:ext>
            </a:extLst>
          </p:cNvPr>
          <p:cNvGraphicFramePr/>
          <p:nvPr/>
        </p:nvGraphicFramePr>
        <p:xfrm>
          <a:off xmlns:a="http://schemas.openxmlformats.org/drawingml/2006/main" x="533400" y="5429250"/>
          <a:ext xmlns:a="http://schemas.openxmlformats.org/drawingml/2006/main" cx="11125200" cy="904875"/>
        </p:xfrm>
        <a:graphic xmlns:a="http://schemas.openxmlformats.org/drawingml/2006/main">
          <a:graphicData uri="http://schemas.openxmlformats.org/drawingml/2006/table">
            <a:tbl>
              <a:tblPr/>
              <a:tblGrid>
                <a:gridCol w="11125200"/>
              </a:tblGrid>
              <a:tr h="333375">
                <a:tc>
                  <a:txBody>
                    <a:bodyPr lIns="133350" tIns="66675" rIns="133350" bIns="66675"/>
                    <a:lstStyle/>
                    <a:p>
                      <a:r>
                        <a:rPr sz="1650" b="1">
                          <a:solidFill>
                            <a:srgbClr val="202124"/>
                          </a:solidFill>
                          <a:latin typeface="Arial"/>
                          <a:ea typeface="Arial"/>
                          <a:cs typeface="Arial"/>
                        </a:rPr>
                        <a:t>Ordre de passage à examiner</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r h="571500">
                <a:tc>
                  <a:txBody>
                    <a:bodyPr lIns="133350" tIns="66675" rIns="133350" bIns="66675"/>
                    <a:lstStyle/>
                    <a:p>
                      <a:r>
                        <a:rPr sz="1800" b="0">
                          <a:solidFill>
                            <a:srgbClr val="202124"/>
                          </a:solidFill>
                          <a:latin typeface="Arial"/>
                          <a:ea typeface="Arial"/>
                          <a:cs typeface="Arial"/>
                        </a:rPr>
                        <a:t>Second essai plus rapide dans 9 paires sur 10. Aucune différence causale démontrée.</a:t>
                      </a:r>
                    </a:p>
                  </a:txBody>
                  <a:tcPr marL="91440" marR="91440" marT="45720" marB="45720" anchor="ctr">
                    <a:lnL w="5715">
                      <a:solidFill>
                        <a:srgbClr val="D9DBDF"/>
                      </a:solidFill>
                    </a:lnL>
                    <a:lnR w="5715">
                      <a:solidFill>
                        <a:srgbClr val="D9DBDF"/>
                      </a:solidFill>
                    </a:lnR>
                    <a:lnB w="5715">
                      <a:solidFill>
                        <a:srgbClr val="D9DBDF"/>
                      </a:solidFill>
                    </a:lnB>
                    <a:solidFill>
                      <a:srgbClr val="FFF4E2"/>
                    </a:solidFill>
                  </a:tcPr>
                </a:tc>
              </a:tr>
            </a:tbl>
          </a:graphicData>
        </a:graphic>
      </p:graphicFrame>
    </p:spTree>
    <p:extLst>
      <p:ext uri="{BB962C8B-B14F-4D97-AF65-F5344CB8AC3E}">
        <p14:creationId xmlns:p14="http://schemas.microsoft.com/office/powerpoint/2010/main" val="204869383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350714-2C91-4FC8-A24D-F9D5D0CB71A6}"/>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Qualité des vingt résultats</a:t>
            </a:r>
          </a:p>
        </p:txBody>
      </p:sp>
      <p:sp>
        <p:nvSpPr>
          <p:cNvPr id="2" name="">
            <a:extLst xmlns:a="http://schemas.openxmlformats.org/drawingml/2006/main">
              <a:ext uri="{FF2B5EF4-FFF2-40B4-BE49-F238E27FC236}">
                <a16:creationId xmlns:a16="http://schemas.microsoft.com/office/drawing/2014/main" id="{83431796-85A3-45ED-B71D-A95DFDF4C0B2}"/>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Notes proposées avec assistance IA, puis revues et saisies par Claudia Florez</a:t>
            </a:r>
          </a:p>
        </p:txBody>
      </p:sp>
      <p:sp>
        <p:nvSpPr>
          <p:cNvPr id="3" name="">
            <a:extLst xmlns:a="http://schemas.openxmlformats.org/drawingml/2006/main">
              <a:ext uri="{FF2B5EF4-FFF2-40B4-BE49-F238E27FC236}">
                <a16:creationId xmlns:a16="http://schemas.microsoft.com/office/drawing/2014/main" id="{49D17005-5B53-4ED9-A1FC-2FE6BB820C2A}"/>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E48FC544-E902-4777-87D0-9C8E8BA0355C}"/>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758ADD1F-487B-470B-9FAB-0CA23615F8E2}"/>
              </a:ext>
            </a:extLst>
          </p:cNvPr>
          <p:cNvGraphicFramePr/>
          <p:nvPr/>
        </p:nvGraphicFramePr>
        <p:xfrm>
          <a:off xmlns:a="http://schemas.openxmlformats.org/drawingml/2006/main" x="533400" y="1514475"/>
          <a:ext xmlns:a="http://schemas.openxmlformats.org/drawingml/2006/main" cx="11125200" cy="3333750"/>
        </p:xfrm>
        <a:graphic xmlns:a="http://schemas.openxmlformats.org/drawingml/2006/main">
          <a:graphicData uri="http://schemas.openxmlformats.org/drawingml/2006/table">
            <a:tbl>
              <a:tblPr firstRow="0" bandRow="0"/>
              <a:tblGrid>
                <a:gridCol w="1619250"/>
                <a:gridCol w="2095500"/>
                <a:gridCol w="2095500"/>
                <a:gridCol w="5314950"/>
              </a:tblGrid>
              <a:tr h="555625">
                <a:tc>
                  <a:txBody>
                    <a:bodyPr wrap="square" lIns="133350" tIns="95250" rIns="133350" bIns="95250">
                      <a:noAutofit/>
                    </a:bodyPr>
                    <a:lstStyle/>
                    <a:p>
                      <a:pPr algn="l"/>
                      <a:r>
                        <a:rPr sz="1875" b="1">
                          <a:solidFill>
                            <a:srgbClr val="202124"/>
                          </a:solidFill>
                          <a:latin typeface="Arial"/>
                          <a:ea typeface="Arial"/>
                          <a:cs typeface="Arial"/>
                        </a:rPr>
                        <a:t>Scénario</a:t>
                      </a:r>
                    </a:p>
                  </a:txBody>
                  <a:tcPr marL="91440" marR="91440" marT="45720" marB="45720" anchor="ctr">
                    <a:lnL w="9525">
                      <a:solidFill>
                        <a:srgbClr val="D9DBDF"/>
                      </a:solidFill>
                      <a:prstDash val="solid"/>
                    </a:lnL>
                    <a:lnR w="9525">
                      <a:solidFill>
                        <a:srgbClr val="D9DBDF"/>
                      </a:solidFill>
                      <a:prstDash val="solid"/>
                    </a:lnR>
                    <a:lnT w="9525">
                      <a:solidFill>
                        <a:srgbClr val="D9DBDF"/>
                      </a:solidFill>
                      <a:prstDash val="solid"/>
                    </a:lnT>
                    <a:lnB w="9525">
                      <a:solidFill>
                        <a:srgbClr val="D9DBDF"/>
                      </a:solidFill>
                      <a:prstDash val="solid"/>
                    </a:lnB>
                    <a:solidFill>
                      <a:srgbClr val="B4AFF0"/>
                    </a:solidFill>
                  </a:tcPr>
                </a:tc>
                <a:tc>
                  <a:txBody>
                    <a:bodyPr wrap="square" lIns="133350" tIns="95250" rIns="133350" bIns="95250">
                      <a:noAutofit/>
                    </a:bodyPr>
                    <a:lstStyle/>
                    <a:p>
                      <a:pPr algn="ctr"/>
                      <a:r>
                        <a:rPr sz="1875" b="1">
                          <a:solidFill>
                            <a:srgbClr val="202124"/>
                          </a:solidFill>
                          <a:latin typeface="Arial"/>
                          <a:ea typeface="Arial"/>
                          <a:cs typeface="Arial"/>
                        </a:rPr>
                        <a:t>T0 sur 8</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4CD91"/>
                    </a:solidFill>
                  </a:tcPr>
                </a:tc>
                <a:tc>
                  <a:txBody>
                    <a:bodyPr wrap="square" lIns="133350" tIns="95250" rIns="133350" bIns="95250">
                      <a:noAutofit/>
                    </a:bodyPr>
                    <a:lstStyle/>
                    <a:p>
                      <a:pPr algn="ctr"/>
                      <a:r>
                        <a:rPr sz="1875" b="1">
                          <a:solidFill>
                            <a:srgbClr val="202124"/>
                          </a:solidFill>
                          <a:latin typeface="Arial"/>
                          <a:ea typeface="Arial"/>
                          <a:cs typeface="Arial"/>
                        </a:rPr>
                        <a:t>T04 sur 8</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1C8E2"/>
                    </a:solidFill>
                  </a:tcPr>
                </a:tc>
                <a:tc>
                  <a:txBody>
                    <a:bodyPr wrap="square" lIns="133350" tIns="95250" rIns="133350" bIns="95250">
                      <a:noAutofit/>
                    </a:bodyPr>
                    <a:lstStyle/>
                    <a:p>
                      <a:pPr algn="l"/>
                      <a:r>
                        <a:rPr sz="1875" b="1">
                          <a:solidFill>
                            <a:srgbClr val="202124"/>
                          </a:solidFill>
                          <a:latin typeface="Arial"/>
                          <a:ea typeface="Arial"/>
                          <a:cs typeface="Arial"/>
                        </a:rPr>
                        <a:t>Lecture</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D6C6ED"/>
                    </a:solidFill>
                  </a:tcPr>
                </a:tc>
              </a:tr>
              <a:tr h="555625">
                <a:tc>
                  <a:txBody>
                    <a:bodyPr wrap="square" lIns="133350" tIns="95250" rIns="133350" bIns="95250">
                      <a:noAutofit/>
                    </a:bodyPr>
                    <a:lstStyle/>
                    <a:p>
                      <a:pPr algn="l"/>
                      <a:r>
                        <a:rPr sz="1875" b="0">
                          <a:solidFill>
                            <a:srgbClr val="202124"/>
                          </a:solidFill>
                          <a:latin typeface="Arial"/>
                          <a:ea typeface="Arial"/>
                          <a:cs typeface="Arial"/>
                        </a:rPr>
                        <a:t>S1</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ctr"/>
                      <a:r>
                        <a:rPr sz="1875" b="0">
                          <a:solidFill>
                            <a:srgbClr val="202124"/>
                          </a:solidFill>
                          <a:latin typeface="Arial"/>
                          <a:ea typeface="Arial"/>
                          <a:cs typeface="Arial"/>
                        </a:rPr>
                        <a:t>8</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ctr"/>
                      <a:r>
                        <a:rPr sz="1875" b="0">
                          <a:solidFill>
                            <a:srgbClr val="202124"/>
                          </a:solidFill>
                          <a:latin typeface="Arial"/>
                          <a:ea typeface="Arial"/>
                          <a:cs typeface="Arial"/>
                        </a:rPr>
                        <a:t>8</a:t>
                      </a:r>
                    </a:p>
                  </a:txBody>
                  <a:tcPr marL="91440" marR="91440" marT="45720" marB="45720" anchor="ctr">
                    <a:lnR w="9525">
                      <a:solidFill>
                        <a:srgbClr val="D9DBDF"/>
                      </a:solidFill>
                      <a:prstDash val="solid"/>
                    </a:lnR>
                    <a:lnB w="9525">
                      <a:solidFill>
                        <a:srgbClr val="D9DBDF"/>
                      </a:solidFill>
                      <a:prstDash val="solid"/>
                    </a:lnB>
                    <a:solidFill>
                      <a:srgbClr val="FCEDF6"/>
                    </a:solidFill>
                  </a:tcPr>
                </a:tc>
                <a:tc>
                  <a:txBody>
                    <a:bodyPr wrap="square" lIns="133350" tIns="95250" rIns="133350" bIns="95250">
                      <a:noAutofit/>
                    </a:bodyPr>
                    <a:lstStyle/>
                    <a:p>
                      <a:pPr algn="l"/>
                      <a:r>
                        <a:rPr sz="1875" b="0">
                          <a:solidFill>
                            <a:srgbClr val="202124"/>
                          </a:solidFill>
                          <a:latin typeface="Arial"/>
                          <a:ea typeface="Arial"/>
                          <a:cs typeface="Arial"/>
                        </a:rPr>
                        <a:t>Classements complets</a:t>
                      </a:r>
                    </a:p>
                  </a:txBody>
                  <a:tcPr marL="91440" marR="91440" marT="45720" marB="45720" anchor="ctr">
                    <a:lnR w="9525">
                      <a:solidFill>
                        <a:srgbClr val="D9DBDF"/>
                      </a:solidFill>
                      <a:prstDash val="solid"/>
                    </a:lnR>
                    <a:lnB w="9525">
                      <a:solidFill>
                        <a:srgbClr val="D9DBDF"/>
                      </a:solidFill>
                      <a:prstDash val="solid"/>
                    </a:lnB>
                    <a:solidFill>
                      <a:srgbClr val="F3EEFA"/>
                    </a:solidFill>
                  </a:tcPr>
                </a:tc>
              </a:tr>
              <a:tr h="555625">
                <a:tc>
                  <a:txBody>
                    <a:bodyPr wrap="square" lIns="133350" tIns="95250" rIns="133350" bIns="95250">
                      <a:noAutofit/>
                    </a:bodyPr>
                    <a:lstStyle/>
                    <a:p>
                      <a:pPr algn="l"/>
                      <a:r>
                        <a:rPr sz="1875" b="0">
                          <a:solidFill>
                            <a:srgbClr val="202124"/>
                          </a:solidFill>
                          <a:latin typeface="Arial"/>
                          <a:ea typeface="Arial"/>
                          <a:cs typeface="Arial"/>
                        </a:rPr>
                        <a:t>S2</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ctr"/>
                      <a:r>
                        <a:rPr sz="1875" b="0">
                          <a:solidFill>
                            <a:srgbClr val="202124"/>
                          </a:solidFill>
                          <a:latin typeface="Arial"/>
                          <a:ea typeface="Arial"/>
                          <a:cs typeface="Arial"/>
                        </a:rPr>
                        <a:t>8</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ctr"/>
                      <a:r>
                        <a:rPr sz="1875" b="0">
                          <a:solidFill>
                            <a:srgbClr val="202124"/>
                          </a:solidFill>
                          <a:latin typeface="Arial"/>
                          <a:ea typeface="Arial"/>
                          <a:cs typeface="Arial"/>
                        </a:rPr>
                        <a:t>8</a:t>
                      </a:r>
                    </a:p>
                  </a:txBody>
                  <a:tcPr marL="91440" marR="91440" marT="45720" marB="45720" anchor="ctr">
                    <a:lnR w="9525">
                      <a:solidFill>
                        <a:srgbClr val="D9DBDF"/>
                      </a:solidFill>
                      <a:prstDash val="solid"/>
                    </a:lnR>
                    <a:lnB w="9525">
                      <a:solidFill>
                        <a:srgbClr val="D9DBDF"/>
                      </a:solidFill>
                      <a:prstDash val="solid"/>
                    </a:lnB>
                    <a:solidFill>
                      <a:srgbClr val="FCEDF6"/>
                    </a:solidFill>
                  </a:tcPr>
                </a:tc>
                <a:tc>
                  <a:txBody>
                    <a:bodyPr wrap="square" lIns="133350" tIns="95250" rIns="133350" bIns="95250">
                      <a:noAutofit/>
                    </a:bodyPr>
                    <a:lstStyle/>
                    <a:p>
                      <a:pPr algn="l"/>
                      <a:r>
                        <a:rPr sz="1875" b="0">
                          <a:solidFill>
                            <a:srgbClr val="202124"/>
                          </a:solidFill>
                          <a:latin typeface="Arial"/>
                          <a:ea typeface="Arial"/>
                          <a:cs typeface="Arial"/>
                        </a:rPr>
                        <a:t>Comparaison chiffrée</a:t>
                      </a:r>
                    </a:p>
                  </a:txBody>
                  <a:tcPr marL="91440" marR="91440" marT="45720" marB="45720" anchor="ctr">
                    <a:lnR w="9525">
                      <a:solidFill>
                        <a:srgbClr val="D9DBDF"/>
                      </a:solidFill>
                      <a:prstDash val="solid"/>
                    </a:lnR>
                    <a:lnB w="9525">
                      <a:solidFill>
                        <a:srgbClr val="D9DBDF"/>
                      </a:solidFill>
                      <a:prstDash val="solid"/>
                    </a:lnB>
                    <a:solidFill>
                      <a:srgbClr val="F3EEFA"/>
                    </a:solidFill>
                  </a:tcPr>
                </a:tc>
              </a:tr>
              <a:tr h="555625">
                <a:tc>
                  <a:txBody>
                    <a:bodyPr wrap="square" lIns="133350" tIns="95250" rIns="133350" bIns="95250">
                      <a:noAutofit/>
                    </a:bodyPr>
                    <a:lstStyle/>
                    <a:p>
                      <a:pPr algn="l"/>
                      <a:r>
                        <a:rPr sz="1875" b="0">
                          <a:solidFill>
                            <a:srgbClr val="202124"/>
                          </a:solidFill>
                          <a:latin typeface="Arial"/>
                          <a:ea typeface="Arial"/>
                          <a:cs typeface="Arial"/>
                        </a:rPr>
                        <a:t>S3</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ctr"/>
                      <a:r>
                        <a:rPr sz="1875" b="0">
                          <a:solidFill>
                            <a:srgbClr val="202124"/>
                          </a:solidFill>
                          <a:latin typeface="Arial"/>
                          <a:ea typeface="Arial"/>
                          <a:cs typeface="Arial"/>
                        </a:rPr>
                        <a:t>8</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ctr"/>
                      <a:r>
                        <a:rPr sz="1875" b="0">
                          <a:solidFill>
                            <a:srgbClr val="202124"/>
                          </a:solidFill>
                          <a:latin typeface="Arial"/>
                          <a:ea typeface="Arial"/>
                          <a:cs typeface="Arial"/>
                        </a:rPr>
                        <a:t>8</a:t>
                      </a:r>
                    </a:p>
                  </a:txBody>
                  <a:tcPr marL="91440" marR="91440" marT="45720" marB="45720" anchor="ctr">
                    <a:lnR w="9525">
                      <a:solidFill>
                        <a:srgbClr val="D9DBDF"/>
                      </a:solidFill>
                      <a:prstDash val="solid"/>
                    </a:lnR>
                    <a:lnB w="9525">
                      <a:solidFill>
                        <a:srgbClr val="D9DBDF"/>
                      </a:solidFill>
                      <a:prstDash val="solid"/>
                    </a:lnB>
                    <a:solidFill>
                      <a:srgbClr val="FCEDF6"/>
                    </a:solidFill>
                  </a:tcPr>
                </a:tc>
                <a:tc>
                  <a:txBody>
                    <a:bodyPr wrap="square" lIns="133350" tIns="95250" rIns="133350" bIns="95250">
                      <a:noAutofit/>
                    </a:bodyPr>
                    <a:lstStyle/>
                    <a:p>
                      <a:pPr algn="l"/>
                      <a:r>
                        <a:rPr sz="1875" b="0">
                          <a:solidFill>
                            <a:srgbClr val="202124"/>
                          </a:solidFill>
                          <a:latin typeface="Arial"/>
                          <a:ea typeface="Arial"/>
                          <a:cs typeface="Arial"/>
                        </a:rPr>
                        <a:t>Populations séparées</a:t>
                      </a:r>
                    </a:p>
                  </a:txBody>
                  <a:tcPr marL="91440" marR="91440" marT="45720" marB="45720" anchor="ctr">
                    <a:lnR w="9525">
                      <a:solidFill>
                        <a:srgbClr val="D9DBDF"/>
                      </a:solidFill>
                      <a:prstDash val="solid"/>
                    </a:lnR>
                    <a:lnB w="9525">
                      <a:solidFill>
                        <a:srgbClr val="D9DBDF"/>
                      </a:solidFill>
                      <a:prstDash val="solid"/>
                    </a:lnB>
                    <a:solidFill>
                      <a:srgbClr val="F3EEFA"/>
                    </a:solidFill>
                  </a:tcPr>
                </a:tc>
              </a:tr>
              <a:tr h="555625">
                <a:tc>
                  <a:txBody>
                    <a:bodyPr wrap="square" lIns="133350" tIns="95250" rIns="133350" bIns="95250">
                      <a:noAutofit/>
                    </a:bodyPr>
                    <a:lstStyle/>
                    <a:p>
                      <a:pPr algn="l"/>
                      <a:r>
                        <a:rPr sz="1875" b="0">
                          <a:solidFill>
                            <a:srgbClr val="202124"/>
                          </a:solidFill>
                          <a:latin typeface="Arial"/>
                          <a:ea typeface="Arial"/>
                          <a:cs typeface="Arial"/>
                        </a:rPr>
                        <a:t>S4</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ctr"/>
                      <a:r>
                        <a:rPr sz="1875" b="0">
                          <a:solidFill>
                            <a:srgbClr val="202124"/>
                          </a:solidFill>
                          <a:latin typeface="Arial"/>
                          <a:ea typeface="Arial"/>
                          <a:cs typeface="Arial"/>
                        </a:rPr>
                        <a:t>7</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ctr"/>
                      <a:r>
                        <a:rPr sz="1875" b="0">
                          <a:solidFill>
                            <a:srgbClr val="202124"/>
                          </a:solidFill>
                          <a:latin typeface="Arial"/>
                          <a:ea typeface="Arial"/>
                          <a:cs typeface="Arial"/>
                        </a:rPr>
                        <a:t>7</a:t>
                      </a:r>
                    </a:p>
                  </a:txBody>
                  <a:tcPr marL="91440" marR="91440" marT="45720" marB="45720" anchor="ctr">
                    <a:lnR w="9525">
                      <a:solidFill>
                        <a:srgbClr val="D9DBDF"/>
                      </a:solidFill>
                      <a:prstDash val="solid"/>
                    </a:lnR>
                    <a:lnB w="9525">
                      <a:solidFill>
                        <a:srgbClr val="D9DBDF"/>
                      </a:solidFill>
                      <a:prstDash val="solid"/>
                    </a:lnB>
                    <a:solidFill>
                      <a:srgbClr val="FCEDF6"/>
                    </a:solidFill>
                  </a:tcPr>
                </a:tc>
                <a:tc>
                  <a:txBody>
                    <a:bodyPr wrap="square" lIns="133350" tIns="95250" rIns="133350" bIns="95250">
                      <a:noAutofit/>
                    </a:bodyPr>
                    <a:lstStyle/>
                    <a:p>
                      <a:pPr algn="l"/>
                      <a:r>
                        <a:rPr sz="1875" b="0">
                          <a:solidFill>
                            <a:srgbClr val="202124"/>
                          </a:solidFill>
                          <a:latin typeface="Arial"/>
                          <a:ea typeface="Arial"/>
                          <a:cs typeface="Arial"/>
                        </a:rPr>
                        <a:t>Comparabilité limitée</a:t>
                      </a:r>
                    </a:p>
                  </a:txBody>
                  <a:tcPr marL="91440" marR="91440" marT="45720" marB="45720" anchor="ctr">
                    <a:lnR w="9525">
                      <a:solidFill>
                        <a:srgbClr val="D9DBDF"/>
                      </a:solidFill>
                      <a:prstDash val="solid"/>
                    </a:lnR>
                    <a:lnB w="9525">
                      <a:solidFill>
                        <a:srgbClr val="D9DBDF"/>
                      </a:solidFill>
                      <a:prstDash val="solid"/>
                    </a:lnB>
                    <a:solidFill>
                      <a:srgbClr val="F3EEFA"/>
                    </a:solidFill>
                  </a:tcPr>
                </a:tc>
              </a:tr>
              <a:tr h="555625">
                <a:tc>
                  <a:txBody>
                    <a:bodyPr wrap="square" lIns="133350" tIns="95250" rIns="133350" bIns="95250">
                      <a:noAutofit/>
                    </a:bodyPr>
                    <a:lstStyle/>
                    <a:p>
                      <a:pPr algn="l"/>
                      <a:r>
                        <a:rPr sz="1875" b="0">
                          <a:solidFill>
                            <a:srgbClr val="202124"/>
                          </a:solidFill>
                          <a:latin typeface="Arial"/>
                          <a:ea typeface="Arial"/>
                          <a:cs typeface="Arial"/>
                        </a:rPr>
                        <a:t>S5</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ctr"/>
                      <a:r>
                        <a:rPr sz="1875" b="0">
                          <a:solidFill>
                            <a:srgbClr val="202124"/>
                          </a:solidFill>
                          <a:latin typeface="Arial"/>
                          <a:ea typeface="Arial"/>
                          <a:cs typeface="Arial"/>
                        </a:rPr>
                        <a:t>7</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ctr"/>
                      <a:r>
                        <a:rPr sz="1875" b="0">
                          <a:solidFill>
                            <a:srgbClr val="202124"/>
                          </a:solidFill>
                          <a:latin typeface="Arial"/>
                          <a:ea typeface="Arial"/>
                          <a:cs typeface="Arial"/>
                        </a:rPr>
                        <a:t>7</a:t>
                      </a:r>
                    </a:p>
                  </a:txBody>
                  <a:tcPr marL="91440" marR="91440" marT="45720" marB="45720" anchor="ctr">
                    <a:lnR w="9525">
                      <a:solidFill>
                        <a:srgbClr val="D9DBDF"/>
                      </a:solidFill>
                      <a:prstDash val="solid"/>
                    </a:lnR>
                    <a:lnB w="9525">
                      <a:solidFill>
                        <a:srgbClr val="D9DBDF"/>
                      </a:solidFill>
                      <a:prstDash val="solid"/>
                    </a:lnB>
                    <a:solidFill>
                      <a:srgbClr val="FCEDF6"/>
                    </a:solidFill>
                  </a:tcPr>
                </a:tc>
                <a:tc>
                  <a:txBody>
                    <a:bodyPr wrap="square" lIns="133350" tIns="95250" rIns="133350" bIns="95250">
                      <a:noAutofit/>
                    </a:bodyPr>
                    <a:lstStyle/>
                    <a:p>
                      <a:pPr algn="l"/>
                      <a:r>
                        <a:rPr sz="1875" b="0">
                          <a:solidFill>
                            <a:srgbClr val="202124"/>
                          </a:solidFill>
                          <a:latin typeface="Arial"/>
                          <a:ea typeface="Arial"/>
                          <a:cs typeface="Arial"/>
                        </a:rPr>
                        <a:t>Action encore vague</a:t>
                      </a:r>
                    </a:p>
                  </a:txBody>
                  <a:tcPr marL="91440" marR="91440" marT="45720" marB="45720" anchor="ctr">
                    <a:lnR w="9525">
                      <a:solidFill>
                        <a:srgbClr val="D9DBDF"/>
                      </a:solidFill>
                      <a:prstDash val="solid"/>
                    </a:lnR>
                    <a:lnB w="9525">
                      <a:solidFill>
                        <a:srgbClr val="D9DBDF"/>
                      </a:solidFill>
                      <a:prstDash val="solid"/>
                    </a:lnB>
                    <a:solidFill>
                      <a:srgbClr val="F3EEFA"/>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902C78C9-813B-4F57-830B-7C21CD04EE47}"/>
              </a:ext>
            </a:extLst>
          </p:cNvPr>
          <p:cNvGraphicFramePr/>
          <p:nvPr/>
        </p:nvGraphicFramePr>
        <p:xfrm>
          <a:off xmlns:a="http://schemas.openxmlformats.org/drawingml/2006/main" x="533400" y="5143500"/>
          <a:ext xmlns:a="http://schemas.openxmlformats.org/drawingml/2006/main" cx="11125200" cy="904875"/>
        </p:xfrm>
        <a:graphic xmlns:a="http://schemas.openxmlformats.org/drawingml/2006/main">
          <a:graphicData uri="http://schemas.openxmlformats.org/drawingml/2006/table">
            <a:tbl>
              <a:tblPr/>
              <a:tblGrid>
                <a:gridCol w="11125200"/>
              </a:tblGrid>
              <a:tr h="333375">
                <a:tc>
                  <a:txBody>
                    <a:bodyPr lIns="133350" tIns="66675" rIns="133350" bIns="66675"/>
                    <a:lstStyle/>
                    <a:p>
                      <a:r>
                        <a:rPr sz="1650" b="1">
                          <a:solidFill>
                            <a:srgbClr val="202124"/>
                          </a:solidFill>
                          <a:latin typeface="Arial"/>
                          <a:ea typeface="Arial"/>
                          <a:cs typeface="Arial"/>
                        </a:rPr>
                        <a:t>Dénominateur et portée</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r h="571500">
                <a:tc>
                  <a:txBody>
                    <a:bodyPr lIns="133350" tIns="66675" rIns="133350" bIns="66675"/>
                    <a:lstStyle/>
                    <a:p>
                      <a:r>
                        <a:rPr sz="1800" b="0">
                          <a:solidFill>
                            <a:srgbClr val="202124"/>
                          </a:solidFill>
                          <a:latin typeface="Arial"/>
                          <a:ea typeface="Arial"/>
                          <a:cs typeface="Arial"/>
                        </a:rPr>
                        <a:t>Deux avis par cellule. Moyenne globale 7,6/8. Ces notes ne mesurent pas une capacité générale du modèle.</a:t>
                      </a:r>
                    </a:p>
                  </a:txBody>
                  <a:tcPr marL="91440" marR="91440" marT="45720" marB="45720" anchor="ctr">
                    <a:lnL w="5715">
                      <a:solidFill>
                        <a:srgbClr val="D9DBDF"/>
                      </a:solidFill>
                    </a:lnL>
                    <a:lnR w="5715">
                      <a:solidFill>
                        <a:srgbClr val="D9DBDF"/>
                      </a:solidFill>
                    </a:lnR>
                    <a:lnB w="5715">
                      <a:solidFill>
                        <a:srgbClr val="D9DBDF"/>
                      </a:solidFill>
                    </a:lnB>
                    <a:solidFill>
                      <a:srgbClr val="F3EEFA"/>
                    </a:solidFill>
                  </a:tcPr>
                </a:tc>
              </a:tr>
            </a:tbl>
          </a:graphicData>
        </a:graphic>
      </p:graphicFrame>
    </p:spTree>
    <p:extLst>
      <p:ext uri="{BB962C8B-B14F-4D97-AF65-F5344CB8AC3E}">
        <p14:creationId xmlns:p14="http://schemas.microsoft.com/office/powerpoint/2010/main" val="188147279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B648FE-5437-4D8B-A146-2C0367F57A4D}"/>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Le désaccord du contrôle lexical</a:t>
            </a:r>
          </a:p>
        </p:txBody>
      </p:sp>
      <p:sp>
        <p:nvSpPr>
          <p:cNvPr id="2" name="">
            <a:extLst xmlns:a="http://schemas.openxmlformats.org/drawingml/2006/main">
              <a:ext uri="{FF2B5EF4-FFF2-40B4-BE49-F238E27FC236}">
                <a16:creationId xmlns:a16="http://schemas.microsoft.com/office/drawing/2014/main" id="{E84B4425-CDDD-4D29-9275-28F30258CA8D}"/>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Essai 19, S5, température 0,4, répétition 2</a:t>
            </a:r>
          </a:p>
        </p:txBody>
      </p:sp>
      <p:sp>
        <p:nvSpPr>
          <p:cNvPr id="3" name="">
            <a:extLst xmlns:a="http://schemas.openxmlformats.org/drawingml/2006/main">
              <a:ext uri="{FF2B5EF4-FFF2-40B4-BE49-F238E27FC236}">
                <a16:creationId xmlns:a16="http://schemas.microsoft.com/office/drawing/2014/main" id="{F0C89F26-A4DF-4C51-A49C-51D4D4037002}"/>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A0EA7B9B-FE3A-4DF3-BA73-3233C63BCC46}"/>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DEB69D23-CBBD-4379-9F80-3DA81676F045}"/>
              </a:ext>
            </a:extLst>
          </p:cNvPr>
          <p:cNvGraphicFramePr/>
          <p:nvPr/>
        </p:nvGraphicFramePr>
        <p:xfrm>
          <a:off xmlns:a="http://schemas.openxmlformats.org/drawingml/2006/main" x="533400" y="1304925"/>
          <a:ext xmlns:a="http://schemas.openxmlformats.org/drawingml/2006/main" cx="11125200" cy="381000"/>
        </p:xfrm>
        <a:graphic xmlns:a="http://schemas.openxmlformats.org/drawingml/2006/main">
          <a:graphicData uri="http://schemas.openxmlformats.org/drawingml/2006/table">
            <a:tbl>
              <a:tblPr/>
              <a:tblGrid>
                <a:gridCol w="11125200"/>
              </a:tblGrid>
              <a:tr h="381000">
                <a:tc>
                  <a:txBody>
                    <a:bodyPr lIns="133350" tIns="57150" rIns="114300" bIns="47625"/>
                    <a:lstStyle/>
                    <a:p>
                      <a:r>
                        <a:rPr sz="1725" b="1">
                          <a:solidFill>
                            <a:srgbClr val="202124"/>
                          </a:solidFill>
                          <a:latin typeface="Arial"/>
                          <a:ea typeface="Arial"/>
                          <a:cs typeface="Arial"/>
                        </a:rPr>
                        <a:t>Formulation produite</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3890172D-6DF0-4AEF-BAA3-E582A3644F59}"/>
              </a:ext>
            </a:extLst>
          </p:cNvPr>
          <p:cNvGraphicFramePr/>
          <p:nvPr/>
        </p:nvGraphicFramePr>
        <p:xfrm>
          <a:off xmlns:a="http://schemas.openxmlformats.org/drawingml/2006/main" x="533400" y="1838325"/>
          <a:ext xmlns:a="http://schemas.openxmlformats.org/drawingml/2006/main" cx="11125200" cy="952500"/>
        </p:xfrm>
        <a:graphic xmlns:a="http://schemas.openxmlformats.org/drawingml/2006/main">
          <a:graphicData uri="http://schemas.openxmlformats.org/drawingml/2006/table">
            <a:tbl>
              <a:tblPr firstRow="0" bandRow="0"/>
              <a:tblGrid>
                <a:gridCol w="11125200"/>
              </a:tblGrid>
              <a:tr h="952500">
                <a:tc>
                  <a:txBody>
                    <a:bodyPr wrap="square" lIns="133350" tIns="95250" rIns="133350" bIns="95250">
                      <a:noAutofit/>
                    </a:bodyPr>
                    <a:lstStyle/>
                    <a:p>
                      <a:pPr algn="l"/>
                      <a:r>
                        <a:rPr sz="2550" b="1">
                          <a:solidFill>
                            <a:srgbClr val="202124"/>
                          </a:solidFill>
                          <a:latin typeface="Arial"/>
                          <a:ea typeface="Arial"/>
                          <a:cs typeface="Arial"/>
                        </a:rPr>
                        <a:t>17 vidéos sans vues ou heures connues</a:t>
                      </a:r>
                    </a:p>
                  </a:txBody>
                  <a:tcPr marL="91440" marR="91440" marT="45720" marB="45720" anchor="ctr">
                    <a:lnL w="9525">
                      <a:solidFill>
                        <a:srgbClr val="D9DBDF"/>
                      </a:solidFill>
                      <a:prstDash val="solid"/>
                    </a:lnL>
                    <a:lnR w="9525">
                      <a:solidFill>
                        <a:srgbClr val="D9DBDF"/>
                      </a:solidFill>
                      <a:prstDash val="solid"/>
                    </a:lnR>
                    <a:lnT w="9525">
                      <a:solidFill>
                        <a:srgbClr val="D9DBDF"/>
                      </a:solidFill>
                      <a:prstDash val="solid"/>
                    </a:lnT>
                    <a:lnB w="9525">
                      <a:solidFill>
                        <a:srgbClr val="D9DBDF"/>
                      </a:solidFill>
                      <a:prstDash val="solid"/>
                    </a:lnB>
                    <a:solidFill>
                      <a:srgbClr val="FCEDF6"/>
                    </a:solidFill>
                  </a:tcPr>
                </a:tc>
              </a:tr>
            </a:tbl>
          </a:graphicData>
        </a:graphic>
      </p:graphicFrame>
      <p:graphicFrame>
        <p:nvGraphicFramePr>
          <p:cNvPr id="7" name="">
            <a:extLst xmlns:a="http://schemas.openxmlformats.org/drawingml/2006/main">
              <a:ext uri="{FF2B5EF4-FFF2-40B4-BE49-F238E27FC236}">
                <a16:creationId xmlns:a16="http://schemas.microsoft.com/office/drawing/2014/main" id="{7B397F7E-F4AB-4B9F-B3F8-A66619CEE57E}"/>
              </a:ext>
            </a:extLst>
          </p:cNvPr>
          <p:cNvGraphicFramePr/>
          <p:nvPr/>
        </p:nvGraphicFramePr>
        <p:xfrm>
          <a:off xmlns:a="http://schemas.openxmlformats.org/drawingml/2006/main" x="533400" y="3095625"/>
          <a:ext xmlns:a="http://schemas.openxmlformats.org/drawingml/2006/main" cx="11125200" cy="2143125"/>
        </p:xfrm>
        <a:graphic xmlns:a="http://schemas.openxmlformats.org/drawingml/2006/main">
          <a:graphicData uri="http://schemas.openxmlformats.org/drawingml/2006/table">
            <a:tbl>
              <a:tblPr firstRow="0" bandRow="0"/>
              <a:tblGrid>
                <a:gridCol w="3524250"/>
                <a:gridCol w="7600950"/>
              </a:tblGrid>
              <a:tr h="535781">
                <a:tc>
                  <a:txBody>
                    <a:bodyPr wrap="square" lIns="133350" tIns="95250" rIns="133350" bIns="95250">
                      <a:noAutofit/>
                    </a:bodyPr>
                    <a:lstStyle/>
                    <a:p>
                      <a:pPr algn="l"/>
                      <a:r>
                        <a:rPr sz="1875" b="1">
                          <a:solidFill>
                            <a:srgbClr val="202124"/>
                          </a:solidFill>
                          <a:latin typeface="Arial"/>
                          <a:ea typeface="Arial"/>
                          <a:cs typeface="Arial"/>
                        </a:rPr>
                        <a:t>Vérification</a:t>
                      </a:r>
                    </a:p>
                  </a:txBody>
                  <a:tcPr marL="91440" marR="91440" marT="45720" marB="45720" anchor="ctr">
                    <a:lnL w="9525">
                      <a:solidFill>
                        <a:srgbClr val="D9DBDF"/>
                      </a:solidFill>
                      <a:prstDash val="solid"/>
                    </a:lnL>
                    <a:lnR w="9525">
                      <a:solidFill>
                        <a:srgbClr val="D9DBDF"/>
                      </a:solidFill>
                      <a:prstDash val="solid"/>
                    </a:lnR>
                    <a:lnT w="9525">
                      <a:solidFill>
                        <a:srgbClr val="D9DBDF"/>
                      </a:solidFill>
                      <a:prstDash val="solid"/>
                    </a:lnT>
                    <a:lnB w="9525">
                      <a:solidFill>
                        <a:srgbClr val="D9DBDF"/>
                      </a:solidFill>
                      <a:prstDash val="solid"/>
                    </a:lnB>
                    <a:solidFill>
                      <a:srgbClr val="B4AFF0"/>
                    </a:solidFill>
                  </a:tcPr>
                </a:tc>
                <a:tc>
                  <a:txBody>
                    <a:bodyPr wrap="square" lIns="133350" tIns="95250" rIns="133350" bIns="95250">
                      <a:noAutofit/>
                    </a:bodyPr>
                    <a:lstStyle/>
                    <a:p>
                      <a:pPr algn="l"/>
                      <a:r>
                        <a:rPr sz="1875" b="1">
                          <a:solidFill>
                            <a:srgbClr val="202124"/>
                          </a:solidFill>
                          <a:latin typeface="Arial"/>
                          <a:ea typeface="Arial"/>
                          <a:cs typeface="Arial"/>
                        </a:rPr>
                        <a:t>Constat conservé</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4CD91"/>
                    </a:solidFill>
                  </a:tcPr>
                </a:tc>
              </a:tr>
              <a:tr h="535781">
                <a:tc>
                  <a:txBody>
                    <a:bodyPr wrap="square" lIns="133350" tIns="95250" rIns="133350" bIns="95250">
                      <a:noAutofit/>
                    </a:bodyPr>
                    <a:lstStyle/>
                    <a:p>
                      <a:pPr algn="l"/>
                      <a:r>
                        <a:rPr sz="1875" b="0">
                          <a:solidFill>
                            <a:srgbClr val="202124"/>
                          </a:solidFill>
                          <a:latin typeface="Arial"/>
                          <a:ea typeface="Arial"/>
                          <a:cs typeface="Arial"/>
                        </a:rPr>
                        <a:t>Calculs et identifiants</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875" b="0">
                          <a:solidFill>
                            <a:srgbClr val="202124"/>
                          </a:solidFill>
                          <a:latin typeface="Arial"/>
                          <a:ea typeface="Arial"/>
                          <a:cs typeface="Arial"/>
                        </a:rPr>
                        <a:t>Conformes au CSV source</a:t>
                      </a:r>
                    </a:p>
                  </a:txBody>
                  <a:tcPr marL="91440" marR="91440" marT="45720" marB="45720" anchor="ctr">
                    <a:lnR w="9525">
                      <a:solidFill>
                        <a:srgbClr val="D9DBDF"/>
                      </a:solidFill>
                      <a:prstDash val="solid"/>
                    </a:lnR>
                    <a:lnB w="9525">
                      <a:solidFill>
                        <a:srgbClr val="D9DBDF"/>
                      </a:solidFill>
                      <a:prstDash val="solid"/>
                    </a:lnB>
                    <a:solidFill>
                      <a:srgbClr val="FFFFFF"/>
                    </a:solidFill>
                  </a:tcPr>
                </a:tc>
              </a:tr>
              <a:tr h="535781">
                <a:tc>
                  <a:txBody>
                    <a:bodyPr wrap="square" lIns="133350" tIns="95250" rIns="133350" bIns="95250">
                      <a:noAutofit/>
                    </a:bodyPr>
                    <a:lstStyle/>
                    <a:p>
                      <a:pPr algn="l"/>
                      <a:r>
                        <a:rPr sz="1875" b="0">
                          <a:solidFill>
                            <a:srgbClr val="202124"/>
                          </a:solidFill>
                          <a:latin typeface="Arial"/>
                          <a:ea typeface="Arial"/>
                          <a:cs typeface="Arial"/>
                        </a:rPr>
                        <a:t>Contrôle automatique</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875" b="0">
                          <a:solidFill>
                            <a:srgbClr val="202124"/>
                          </a:solidFill>
                          <a:latin typeface="Arial"/>
                          <a:ea typeface="Arial"/>
                          <a:cs typeface="Arial"/>
                        </a:rPr>
                        <a:t>non_validee, état original conservé</a:t>
                      </a:r>
                    </a:p>
                  </a:txBody>
                  <a:tcPr marL="91440" marR="91440" marT="45720" marB="45720" anchor="ctr">
                    <a:lnR w="9525">
                      <a:solidFill>
                        <a:srgbClr val="D9DBDF"/>
                      </a:solidFill>
                      <a:prstDash val="solid"/>
                    </a:lnR>
                    <a:lnB w="9525">
                      <a:solidFill>
                        <a:srgbClr val="D9DBDF"/>
                      </a:solidFill>
                      <a:prstDash val="solid"/>
                    </a:lnB>
                    <a:solidFill>
                      <a:srgbClr val="FFFFFF"/>
                    </a:solidFill>
                  </a:tcPr>
                </a:tc>
              </a:tr>
              <a:tr h="535781">
                <a:tc>
                  <a:txBody>
                    <a:bodyPr wrap="square" lIns="133350" tIns="95250" rIns="133350" bIns="95250">
                      <a:noAutofit/>
                    </a:bodyPr>
                    <a:lstStyle/>
                    <a:p>
                      <a:pPr algn="l"/>
                      <a:r>
                        <a:rPr sz="1875" b="0">
                          <a:solidFill>
                            <a:srgbClr val="202124"/>
                          </a:solidFill>
                          <a:latin typeface="Arial"/>
                          <a:ea typeface="Arial"/>
                          <a:cs typeface="Arial"/>
                        </a:rPr>
                        <a:t>Revue assistée puis confirmée</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875" b="0">
                          <a:solidFill>
                            <a:srgbClr val="202124"/>
                          </a:solidFill>
                          <a:latin typeface="Arial"/>
                          <a:ea typeface="Arial"/>
                          <a:cs typeface="Arial"/>
                        </a:rPr>
                        <a:t>Faux positif probable, note 7/8</a:t>
                      </a:r>
                    </a:p>
                  </a:txBody>
                  <a:tcPr marL="91440" marR="91440" marT="45720" marB="45720" anchor="ctr">
                    <a:lnR w="9525">
                      <a:solidFill>
                        <a:srgbClr val="D9DBDF"/>
                      </a:solidFill>
                      <a:prstDash val="solid"/>
                    </a:lnR>
                    <a:lnB w="9525">
                      <a:solidFill>
                        <a:srgbClr val="D9DBDF"/>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5419B222-0439-4A96-AE3C-10D08A4F94A3}"/>
              </a:ext>
            </a:extLst>
          </p:cNvPr>
          <p:cNvSpPr>
            <a:spLocks xmlns:a="http://schemas.openxmlformats.org/drawingml/2006/main" noGrp="1"/>
          </p:cNvSpPr>
          <p:nvPr/>
        </p:nvSpPr>
        <p:spPr>
          <a:xfrm xmlns:a="http://schemas.openxmlformats.org/drawingml/2006/main">
            <a:off x="533400" y="55245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0555A"/>
                </a:solidFill>
                <a:latin typeface="Arial"/>
                <a:ea typeface="Arial"/>
                <a:cs typeface="Arial"/>
              </a:defRPr>
            </a:defPPr>
          </a:lstStyle>
          <a:p xmlns:a="http://schemas.openxmlformats.org/drawingml/2006/main">
            <a:pPr algn="l">
              <a:defRPr sz="1950" b="0">
                <a:solidFill>
                  <a:srgbClr val="50555A"/>
                </a:solidFill>
                <a:latin typeface="Arial"/>
                <a:ea typeface="Arial"/>
                <a:cs typeface="Arial"/>
              </a:defRPr>
            </a:pPr>
            <a:r>
              <a:rPr sz="1950" b="0">
                <a:solidFill>
                  <a:srgbClr val="50555A"/>
                </a:solidFill>
                <a:latin typeface="Arial"/>
                <a:ea typeface="Arial"/>
                <a:cs typeface="Arial"/>
              </a:rPr>
              <a:t>Le mot « connues » distingue ici les données absentes des valeurs nulles.</a:t>
            </a:r>
          </a:p>
        </p:txBody>
      </p:sp>
    </p:spTree>
    <p:extLst>
      <p:ext uri="{BB962C8B-B14F-4D97-AF65-F5344CB8AC3E}">
        <p14:creationId xmlns:p14="http://schemas.microsoft.com/office/powerpoint/2010/main" val="78994618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4D9F16-5ADF-4E47-9C42-5E6EAD110A6A}"/>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Le temps de la synthèse</a:t>
            </a:r>
          </a:p>
        </p:txBody>
      </p:sp>
      <p:sp>
        <p:nvSpPr>
          <p:cNvPr id="2" name="">
            <a:extLst xmlns:a="http://schemas.openxmlformats.org/drawingml/2006/main">
              <a:ext uri="{FF2B5EF4-FFF2-40B4-BE49-F238E27FC236}">
                <a16:creationId xmlns:a16="http://schemas.microsoft.com/office/drawing/2014/main" id="{43DFCC68-9CA6-4C3F-872B-E1E8E42DD3E1}"/>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Moyennes sur vingt workflows, outils inclus dans les tâches</a:t>
            </a:r>
          </a:p>
        </p:txBody>
      </p:sp>
      <p:sp>
        <p:nvSpPr>
          <p:cNvPr id="3" name="">
            <a:extLst xmlns:a="http://schemas.openxmlformats.org/drawingml/2006/main">
              <a:ext uri="{FF2B5EF4-FFF2-40B4-BE49-F238E27FC236}">
                <a16:creationId xmlns:a16="http://schemas.microsoft.com/office/drawing/2014/main" id="{BEA6A836-D7F6-4612-8CD8-645F6E61639C}"/>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5BABC241-E101-489B-9ED3-0DCA20747F9B}"/>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809AAD63-E531-471E-A198-2E03FD72A910}"/>
              </a:ext>
            </a:extLst>
          </p:cNvPr>
          <p:cNvGraphicFramePr/>
          <p:nvPr/>
        </p:nvGraphicFramePr>
        <p:xfrm>
          <a:off xmlns:a="http://schemas.openxmlformats.org/drawingml/2006/main" x="533400" y="1304925"/>
          <a:ext xmlns:a="http://schemas.openxmlformats.org/drawingml/2006/main" cx="11125200" cy="381000"/>
        </p:xfrm>
        <a:graphic xmlns:a="http://schemas.openxmlformats.org/drawingml/2006/main">
          <a:graphicData uri="http://schemas.openxmlformats.org/drawingml/2006/table">
            <a:tbl>
              <a:tblPr/>
              <a:tblGrid>
                <a:gridCol w="11125200"/>
              </a:tblGrid>
              <a:tr h="381000">
                <a:tc>
                  <a:txBody>
                    <a:bodyPr lIns="133350" tIns="57150" rIns="114300" bIns="47625"/>
                    <a:lstStyle/>
                    <a:p>
                      <a:r>
                        <a:rPr sz="1725" b="1">
                          <a:solidFill>
                            <a:srgbClr val="202124"/>
                          </a:solidFill>
                          <a:latin typeface="Arial"/>
                          <a:ea typeface="Arial"/>
                          <a:cs typeface="Arial"/>
                        </a:rPr>
                        <a:t>Temps moyen par tâche en secondes</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bl>
          </a:graphicData>
        </a:graphic>
      </p:graphicFrame>
      <p:graphicFrame>
        <p:nvGraphicFramePr>
          <p:cNvPr id="6" name="Chart">
            <a:extLst xmlns:a="http://schemas.openxmlformats.org/drawingml/2006/main">
              <a:ext uri="{FF2B5EF4-FFF2-40B4-BE49-F238E27FC236}">
                <a16:creationId xmlns:a16="http://schemas.microsoft.com/office/drawing/2014/main" id="{0F1A9A02-0F08-4966-8AFC-6DB9E0D789B1}"/>
              </a:ext>
            </a:extLst>
          </p:cNvPr>
          <p:cNvGraphicFramePr/>
          <p:nvPr/>
        </p:nvGraphicFramePr>
        <p:xfrm>
          <a:off xmlns:a="http://schemas.openxmlformats.org/drawingml/2006/main" x="533400" y="1838325"/>
          <a:ext xmlns:a="http://schemas.openxmlformats.org/drawingml/2006/main" cx="11125200" cy="3333750"/>
        </p:xfrm>
        <a:graphic xmlns:a="http://schemas.openxmlformats.org/drawingml/2006/main">
          <a:graphicData uri="http://schemas.openxmlformats.org/drawingml/2006/chart">
            <c:chart xmlns:r="http://schemas.openxmlformats.org/officeDocument/2006/relationships" xmlns:c="http://schemas.openxmlformats.org/drawingml/2006/chart" r:id="R9efc0726b0594a69"/>
          </a:graphicData>
        </a:graphic>
      </p:graphicFrame>
      <p:graphicFrame>
        <p:nvGraphicFramePr>
          <p:cNvPr id="7" name="">
            <a:extLst xmlns:a="http://schemas.openxmlformats.org/drawingml/2006/main">
              <a:ext uri="{FF2B5EF4-FFF2-40B4-BE49-F238E27FC236}">
                <a16:creationId xmlns:a16="http://schemas.microsoft.com/office/drawing/2014/main" id="{4FEBE326-4213-4E6C-95B8-A4835FBD254C}"/>
              </a:ext>
            </a:extLst>
          </p:cNvPr>
          <p:cNvGraphicFramePr/>
          <p:nvPr/>
        </p:nvGraphicFramePr>
        <p:xfrm>
          <a:off xmlns:a="http://schemas.openxmlformats.org/drawingml/2006/main" x="533400" y="5381625"/>
          <a:ext xmlns:a="http://schemas.openxmlformats.org/drawingml/2006/main" cx="11125200" cy="904875"/>
        </p:xfrm>
        <a:graphic xmlns:a="http://schemas.openxmlformats.org/drawingml/2006/main">
          <a:graphicData uri="http://schemas.openxmlformats.org/drawingml/2006/table">
            <a:tbl>
              <a:tblPr/>
              <a:tblGrid>
                <a:gridCol w="11125200"/>
              </a:tblGrid>
              <a:tr h="333375">
                <a:tc>
                  <a:txBody>
                    <a:bodyPr lIns="133350" tIns="66675" rIns="133350" bIns="66675"/>
                    <a:lstStyle/>
                    <a:p>
                      <a:r>
                        <a:rPr sz="1650" b="1">
                          <a:solidFill>
                            <a:srgbClr val="202124"/>
                          </a:solidFill>
                          <a:latin typeface="Arial"/>
                          <a:ea typeface="Arial"/>
                          <a:cs typeface="Arial"/>
                        </a:rPr>
                        <a:t>Poste principal observé</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r h="571500">
                <a:tc>
                  <a:txBody>
                    <a:bodyPr lIns="133350" tIns="66675" rIns="133350" bIns="66675"/>
                    <a:lstStyle/>
                    <a:p>
                      <a:r>
                        <a:rPr sz="1800" b="0">
                          <a:solidFill>
                            <a:srgbClr val="202124"/>
                          </a:solidFill>
                          <a:latin typeface="Arial"/>
                          <a:ea typeface="Arial"/>
                          <a:cs typeface="Arial"/>
                        </a:rPr>
                        <a:t>La synthèse représente 50,09 % du temps cumulé des workflows.</a:t>
                      </a:r>
                    </a:p>
                  </a:txBody>
                  <a:tcPr marL="91440" marR="91440" marT="45720" marB="45720" anchor="ctr">
                    <a:lnL w="5715">
                      <a:solidFill>
                        <a:srgbClr val="D9DBDF"/>
                      </a:solidFill>
                    </a:lnL>
                    <a:lnR w="5715">
                      <a:solidFill>
                        <a:srgbClr val="D9DBDF"/>
                      </a:solidFill>
                    </a:lnR>
                    <a:lnB w="5715">
                      <a:solidFill>
                        <a:srgbClr val="D9DBDF"/>
                      </a:solidFill>
                    </a:lnB>
                    <a:solidFill>
                      <a:srgbClr val="FFF4E2"/>
                    </a:solidFill>
                  </a:tcPr>
                </a:tc>
              </a:tr>
            </a:tbl>
          </a:graphicData>
        </a:graphic>
      </p:graphicFrame>
    </p:spTree>
    <p:extLst>
      <p:ext uri="{BB962C8B-B14F-4D97-AF65-F5344CB8AC3E}">
        <p14:creationId xmlns:p14="http://schemas.microsoft.com/office/powerpoint/2010/main" val="1607461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6442C3-9347-4A74-A4F0-4A4F74A76BCD}"/>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Recommandations appuyées sur les mesures</a:t>
            </a:r>
          </a:p>
        </p:txBody>
      </p:sp>
      <p:sp>
        <p:nvSpPr>
          <p:cNvPr id="2" name="">
            <a:extLst xmlns:a="http://schemas.openxmlformats.org/drawingml/2006/main">
              <a:ext uri="{FF2B5EF4-FFF2-40B4-BE49-F238E27FC236}">
                <a16:creationId xmlns:a16="http://schemas.microsoft.com/office/drawing/2014/main" id="{D199E47A-DF94-4C92-9C5F-6A032B855BB1}"/>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Chaque amélioration répond à un résultat observé</a:t>
            </a:r>
          </a:p>
        </p:txBody>
      </p:sp>
      <p:sp>
        <p:nvSpPr>
          <p:cNvPr id="3" name="">
            <a:extLst xmlns:a="http://schemas.openxmlformats.org/drawingml/2006/main">
              <a:ext uri="{FF2B5EF4-FFF2-40B4-BE49-F238E27FC236}">
                <a16:creationId xmlns:a16="http://schemas.microsoft.com/office/drawing/2014/main" id="{E5057A55-5B43-4C05-81D4-77565F5BB62F}"/>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CB56FA49-A975-479E-9C17-B844CCF3B150}"/>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13</a:t>
            </a:r>
          </a:p>
        </p:txBody>
      </p:sp>
      <p:graphicFrame>
        <p:nvGraphicFramePr>
          <p:cNvPr id="5" name="">
            <a:extLst xmlns:a="http://schemas.openxmlformats.org/drawingml/2006/main">
              <a:ext uri="{FF2B5EF4-FFF2-40B4-BE49-F238E27FC236}">
                <a16:creationId xmlns:a16="http://schemas.microsoft.com/office/drawing/2014/main" id="{71A5005C-2CF0-417B-A61B-3DEF056D9A4E}"/>
              </a:ext>
            </a:extLst>
          </p:cNvPr>
          <p:cNvGraphicFramePr/>
          <p:nvPr/>
        </p:nvGraphicFramePr>
        <p:xfrm>
          <a:off xmlns:a="http://schemas.openxmlformats.org/drawingml/2006/main" x="533400" y="1666875"/>
          <a:ext xmlns:a="http://schemas.openxmlformats.org/drawingml/2006/main" cx="11125200" cy="3333750"/>
        </p:xfrm>
        <a:graphic xmlns:a="http://schemas.openxmlformats.org/drawingml/2006/main">
          <a:graphicData uri="http://schemas.openxmlformats.org/drawingml/2006/table">
            <a:tbl>
              <a:tblPr firstRow="0" bandRow="0"/>
              <a:tblGrid>
                <a:gridCol w="3238500"/>
                <a:gridCol w="5000625"/>
                <a:gridCol w="2886075"/>
              </a:tblGrid>
              <a:tr h="833438">
                <a:tc>
                  <a:txBody>
                    <a:bodyPr wrap="square" lIns="133350" tIns="95250" rIns="133350" bIns="95250">
                      <a:noAutofit/>
                    </a:bodyPr>
                    <a:lstStyle/>
                    <a:p>
                      <a:pPr algn="l"/>
                      <a:r>
                        <a:rPr sz="1875" b="1">
                          <a:solidFill>
                            <a:srgbClr val="202124"/>
                          </a:solidFill>
                          <a:latin typeface="Arial"/>
                          <a:ea typeface="Arial"/>
                          <a:cs typeface="Arial"/>
                        </a:rPr>
                        <a:t>Constat</a:t>
                      </a:r>
                    </a:p>
                  </a:txBody>
                  <a:tcPr marL="91440" marR="91440" marT="45720" marB="45720" anchor="ctr">
                    <a:lnL w="9525">
                      <a:solidFill>
                        <a:srgbClr val="D9DBDF"/>
                      </a:solidFill>
                      <a:prstDash val="solid"/>
                    </a:lnL>
                    <a:lnR w="9525">
                      <a:solidFill>
                        <a:srgbClr val="D9DBDF"/>
                      </a:solidFill>
                      <a:prstDash val="solid"/>
                    </a:lnR>
                    <a:lnT w="9525">
                      <a:solidFill>
                        <a:srgbClr val="D9DBDF"/>
                      </a:solidFill>
                      <a:prstDash val="solid"/>
                    </a:lnT>
                    <a:lnB w="9525">
                      <a:solidFill>
                        <a:srgbClr val="D9DBDF"/>
                      </a:solidFill>
                      <a:prstDash val="solid"/>
                    </a:lnB>
                    <a:solidFill>
                      <a:srgbClr val="B4AFF0"/>
                    </a:solidFill>
                  </a:tcPr>
                </a:tc>
                <a:tc>
                  <a:txBody>
                    <a:bodyPr wrap="square" lIns="133350" tIns="95250" rIns="133350" bIns="95250">
                      <a:noAutofit/>
                    </a:bodyPr>
                    <a:lstStyle/>
                    <a:p>
                      <a:pPr algn="l"/>
                      <a:r>
                        <a:rPr sz="1875" b="1">
                          <a:solidFill>
                            <a:srgbClr val="202124"/>
                          </a:solidFill>
                          <a:latin typeface="Arial"/>
                          <a:ea typeface="Arial"/>
                          <a:cs typeface="Arial"/>
                        </a:rPr>
                        <a:t>Action proposée</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4CD91"/>
                    </a:solidFill>
                  </a:tcPr>
                </a:tc>
                <a:tc>
                  <a:txBody>
                    <a:bodyPr wrap="square" lIns="133350" tIns="95250" rIns="133350" bIns="95250">
                      <a:noAutofit/>
                    </a:bodyPr>
                    <a:lstStyle/>
                    <a:p>
                      <a:pPr algn="l"/>
                      <a:r>
                        <a:rPr sz="1875" b="1">
                          <a:solidFill>
                            <a:srgbClr val="202124"/>
                          </a:solidFill>
                          <a:latin typeface="Arial"/>
                          <a:ea typeface="Arial"/>
                          <a:cs typeface="Arial"/>
                        </a:rPr>
                        <a:t>Mesure de suivi</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1C8E2"/>
                    </a:solidFill>
                  </a:tcPr>
                </a:tc>
              </a:tr>
              <a:tr h="833438">
                <a:tc>
                  <a:txBody>
                    <a:bodyPr wrap="square" lIns="133350" tIns="95250" rIns="133350" bIns="95250">
                      <a:noAutofit/>
                    </a:bodyPr>
                    <a:lstStyle/>
                    <a:p>
                      <a:pPr algn="l"/>
                      <a:r>
                        <a:rPr sz="1875" b="0">
                          <a:solidFill>
                            <a:srgbClr val="202124"/>
                          </a:solidFill>
                          <a:latin typeface="Arial"/>
                          <a:ea typeface="Arial"/>
                          <a:cs typeface="Arial"/>
                        </a:rPr>
                        <a:t>Synthèse à 50,09 % du temps</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l"/>
                      <a:r>
                        <a:rPr sz="1875" b="0">
                          <a:solidFill>
                            <a:srgbClr val="202124"/>
                          </a:solidFill>
                          <a:latin typeface="Arial"/>
                          <a:ea typeface="Arial"/>
                          <a:cs typeface="Arial"/>
                        </a:rPr>
                        <a:t>Documenter ordre et cache, puis répéter</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l"/>
                      <a:r>
                        <a:rPr sz="1875" b="0">
                          <a:solidFill>
                            <a:srgbClr val="202124"/>
                          </a:solidFill>
                          <a:latin typeface="Arial"/>
                          <a:ea typeface="Arial"/>
                          <a:cs typeface="Arial"/>
                        </a:rPr>
                        <a:t>Durée par tâche</a:t>
                      </a:r>
                    </a:p>
                  </a:txBody>
                  <a:tcPr marL="91440" marR="91440" marT="45720" marB="45720" anchor="ctr">
                    <a:lnR w="9525">
                      <a:solidFill>
                        <a:srgbClr val="D9DBDF"/>
                      </a:solidFill>
                      <a:prstDash val="solid"/>
                    </a:lnR>
                    <a:lnB w="9525">
                      <a:solidFill>
                        <a:srgbClr val="D9DBDF"/>
                      </a:solidFill>
                      <a:prstDash val="solid"/>
                    </a:lnB>
                    <a:solidFill>
                      <a:srgbClr val="FCEDF6"/>
                    </a:solidFill>
                  </a:tcPr>
                </a:tc>
              </a:tr>
              <a:tr h="833438">
                <a:tc>
                  <a:txBody>
                    <a:bodyPr wrap="square" lIns="133350" tIns="95250" rIns="133350" bIns="95250">
                      <a:noAutofit/>
                    </a:bodyPr>
                    <a:lstStyle/>
                    <a:p>
                      <a:pPr algn="l"/>
                      <a:r>
                        <a:rPr sz="1875" b="0">
                          <a:solidFill>
                            <a:srgbClr val="202124"/>
                          </a:solidFill>
                          <a:latin typeface="Arial"/>
                          <a:ea typeface="Arial"/>
                          <a:cs typeface="Arial"/>
                        </a:rPr>
                        <a:t>S4 et S5 à 1/2 en respect de mission</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l"/>
                      <a:r>
                        <a:rPr sz="1875" b="0">
                          <a:solidFill>
                            <a:srgbClr val="202124"/>
                          </a:solidFill>
                          <a:latin typeface="Arial"/>
                          <a:ea typeface="Arial"/>
                          <a:cs typeface="Arial"/>
                        </a:rPr>
                        <a:t>Vérifier les références et préciser l’angle</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l"/>
                      <a:r>
                        <a:rPr sz="1875" b="0">
                          <a:solidFill>
                            <a:srgbClr val="202124"/>
                          </a:solidFill>
                          <a:latin typeface="Arial"/>
                          <a:ea typeface="Arial"/>
                          <a:cs typeface="Arial"/>
                        </a:rPr>
                        <a:t>Notes et justification</a:t>
                      </a:r>
                    </a:p>
                  </a:txBody>
                  <a:tcPr marL="91440" marR="91440" marT="45720" marB="45720" anchor="ctr">
                    <a:lnR w="9525">
                      <a:solidFill>
                        <a:srgbClr val="D9DBDF"/>
                      </a:solidFill>
                      <a:prstDash val="solid"/>
                    </a:lnR>
                    <a:lnB w="9525">
                      <a:solidFill>
                        <a:srgbClr val="D9DBDF"/>
                      </a:solidFill>
                      <a:prstDash val="solid"/>
                    </a:lnB>
                    <a:solidFill>
                      <a:srgbClr val="FCEDF6"/>
                    </a:solidFill>
                  </a:tcPr>
                </a:tc>
              </a:tr>
              <a:tr h="833438">
                <a:tc>
                  <a:txBody>
                    <a:bodyPr wrap="square" lIns="133350" tIns="95250" rIns="133350" bIns="95250">
                      <a:noAutofit/>
                    </a:bodyPr>
                    <a:lstStyle/>
                    <a:p>
                      <a:pPr algn="l"/>
                      <a:r>
                        <a:rPr sz="1875" b="0">
                          <a:solidFill>
                            <a:srgbClr val="202124"/>
                          </a:solidFill>
                          <a:latin typeface="Arial"/>
                          <a:ea typeface="Arial"/>
                          <a:cs typeface="Arial"/>
                        </a:rPr>
                        <a:t>Un désaccord lexical sur vingt</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0EFFB"/>
                    </a:solidFill>
                  </a:tcPr>
                </a:tc>
                <a:tc>
                  <a:txBody>
                    <a:bodyPr wrap="square" lIns="133350" tIns="95250" rIns="133350" bIns="95250">
                      <a:noAutofit/>
                    </a:bodyPr>
                    <a:lstStyle/>
                    <a:p>
                      <a:pPr algn="l"/>
                      <a:r>
                        <a:rPr sz="1875" b="0">
                          <a:solidFill>
                            <a:srgbClr val="202124"/>
                          </a:solidFill>
                          <a:latin typeface="Arial"/>
                          <a:ea typeface="Arial"/>
                          <a:cs typeface="Arial"/>
                        </a:rPr>
                        <a:t>Versionner et tester les formulations</a:t>
                      </a:r>
                    </a:p>
                  </a:txBody>
                  <a:tcPr marL="91440" marR="91440" marT="45720" marB="45720" anchor="ctr">
                    <a:lnR w="9525">
                      <a:solidFill>
                        <a:srgbClr val="D9DBDF"/>
                      </a:solidFill>
                      <a:prstDash val="solid"/>
                    </a:lnR>
                    <a:lnB w="9525">
                      <a:solidFill>
                        <a:srgbClr val="D9DBDF"/>
                      </a:solidFill>
                      <a:prstDash val="solid"/>
                    </a:lnB>
                    <a:solidFill>
                      <a:srgbClr val="FFF4E2"/>
                    </a:solidFill>
                  </a:tcPr>
                </a:tc>
                <a:tc>
                  <a:txBody>
                    <a:bodyPr wrap="square" lIns="133350" tIns="95250" rIns="133350" bIns="95250">
                      <a:noAutofit/>
                    </a:bodyPr>
                    <a:lstStyle/>
                    <a:p>
                      <a:pPr algn="l"/>
                      <a:r>
                        <a:rPr sz="1875" b="0">
                          <a:solidFill>
                            <a:srgbClr val="202124"/>
                          </a:solidFill>
                          <a:latin typeface="Arial"/>
                          <a:ea typeface="Arial"/>
                          <a:cs typeface="Arial"/>
                        </a:rPr>
                        <a:t>Refus et désaccords tracés</a:t>
                      </a:r>
                    </a:p>
                  </a:txBody>
                  <a:tcPr marL="91440" marR="91440" marT="45720" marB="45720" anchor="ctr">
                    <a:lnR w="9525">
                      <a:solidFill>
                        <a:srgbClr val="D9DBDF"/>
                      </a:solidFill>
                      <a:prstDash val="solid"/>
                    </a:lnR>
                    <a:lnB w="9525">
                      <a:solidFill>
                        <a:srgbClr val="D9DBDF"/>
                      </a:solidFill>
                      <a:prstDash val="solid"/>
                    </a:lnB>
                    <a:solidFill>
                      <a:srgbClr val="FCEDF6"/>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208FF0F3-3AC9-446E-9B0D-CFEE82AB969A}"/>
              </a:ext>
            </a:extLst>
          </p:cNvPr>
          <p:cNvGraphicFramePr/>
          <p:nvPr/>
        </p:nvGraphicFramePr>
        <p:xfrm>
          <a:off xmlns:a="http://schemas.openxmlformats.org/drawingml/2006/main" x="533400" y="5334000"/>
          <a:ext xmlns:a="http://schemas.openxmlformats.org/drawingml/2006/main" cx="11125200" cy="904875"/>
        </p:xfrm>
        <a:graphic xmlns:a="http://schemas.openxmlformats.org/drawingml/2006/main">
          <a:graphicData uri="http://schemas.openxmlformats.org/drawingml/2006/table">
            <a:tbl>
              <a:tblPr/>
              <a:tblGrid>
                <a:gridCol w="11125200"/>
              </a:tblGrid>
              <a:tr h="333375">
                <a:tc>
                  <a:txBody>
                    <a:bodyPr lIns="133350" tIns="66675" rIns="133350" bIns="66675"/>
                    <a:lstStyle/>
                    <a:p>
                      <a:r>
                        <a:rPr sz="1650" b="1">
                          <a:solidFill>
                            <a:srgbClr val="202124"/>
                          </a:solidFill>
                          <a:latin typeface="Arial"/>
                          <a:ea typeface="Arial"/>
                          <a:cs typeface="Arial"/>
                        </a:rPr>
                        <a:t>Décision prudente</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r h="571500">
                <a:tc>
                  <a:txBody>
                    <a:bodyPr lIns="133350" tIns="66675" rIns="133350" bIns="66675"/>
                    <a:lstStyle/>
                    <a:p>
                      <a:r>
                        <a:rPr sz="1800" b="0">
                          <a:solidFill>
                            <a:srgbClr val="202124"/>
                          </a:solidFill>
                          <a:latin typeface="Arial"/>
                          <a:ea typeface="Arial"/>
                          <a:cs typeface="Arial"/>
                        </a:rPr>
                        <a:t>La campagne décrit ce workflow local. Elle ne désigne pas de température universellement supérieure.</a:t>
                      </a:r>
                    </a:p>
                  </a:txBody>
                  <a:tcPr marL="91440" marR="91440" marT="45720" marB="45720" anchor="ctr">
                    <a:lnL w="5715">
                      <a:solidFill>
                        <a:srgbClr val="D9DBDF"/>
                      </a:solidFill>
                    </a:lnL>
                    <a:lnR w="5715">
                      <a:solidFill>
                        <a:srgbClr val="D9DBDF"/>
                      </a:solidFill>
                    </a:lnR>
                    <a:lnB w="5715">
                      <a:solidFill>
                        <a:srgbClr val="D9DBDF"/>
                      </a:solidFill>
                    </a:lnB>
                    <a:solidFill>
                      <a:srgbClr val="F3EEFA"/>
                    </a:solidFill>
                  </a:tcPr>
                </a:tc>
              </a:tr>
            </a:tbl>
          </a:graphicData>
        </a:graphic>
      </p:graphicFrame>
    </p:spTree>
    <p:extLst>
      <p:ext uri="{BB962C8B-B14F-4D97-AF65-F5344CB8AC3E}">
        <p14:creationId xmlns:p14="http://schemas.microsoft.com/office/powerpoint/2010/main" val="156489343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D23D64-DE35-4961-BD71-C72BA0C42300}"/>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Démonstration et limites de remise</a:t>
            </a:r>
          </a:p>
        </p:txBody>
      </p:sp>
      <p:sp>
        <p:nvSpPr>
          <p:cNvPr id="2" name="">
            <a:extLst xmlns:a="http://schemas.openxmlformats.org/drawingml/2006/main">
              <a:ext uri="{FF2B5EF4-FFF2-40B4-BE49-F238E27FC236}">
                <a16:creationId xmlns:a16="http://schemas.microsoft.com/office/drawing/2014/main" id="{979EBCAF-DA1B-494A-85D0-281C8FF75FED}"/>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Une relecture annoncée d’exécutions réelles</a:t>
            </a:r>
          </a:p>
        </p:txBody>
      </p:sp>
      <p:sp>
        <p:nvSpPr>
          <p:cNvPr id="3" name="">
            <a:extLst xmlns:a="http://schemas.openxmlformats.org/drawingml/2006/main">
              <a:ext uri="{FF2B5EF4-FFF2-40B4-BE49-F238E27FC236}">
                <a16:creationId xmlns:a16="http://schemas.microsoft.com/office/drawing/2014/main" id="{803C5F96-5B63-4D48-BC1F-81E147A7835C}"/>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AF8E8705-E638-472D-8A3B-993DB77A6C78}"/>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40288B69-6676-486C-A15B-86B515D5BA5B}"/>
              </a:ext>
            </a:extLst>
          </p:cNvPr>
          <p:cNvGraphicFramePr/>
          <p:nvPr/>
        </p:nvGraphicFramePr>
        <p:xfrm>
          <a:off xmlns:a="http://schemas.openxmlformats.org/drawingml/2006/main" x="533400" y="1666875"/>
          <a:ext xmlns:a="http://schemas.openxmlformats.org/drawingml/2006/main" cx="11125200" cy="2857500"/>
        </p:xfrm>
        <a:graphic xmlns:a="http://schemas.openxmlformats.org/drawingml/2006/main">
          <a:graphicData uri="http://schemas.openxmlformats.org/drawingml/2006/table">
            <a:tbl>
              <a:tblPr firstRow="0" bandRow="0"/>
              <a:tblGrid>
                <a:gridCol w="3333750"/>
                <a:gridCol w="7791450"/>
              </a:tblGrid>
              <a:tr h="571500">
                <a:tc>
                  <a:txBody>
                    <a:bodyPr wrap="square" lIns="133350" tIns="95250" rIns="133350" bIns="95250">
                      <a:noAutofit/>
                    </a:bodyPr>
                    <a:lstStyle/>
                    <a:p>
                      <a:pPr algn="l"/>
                      <a:r>
                        <a:rPr sz="1950" b="1">
                          <a:solidFill>
                            <a:srgbClr val="202124"/>
                          </a:solidFill>
                          <a:latin typeface="Arial"/>
                          <a:ea typeface="Arial"/>
                          <a:cs typeface="Arial"/>
                        </a:rPr>
                        <a:t>Parcours</a:t>
                      </a:r>
                    </a:p>
                  </a:txBody>
                  <a:tcPr marL="91440" marR="91440" marT="45720" marB="45720" anchor="ctr">
                    <a:lnL w="9525">
                      <a:solidFill>
                        <a:srgbClr val="D9DBDF"/>
                      </a:solidFill>
                      <a:prstDash val="solid"/>
                    </a:lnL>
                    <a:lnR w="9525">
                      <a:solidFill>
                        <a:srgbClr val="D9DBDF"/>
                      </a:solidFill>
                      <a:prstDash val="solid"/>
                    </a:lnR>
                    <a:lnT w="9525">
                      <a:solidFill>
                        <a:srgbClr val="D9DBDF"/>
                      </a:solidFill>
                      <a:prstDash val="solid"/>
                    </a:lnT>
                    <a:lnB w="9525">
                      <a:solidFill>
                        <a:srgbClr val="D9DBDF"/>
                      </a:solidFill>
                      <a:prstDash val="solid"/>
                    </a:lnB>
                    <a:solidFill>
                      <a:srgbClr val="B4AFF0"/>
                    </a:solidFill>
                  </a:tcPr>
                </a:tc>
                <a:tc>
                  <a:txBody>
                    <a:bodyPr wrap="square" lIns="133350" tIns="95250" rIns="133350" bIns="95250">
                      <a:noAutofit/>
                    </a:bodyPr>
                    <a:lstStyle/>
                    <a:p>
                      <a:pPr algn="l"/>
                      <a:r>
                        <a:rPr sz="1950" b="1">
                          <a:solidFill>
                            <a:srgbClr val="202124"/>
                          </a:solidFill>
                          <a:latin typeface="Arial"/>
                          <a:ea typeface="Arial"/>
                          <a:cs typeface="Arial"/>
                        </a:rPr>
                        <a:t>Preuve à montrer</a:t>
                      </a:r>
                    </a:p>
                  </a:txBody>
                  <a:tcPr marL="91440" marR="91440" marT="45720" marB="45720" anchor="ctr">
                    <a:lnR w="9525">
                      <a:solidFill>
                        <a:srgbClr val="D9DBDF"/>
                      </a:solidFill>
                      <a:prstDash val="solid"/>
                    </a:lnR>
                    <a:lnT w="9525">
                      <a:solidFill>
                        <a:srgbClr val="D9DBDF"/>
                      </a:solidFill>
                      <a:prstDash val="solid"/>
                    </a:lnT>
                    <a:lnB w="9525">
                      <a:solidFill>
                        <a:srgbClr val="D9DBDF"/>
                      </a:solidFill>
                      <a:prstDash val="solid"/>
                    </a:lnB>
                    <a:solidFill>
                      <a:srgbClr val="F4CD91"/>
                    </a:solidFill>
                  </a:tcPr>
                </a:tc>
              </a:tr>
              <a:tr h="571500">
                <a:tc>
                  <a:txBody>
                    <a:bodyPr wrap="square" lIns="133350" tIns="95250" rIns="133350" bIns="95250">
                      <a:noAutofit/>
                    </a:bodyPr>
                    <a:lstStyle/>
                    <a:p>
                      <a:pPr algn="l"/>
                      <a:r>
                        <a:rPr sz="1950" b="0">
                          <a:solidFill>
                            <a:srgbClr val="202124"/>
                          </a:solidFill>
                          <a:latin typeface="Arial"/>
                          <a:ea typeface="Arial"/>
                          <a:cs typeface="Arial"/>
                        </a:rPr>
                        <a:t>1. Rapport vidéo</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950" b="0">
                          <a:solidFill>
                            <a:srgbClr val="202124"/>
                          </a:solidFill>
                          <a:latin typeface="Arial"/>
                          <a:ea typeface="Arial"/>
                          <a:cs typeface="Arial"/>
                        </a:rPr>
                        <a:t>Deux classements et valeurs absentes</a:t>
                      </a:r>
                    </a:p>
                  </a:txBody>
                  <a:tcPr marL="91440" marR="91440" marT="45720" marB="45720" anchor="ctr">
                    <a:lnR w="9525">
                      <a:solidFill>
                        <a:srgbClr val="D9DBDF"/>
                      </a:solidFill>
                      <a:prstDash val="solid"/>
                    </a:lnR>
                    <a:lnB w="9525">
                      <a:solidFill>
                        <a:srgbClr val="D9DBDF"/>
                      </a:solidFill>
                      <a:prstDash val="solid"/>
                    </a:lnB>
                    <a:solidFill>
                      <a:srgbClr val="FFFFFF"/>
                    </a:solidFill>
                  </a:tcPr>
                </a:tc>
              </a:tr>
              <a:tr h="571500">
                <a:tc>
                  <a:txBody>
                    <a:bodyPr wrap="square" lIns="133350" tIns="95250" rIns="133350" bIns="95250">
                      <a:noAutofit/>
                    </a:bodyPr>
                    <a:lstStyle/>
                    <a:p>
                      <a:pPr algn="l"/>
                      <a:r>
                        <a:rPr sz="1950" b="0">
                          <a:solidFill>
                            <a:srgbClr val="202124"/>
                          </a:solidFill>
                          <a:latin typeface="Arial"/>
                          <a:ea typeface="Arial"/>
                          <a:cs typeface="Arial"/>
                        </a:rPr>
                        <a:t>2. Campagne</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950" b="0">
                          <a:solidFill>
                            <a:srgbClr val="202124"/>
                          </a:solidFill>
                          <a:latin typeface="Arial"/>
                          <a:ea typeface="Arial"/>
                          <a:cs typeface="Arial"/>
                        </a:rPr>
                        <a:t>20 traces et 20 évaluations</a:t>
                      </a:r>
                    </a:p>
                  </a:txBody>
                  <a:tcPr marL="91440" marR="91440" marT="45720" marB="45720" anchor="ctr">
                    <a:lnR w="9525">
                      <a:solidFill>
                        <a:srgbClr val="D9DBDF"/>
                      </a:solidFill>
                      <a:prstDash val="solid"/>
                    </a:lnR>
                    <a:lnB w="9525">
                      <a:solidFill>
                        <a:srgbClr val="D9DBDF"/>
                      </a:solidFill>
                      <a:prstDash val="solid"/>
                    </a:lnB>
                    <a:solidFill>
                      <a:srgbClr val="FFFFFF"/>
                    </a:solidFill>
                  </a:tcPr>
                </a:tc>
              </a:tr>
              <a:tr h="571500">
                <a:tc>
                  <a:txBody>
                    <a:bodyPr wrap="square" lIns="133350" tIns="95250" rIns="133350" bIns="95250">
                      <a:noAutofit/>
                    </a:bodyPr>
                    <a:lstStyle/>
                    <a:p>
                      <a:pPr algn="l"/>
                      <a:r>
                        <a:rPr sz="1950" b="0">
                          <a:solidFill>
                            <a:srgbClr val="202124"/>
                          </a:solidFill>
                          <a:latin typeface="Arial"/>
                          <a:ea typeface="Arial"/>
                          <a:cs typeface="Arial"/>
                        </a:rPr>
                        <a:t>3. Filtres</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950" b="0">
                          <a:solidFill>
                            <a:srgbClr val="202124"/>
                          </a:solidFill>
                          <a:latin typeface="Arial"/>
                          <a:ea typeface="Arial"/>
                          <a:cs typeface="Arial"/>
                        </a:rPr>
                        <a:t>Scénario, état et configuration</a:t>
                      </a:r>
                    </a:p>
                  </a:txBody>
                  <a:tcPr marL="91440" marR="91440" marT="45720" marB="45720" anchor="ctr">
                    <a:lnR w="9525">
                      <a:solidFill>
                        <a:srgbClr val="D9DBDF"/>
                      </a:solidFill>
                      <a:prstDash val="solid"/>
                    </a:lnR>
                    <a:lnB w="9525">
                      <a:solidFill>
                        <a:srgbClr val="D9DBDF"/>
                      </a:solidFill>
                      <a:prstDash val="solid"/>
                    </a:lnB>
                    <a:solidFill>
                      <a:srgbClr val="FFFFFF"/>
                    </a:solidFill>
                  </a:tcPr>
                </a:tc>
              </a:tr>
              <a:tr h="571500">
                <a:tc>
                  <a:txBody>
                    <a:bodyPr wrap="square" lIns="133350" tIns="95250" rIns="133350" bIns="95250">
                      <a:noAutofit/>
                    </a:bodyPr>
                    <a:lstStyle/>
                    <a:p>
                      <a:pPr algn="l"/>
                      <a:r>
                        <a:rPr sz="1950" b="0">
                          <a:solidFill>
                            <a:srgbClr val="202124"/>
                          </a:solidFill>
                          <a:latin typeface="Arial"/>
                          <a:ea typeface="Arial"/>
                          <a:cs typeface="Arial"/>
                        </a:rPr>
                        <a:t>4. Essai 19</a:t>
                      </a:r>
                    </a:p>
                  </a:txBody>
                  <a:tcPr marL="91440" marR="91440" marT="45720" marB="45720" anchor="ctr">
                    <a:lnL w="9525">
                      <a:solidFill>
                        <a:srgbClr val="D9DBDF"/>
                      </a:solidFill>
                      <a:prstDash val="solid"/>
                    </a:lnL>
                    <a:lnR w="9525">
                      <a:solidFill>
                        <a:srgbClr val="D9DBDF"/>
                      </a:solidFill>
                      <a:prstDash val="solid"/>
                    </a:lnR>
                    <a:lnB w="9525">
                      <a:solidFill>
                        <a:srgbClr val="D9DBDF"/>
                      </a:solidFill>
                      <a:prstDash val="solid"/>
                    </a:lnB>
                    <a:solidFill>
                      <a:srgbClr val="FFFFFF"/>
                    </a:solidFill>
                  </a:tcPr>
                </a:tc>
                <a:tc>
                  <a:txBody>
                    <a:bodyPr wrap="square" lIns="133350" tIns="95250" rIns="133350" bIns="95250">
                      <a:noAutofit/>
                    </a:bodyPr>
                    <a:lstStyle/>
                    <a:p>
                      <a:pPr algn="l"/>
                      <a:r>
                        <a:rPr sz="1950" b="0">
                          <a:solidFill>
                            <a:srgbClr val="202124"/>
                          </a:solidFill>
                          <a:latin typeface="Arial"/>
                          <a:ea typeface="Arial"/>
                          <a:cs typeface="Arial"/>
                        </a:rPr>
                        <a:t>Contrôle refusé et désaccord documenté</a:t>
                      </a:r>
                    </a:p>
                  </a:txBody>
                  <a:tcPr marL="91440" marR="91440" marT="45720" marB="45720" anchor="ctr">
                    <a:lnR w="9525">
                      <a:solidFill>
                        <a:srgbClr val="D9DBDF"/>
                      </a:solidFill>
                      <a:prstDash val="solid"/>
                    </a:lnR>
                    <a:lnB w="9525">
                      <a:solidFill>
                        <a:srgbClr val="D9DBDF"/>
                      </a:solidFill>
                      <a:prstDash val="solid"/>
                    </a:lnB>
                    <a:solidFill>
                      <a:srgbClr val="FFFFFF"/>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DBAB71F3-F54C-47E4-B5A1-6E843FC41B0D}"/>
              </a:ext>
            </a:extLst>
          </p:cNvPr>
          <p:cNvGraphicFramePr/>
          <p:nvPr/>
        </p:nvGraphicFramePr>
        <p:xfrm>
          <a:off xmlns:a="http://schemas.openxmlformats.org/drawingml/2006/main" x="533400" y="5048250"/>
          <a:ext xmlns:a="http://schemas.openxmlformats.org/drawingml/2006/main" cx="11125200" cy="904875"/>
        </p:xfrm>
        <a:graphic xmlns:a="http://schemas.openxmlformats.org/drawingml/2006/main">
          <a:graphicData uri="http://schemas.openxmlformats.org/drawingml/2006/table">
            <a:tbl>
              <a:tblPr/>
              <a:tblGrid>
                <a:gridCol w="11125200"/>
              </a:tblGrid>
              <a:tr h="333375">
                <a:tc>
                  <a:txBody>
                    <a:bodyPr lIns="133350" tIns="66675" rIns="133350" bIns="66675"/>
                    <a:lstStyle/>
                    <a:p>
                      <a:r>
                        <a:rPr sz="1650" b="1">
                          <a:solidFill>
                            <a:srgbClr val="202124"/>
                          </a:solidFill>
                          <a:latin typeface="Arial"/>
                          <a:ea typeface="Arial"/>
                          <a:cs typeface="Arial"/>
                        </a:rPr>
                        <a:t>Limites à déclarer</a:t>
                      </a:r>
                    </a:p>
                  </a:txBody>
                  <a:tcPr marL="91440" marR="91440" marT="45720" marB="45720" anchor="ctr">
                    <a:lnL w="5715">
                      <a:solidFill>
                        <a:srgbClr val="D9DBDF"/>
                      </a:solidFill>
                    </a:lnL>
                    <a:lnR w="5715">
                      <a:solidFill>
                        <a:srgbClr val="D9DBDF"/>
                      </a:solidFill>
                    </a:lnR>
                    <a:lnT w="5715">
                      <a:solidFill>
                        <a:srgbClr val="D9DBDF"/>
                      </a:solidFill>
                    </a:lnT>
                    <a:lnB w="5715">
                      <a:solidFill>
                        <a:srgbClr val="D9DBDF"/>
                      </a:solidFill>
                    </a:lnB>
                    <a:solidFill>
                      <a:srgbClr val="ECEEEF"/>
                    </a:solidFill>
                  </a:tcPr>
                </a:tc>
              </a:tr>
              <a:tr h="571500">
                <a:tc>
                  <a:txBody>
                    <a:bodyPr lIns="133350" tIns="66675" rIns="133350" bIns="66675"/>
                    <a:lstStyle/>
                    <a:p>
                      <a:r>
                        <a:rPr sz="1800" b="0">
                          <a:solidFill>
                            <a:srgbClr val="202124"/>
                          </a:solidFill>
                          <a:latin typeface="Arial"/>
                          <a:ea typeface="Arial"/>
                          <a:cs typeface="Arial"/>
                        </a:rPr>
                        <a:t>Résumé AgentOps après exécution. Énergie non chiffrée. Travail individuel à confirmer avec l’enseignant.</a:t>
                      </a:r>
                    </a:p>
                  </a:txBody>
                  <a:tcPr marL="91440" marR="91440" marT="45720" marB="45720" anchor="ctr">
                    <a:lnL w="5715">
                      <a:solidFill>
                        <a:srgbClr val="D9DBDF"/>
                      </a:solidFill>
                    </a:lnL>
                    <a:lnR w="5715">
                      <a:solidFill>
                        <a:srgbClr val="D9DBDF"/>
                      </a:solidFill>
                    </a:lnR>
                    <a:lnB w="5715">
                      <a:solidFill>
                        <a:srgbClr val="D9DBDF"/>
                      </a:solidFill>
                    </a:lnB>
                    <a:solidFill>
                      <a:srgbClr val="FCEDF6"/>
                    </a:solidFill>
                  </a:tcPr>
                </a:tc>
              </a:tr>
            </a:tbl>
          </a:graphicData>
        </a:graphic>
      </p:graphicFrame>
    </p:spTree>
    <p:extLst>
      <p:ext uri="{BB962C8B-B14F-4D97-AF65-F5344CB8AC3E}">
        <p14:creationId xmlns:p14="http://schemas.microsoft.com/office/powerpoint/2010/main" val="12907494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266884-F084-400A-A774-6CA92A8C53C2}"/>
              </a:ext>
            </a:extLst>
          </p:cNvPr>
          <p:cNvSpPr>
            <a:spLocks xmlns:a="http://schemas.openxmlformats.org/drawingml/2006/main" noGrp="1"/>
          </p:cNvSpPr>
          <p:nvPr/>
        </p:nvSpPr>
        <p:spPr>
          <a:xfrm xmlns:a="http://schemas.openxmlformats.org/drawingml/2006/main">
            <a:off x="533400" y="304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02124"/>
                </a:solidFill>
                <a:latin typeface="Arial"/>
                <a:ea typeface="Arial"/>
                <a:cs typeface="Arial"/>
              </a:defRPr>
            </a:defPPr>
          </a:lstStyle>
          <a:p xmlns:a="http://schemas.openxmlformats.org/drawingml/2006/main">
            <a:pPr algn="l">
              <a:defRPr sz="3150" b="1">
                <a:solidFill>
                  <a:srgbClr val="202124"/>
                </a:solidFill>
                <a:latin typeface="Arial"/>
                <a:ea typeface="Arial"/>
                <a:cs typeface="Arial"/>
              </a:defRPr>
            </a:pPr>
            <a:r>
              <a:rPr sz="3150" b="1">
                <a:solidFill>
                  <a:srgbClr val="202124"/>
                </a:solidFill>
                <a:latin typeface="Arial"/>
                <a:ea typeface="Arial"/>
                <a:cs typeface="Arial"/>
              </a:rPr>
              <a:t>AgentOps reçoit le résumé du pilote</a:t>
            </a:r>
          </a:p>
        </p:txBody>
      </p:sp>
      <p:sp>
        <p:nvSpPr>
          <p:cNvPr id="2" name="">
            <a:extLst xmlns:a="http://schemas.openxmlformats.org/drawingml/2006/main">
              <a:ext uri="{FF2B5EF4-FFF2-40B4-BE49-F238E27FC236}">
                <a16:creationId xmlns:a16="http://schemas.microsoft.com/office/drawing/2014/main" id="{72E6AB8E-0017-45EC-AC3C-7CCE0F991AA1}"/>
              </a:ext>
            </a:extLst>
          </p:cNvPr>
          <p:cNvSpPr>
            <a:spLocks xmlns:a="http://schemas.openxmlformats.org/drawingml/2006/main" noGrp="1"/>
          </p:cNvSpPr>
          <p:nvPr/>
        </p:nvSpPr>
        <p:spPr>
          <a:xfrm xmlns:a="http://schemas.openxmlformats.org/drawingml/2006/main">
            <a:off x="533400" y="952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Réception vérifiée le 16 octobre 2026 à 22 h 54</a:t>
            </a:r>
          </a:p>
        </p:txBody>
      </p:sp>
      <p:sp>
        <p:nvSpPr>
          <p:cNvPr id="3" name="">
            <a:extLst xmlns:a="http://schemas.openxmlformats.org/drawingml/2006/main">
              <a:ext uri="{FF2B5EF4-FFF2-40B4-BE49-F238E27FC236}">
                <a16:creationId xmlns:a16="http://schemas.microsoft.com/office/drawing/2014/main" id="{7720FF00-E709-4377-8584-BA1FD2BC51ED}"/>
              </a:ext>
            </a:extLst>
          </p:cNvPr>
          <p:cNvSpPr>
            <a:spLocks xmlns:a="http://schemas.openxmlformats.org/drawingml/2006/main" noGrp="1"/>
          </p:cNvSpPr>
          <p:nvPr/>
        </p:nvSpPr>
        <p:spPr>
          <a:xfrm xmlns:a="http://schemas.openxmlformats.org/drawingml/2006/main">
            <a:off x="533400" y="64389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0555A"/>
                </a:solidFill>
                <a:latin typeface="Arial"/>
                <a:ea typeface="Arial"/>
                <a:cs typeface="Arial"/>
              </a:defRPr>
            </a:defPPr>
          </a:lstStyle>
          <a:p xmlns:a="http://schemas.openxmlformats.org/drawingml/2006/main">
            <a:pPr algn="l">
              <a:defRPr sz="1200" b="0">
                <a:solidFill>
                  <a:srgbClr val="50555A"/>
                </a:solidFill>
                <a:latin typeface="Arial"/>
                <a:ea typeface="Arial"/>
                <a:cs typeface="Arial"/>
              </a:defRPr>
            </a:pPr>
            <a:r>
              <a:rPr sz="1200" b="0">
                <a:solidFill>
                  <a:srgbClr val="50555A"/>
                </a:solidFill>
                <a:latin typeface="Arial"/>
                <a:ea typeface="Arial"/>
                <a:cs typeface="Arial"/>
              </a:rPr>
              <a:t>CLAUD·IA   16 octobre 2026</a:t>
            </a:r>
          </a:p>
        </p:txBody>
      </p:sp>
      <p:sp>
        <p:nvSpPr>
          <p:cNvPr id="4" name="">
            <a:extLst xmlns:a="http://schemas.openxmlformats.org/drawingml/2006/main">
              <a:ext uri="{FF2B5EF4-FFF2-40B4-BE49-F238E27FC236}">
                <a16:creationId xmlns:a16="http://schemas.microsoft.com/office/drawing/2014/main" id="{835BAD18-5CA8-4EB2-A1CB-1865E897EA87}"/>
              </a:ext>
            </a:extLst>
          </p:cNvPr>
          <p:cNvSpPr>
            <a:spLocks xmlns:a="http://schemas.openxmlformats.org/drawingml/2006/main" noGrp="1"/>
          </p:cNvSpPr>
          <p:nvPr/>
        </p:nvSpPr>
        <p:spPr>
          <a:xfrm xmlns:a="http://schemas.openxmlformats.org/drawingml/2006/main">
            <a:off x="11096625" y="6438900"/>
            <a:ext cx="561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50555A"/>
                </a:solidFill>
                <a:latin typeface="Arial"/>
                <a:ea typeface="Arial"/>
                <a:cs typeface="Arial"/>
              </a:defRPr>
            </a:defPPr>
          </a:lstStyle>
          <a:p xmlns:a="http://schemas.openxmlformats.org/drawingml/2006/main">
            <a:pPr algn="r">
              <a:defRPr sz="1200" b="0">
                <a:solidFill>
                  <a:srgbClr val="50555A"/>
                </a:solidFill>
                <a:latin typeface="Arial"/>
                <a:ea typeface="Arial"/>
                <a:cs typeface="Arial"/>
              </a:defRPr>
            </a:pPr>
            <a:r>
              <a:rPr sz="1200" b="0">
                <a:solidFill>
                  <a:srgbClr val="50555A"/>
                </a:solidFill>
                <a:latin typeface="Arial"/>
                <a:ea typeface="Arial"/>
                <a:cs typeface="Arial"/>
              </a:rPr>
              <a:t>15</a:t>
            </a:r>
          </a:p>
        </p:txBody>
      </p:sp>
      <p:pic>
        <p:nvPicPr>
          <p:cNvPr id="5" name="">
            <a:extLst xmlns:a="http://schemas.openxmlformats.org/drawingml/2006/main">
              <a:ext uri="{FF2B5EF4-FFF2-40B4-BE49-F238E27FC236}">
                <a16:creationId xmlns:a16="http://schemas.microsoft.com/office/drawing/2014/main" id="{CF7962AC-59D7-4E9D-B0CA-42ADE70875B8}"/>
              </a:ext>
            </a:extLst>
          </p:cNvPr>
          <p:cNvPicPr>
            <a:picLocks xmlns:a="http://schemas.openxmlformats.org/drawingml/2006/main" noChangeAspect="1"/>
          </p:cNvPicPr>
          <p:nvPr/>
        </p:nvPicPr>
        <p:blipFill>
          <a:blip xmlns:r="http://schemas.openxmlformats.org/officeDocument/2006/relationships" xmlns:a="http://schemas.openxmlformats.org/drawingml/2006/main" r:embed="R540555a9cdd24056"/>
          <a:stretch xmlns:a="http://schemas.openxmlformats.org/drawingml/2006/main"/>
        </p:blipFill>
        <p:spPr>
          <a:xfrm xmlns:a="http://schemas.openxmlformats.org/drawingml/2006/main">
            <a:off x="549919" y="1552575"/>
            <a:ext cx="8539462" cy="4429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E5FE26A-1D8D-4BB3-9C65-FA7E96AC8EDE}"/>
              </a:ext>
            </a:extLst>
          </p:cNvPr>
          <p:cNvSpPr>
            <a:spLocks xmlns:a="http://schemas.openxmlformats.org/drawingml/2006/main" noGrp="1"/>
          </p:cNvSpPr>
          <p:nvPr/>
        </p:nvSpPr>
        <p:spPr>
          <a:xfrm xmlns:a="http://schemas.openxmlformats.org/drawingml/2006/main">
            <a:off x="9334500" y="1685925"/>
            <a:ext cx="228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124"/>
                </a:solidFill>
                <a:latin typeface="Arial"/>
                <a:ea typeface="Arial"/>
                <a:cs typeface="Arial"/>
              </a:defRPr>
            </a:defPPr>
          </a:lstStyle>
          <a:p xmlns:a="http://schemas.openxmlformats.org/drawingml/2006/main">
            <a:pPr algn="l">
              <a:defRPr sz="2025" b="1">
                <a:solidFill>
                  <a:srgbClr val="202124"/>
                </a:solidFill>
                <a:latin typeface="Arial"/>
                <a:ea typeface="Arial"/>
                <a:cs typeface="Arial"/>
              </a:defRPr>
            </a:pPr>
            <a:r>
              <a:rPr sz="2025" b="1">
                <a:solidFill>
                  <a:srgbClr val="202124"/>
                </a:solidFill>
                <a:latin typeface="Arial"/>
                <a:ea typeface="Arial"/>
                <a:cs typeface="Arial"/>
              </a:rPr>
              <a:t>6 spans reçus</a:t>
            </a:r>
          </a:p>
          <a:p xmlns:a="http://schemas.openxmlformats.org/drawingml/2006/main">
            <a:pPr algn="l">
              <a:defRPr sz="2025" b="1">
                <a:solidFill>
                  <a:srgbClr val="202124"/>
                </a:solidFill>
                <a:latin typeface="Arial"/>
                <a:ea typeface="Arial"/>
                <a:cs typeface="Arial"/>
              </a:defRPr>
            </a:pPr>
            <a:r>
              <a:rPr sz="2025" b="1">
                <a:solidFill>
                  <a:srgbClr val="202124"/>
                </a:solidFill>
                <a:latin typeface="Arial"/>
                <a:ea typeface="Arial"/>
                <a:cs typeface="Arial"/>
              </a:rPr>
              <a:t>1 session et</a:t>
            </a:r>
          </a:p>
          <a:p xmlns:a="http://schemas.openxmlformats.org/drawingml/2006/main">
            <a:pPr algn="l">
              <a:defRPr sz="2025" b="1">
                <a:solidFill>
                  <a:srgbClr val="202124"/>
                </a:solidFill>
                <a:latin typeface="Arial"/>
                <a:ea typeface="Arial"/>
                <a:cs typeface="Arial"/>
              </a:defRPr>
            </a:pPr>
            <a:r>
              <a:rPr sz="2025" b="1">
                <a:solidFill>
                  <a:srgbClr val="202124"/>
                </a:solidFill>
                <a:latin typeface="Arial"/>
                <a:ea typeface="Arial"/>
                <a:cs typeface="Arial"/>
              </a:rPr>
              <a:t>5 étapes</a:t>
            </a:r>
          </a:p>
        </p:txBody>
      </p:sp>
      <p:sp>
        <p:nvSpPr>
          <p:cNvPr id="7" name="">
            <a:extLst xmlns:a="http://schemas.openxmlformats.org/drawingml/2006/main">
              <a:ext uri="{FF2B5EF4-FFF2-40B4-BE49-F238E27FC236}">
                <a16:creationId xmlns:a16="http://schemas.microsoft.com/office/drawing/2014/main" id="{FA16AE60-BB2B-45F1-804B-D8BDF35DC072}"/>
              </a:ext>
            </a:extLst>
          </p:cNvPr>
          <p:cNvSpPr>
            <a:spLocks xmlns:a="http://schemas.openxmlformats.org/drawingml/2006/main" noGrp="1"/>
          </p:cNvSpPr>
          <p:nvPr/>
        </p:nvSpPr>
        <p:spPr>
          <a:xfrm xmlns:a="http://schemas.openxmlformats.org/drawingml/2006/main">
            <a:off x="9334500" y="3095625"/>
            <a:ext cx="2286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202124"/>
                </a:solidFill>
                <a:latin typeface="Arial"/>
                <a:ea typeface="Arial"/>
                <a:cs typeface="Arial"/>
              </a:defRPr>
            </a:defPPr>
          </a:lstStyle>
          <a:p xmlns:a="http://schemas.openxmlformats.org/drawingml/2006/main">
            <a:pPr algn="l">
              <a:defRPr sz="1875" b="0">
                <a:solidFill>
                  <a:srgbClr val="202124"/>
                </a:solidFill>
                <a:latin typeface="Arial"/>
                <a:ea typeface="Arial"/>
                <a:cs typeface="Arial"/>
              </a:defRPr>
            </a:pPr>
            <a:r>
              <a:rPr sz="1875" b="0">
                <a:solidFill>
                  <a:srgbClr val="202124"/>
                </a:solidFill>
                <a:latin typeface="Arial"/>
                <a:ea typeface="Arial"/>
                <a:cs typeface="Arial"/>
              </a:rPr>
              <a:t>Pilote local</a:t>
            </a:r>
          </a:p>
          <a:p xmlns:a="http://schemas.openxmlformats.org/drawingml/2006/main">
            <a:pPr algn="l">
              <a:defRPr sz="1875" b="0">
                <a:solidFill>
                  <a:srgbClr val="202124"/>
                </a:solidFill>
                <a:latin typeface="Arial"/>
                <a:ea typeface="Arial"/>
                <a:cs typeface="Arial"/>
              </a:defRPr>
            </a:pPr>
            <a:r>
              <a:rPr sz="1875" b="0">
                <a:solidFill>
                  <a:srgbClr val="202124"/>
                </a:solidFill>
                <a:latin typeface="Arial"/>
                <a:ea typeface="Arial"/>
                <a:cs typeface="Arial"/>
              </a:rPr>
              <a:t>179,26 s</a:t>
            </a:r>
          </a:p>
          <a:p xmlns:a="http://schemas.openxmlformats.org/drawingml/2006/main">
            <a:pPr algn="l">
              <a:defRPr sz="1875" b="0">
                <a:solidFill>
                  <a:srgbClr val="202124"/>
                </a:solidFill>
                <a:latin typeface="Arial"/>
                <a:ea typeface="Arial"/>
                <a:cs typeface="Arial"/>
              </a:defRPr>
            </a:pPr>
            <a:r>
              <a:rPr sz="1875" b="0">
                <a:solidFill>
                  <a:srgbClr val="202124"/>
                </a:solidFill>
                <a:latin typeface="Arial"/>
                <a:ea typeface="Arial"/>
                <a:cs typeface="Arial"/>
              </a:rPr>
              <a:t>5 appels modèle</a:t>
            </a:r>
          </a:p>
          <a:p xmlns:a="http://schemas.openxmlformats.org/drawingml/2006/main">
            <a:pPr algn="l">
              <a:defRPr sz="1875" b="0">
                <a:solidFill>
                  <a:srgbClr val="202124"/>
                </a:solidFill>
                <a:latin typeface="Arial"/>
                <a:ea typeface="Arial"/>
                <a:cs typeface="Arial"/>
              </a:defRPr>
            </a:pPr>
            <a:r>
              <a:rPr sz="1875" b="0">
                <a:solidFill>
                  <a:srgbClr val="202124"/>
                </a:solidFill>
                <a:latin typeface="Arial"/>
                <a:ea typeface="Arial"/>
                <a:cs typeface="Arial"/>
              </a:rPr>
              <a:t>3 appels outils</a:t>
            </a:r>
          </a:p>
        </p:txBody>
      </p:sp>
      <p:sp>
        <p:nvSpPr>
          <p:cNvPr id="8" name="">
            <a:extLst xmlns:a="http://schemas.openxmlformats.org/drawingml/2006/main">
              <a:ext uri="{FF2B5EF4-FFF2-40B4-BE49-F238E27FC236}">
                <a16:creationId xmlns:a16="http://schemas.microsoft.com/office/drawing/2014/main" id="{B544C273-9C76-4E9C-BE9E-587FCE0A1C8B}"/>
              </a:ext>
            </a:extLst>
          </p:cNvPr>
          <p:cNvSpPr>
            <a:spLocks xmlns:a="http://schemas.openxmlformats.org/drawingml/2006/main" noGrp="1"/>
          </p:cNvSpPr>
          <p:nvPr/>
        </p:nvSpPr>
        <p:spPr>
          <a:xfrm xmlns:a="http://schemas.openxmlformats.org/drawingml/2006/main">
            <a:off x="9334500" y="4762500"/>
            <a:ext cx="228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0555A"/>
                </a:solidFill>
                <a:latin typeface="Arial"/>
                <a:ea typeface="Arial"/>
                <a:cs typeface="Arial"/>
              </a:defRPr>
            </a:defPPr>
          </a:lstStyle>
          <a:p xmlns:a="http://schemas.openxmlformats.org/drawingml/2006/main">
            <a:pPr algn="l">
              <a:defRPr sz="1725" b="0">
                <a:solidFill>
                  <a:srgbClr val="50555A"/>
                </a:solidFill>
                <a:latin typeface="Arial"/>
                <a:ea typeface="Arial"/>
                <a:cs typeface="Arial"/>
              </a:defRPr>
            </a:pPr>
            <a:r>
              <a:rPr sz="1725" b="0">
                <a:solidFill>
                  <a:srgbClr val="50555A"/>
                </a:solidFill>
                <a:latin typeface="Arial"/>
                <a:ea typeface="Arial"/>
                <a:cs typeface="Arial"/>
              </a:rPr>
              <a:t>Les 2 ms concernent l’export. La campagne initiale reste inchangée.</a:t>
            </a:r>
          </a:p>
        </p:txBody>
      </p:sp>
    </p:spTree>
    <p:extLst>
      <p:ext uri="{BB962C8B-B14F-4D97-AF65-F5344CB8AC3E}">
        <p14:creationId xmlns:p14="http://schemas.microsoft.com/office/powerpoint/2010/main" val="15243608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99EB5BD-5285-431A-B48F-54916BF74DA5}"/>
              </a:ext>
            </a:extLst>
          </p:cNvPr>
          <p:cNvSpPr>
            <a:spLocks xmlns:a="http://schemas.openxmlformats.org/drawingml/2006/main" noGrp="1"/>
          </p:cNvSpPr>
          <p:nvPr/>
        </p:nvSpPr>
        <p:spPr>
          <a:xfrm xmlns:a="http://schemas.openxmlformats.org/drawingml/2006/main">
            <a:off x="495300" y="304800"/>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243247"/>
                </a:solidFill>
              </a:defRPr>
            </a:defPPr>
            <a:lvl1pPr>
              <a:defRPr sz="2700" b="1">
                <a:solidFill>
                  <a:srgbClr val="243247"/>
                </a:solidFill>
              </a:defRPr>
            </a:lvl1pPr>
            <a:lvl2pPr>
              <a:defRPr sz="2700" b="1">
                <a:solidFill>
                  <a:srgbClr val="243247"/>
                </a:solidFill>
              </a:defRPr>
            </a:lvl2pPr>
            <a:lvl3pPr>
              <a:defRPr sz="2700" b="1">
                <a:solidFill>
                  <a:srgbClr val="243247"/>
                </a:solidFill>
              </a:defRPr>
            </a:lvl3pPr>
            <a:lvl4pPr>
              <a:defRPr sz="2700" b="1">
                <a:solidFill>
                  <a:srgbClr val="243247"/>
                </a:solidFill>
              </a:defRPr>
            </a:lvl4pPr>
            <a:lvl5pPr>
              <a:defRPr sz="2700" b="1">
                <a:solidFill>
                  <a:srgbClr val="243247"/>
                </a:solidFill>
              </a:defRPr>
            </a:lvl5pPr>
            <a:lvl6pPr>
              <a:defRPr sz="2700" b="1">
                <a:solidFill>
                  <a:srgbClr val="243247"/>
                </a:solidFill>
              </a:defRPr>
            </a:lvl6pPr>
            <a:lvl7pPr>
              <a:defRPr sz="2700" b="1">
                <a:solidFill>
                  <a:srgbClr val="243247"/>
                </a:solidFill>
              </a:defRPr>
            </a:lvl7pPr>
            <a:lvl8pPr>
              <a:defRPr sz="2700" b="1">
                <a:solidFill>
                  <a:srgbClr val="243247"/>
                </a:solidFill>
              </a:defRPr>
            </a:lvl8pPr>
            <a:lvl9pPr>
              <a:defRPr sz="2700" b="1">
                <a:solidFill>
                  <a:srgbClr val="243247"/>
                </a:solidFill>
              </a:defRPr>
            </a:lvl9pPr>
          </a:lstStyle>
          <a:p xmlns:a="http://schemas.openxmlformats.org/drawingml/2006/main">
            <a:pPr>
              <a:defRPr sz="2700" b="1">
                <a:solidFill>
                  <a:srgbClr val="243247"/>
                </a:solidFill>
              </a:defRPr>
            </a:pPr>
            <a:r>
              <a:rPr sz="2700" b="1">
                <a:solidFill>
                  <a:srgbClr val="243247"/>
                </a:solidFill>
              </a:rPr>
              <a:t>Les couches du système multiagents</a:t>
            </a:r>
          </a:p>
        </p:txBody>
      </p:sp>
      <p:sp>
        <p:nvSpPr>
          <p:cNvPr id="2" name="">
            <a:extLst xmlns:a="http://schemas.openxmlformats.org/drawingml/2006/main">
              <a:ext uri="{FF2B5EF4-FFF2-40B4-BE49-F238E27FC236}">
                <a16:creationId xmlns:a16="http://schemas.microsoft.com/office/drawing/2014/main" id="{032BA7D0-4F3A-4C0D-BECE-AC7D79FE24F8}"/>
              </a:ext>
            </a:extLst>
          </p:cNvPr>
          <p:cNvSpPr>
            <a:spLocks xmlns:a="http://schemas.openxmlformats.org/drawingml/2006/main" noGrp="1"/>
          </p:cNvSpPr>
          <p:nvPr/>
        </p:nvSpPr>
        <p:spPr>
          <a:xfrm xmlns:a="http://schemas.openxmlformats.org/drawingml/2006/main">
            <a:off x="495300" y="83820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86579"/>
                </a:solidFill>
              </a:defRPr>
            </a:defPPr>
            <a:lvl1pPr>
              <a:defRPr sz="1650" b="0">
                <a:solidFill>
                  <a:srgbClr val="586579"/>
                </a:solidFill>
              </a:defRPr>
            </a:lvl1pPr>
            <a:lvl2pPr>
              <a:defRPr sz="1650" b="0">
                <a:solidFill>
                  <a:srgbClr val="586579"/>
                </a:solidFill>
              </a:defRPr>
            </a:lvl2pPr>
            <a:lvl3pPr>
              <a:defRPr sz="1650" b="0">
                <a:solidFill>
                  <a:srgbClr val="586579"/>
                </a:solidFill>
              </a:defRPr>
            </a:lvl3pPr>
            <a:lvl4pPr>
              <a:defRPr sz="1650" b="0">
                <a:solidFill>
                  <a:srgbClr val="586579"/>
                </a:solidFill>
              </a:defRPr>
            </a:lvl4pPr>
            <a:lvl5pPr>
              <a:defRPr sz="1650" b="0">
                <a:solidFill>
                  <a:srgbClr val="586579"/>
                </a:solidFill>
              </a:defRPr>
            </a:lvl5pPr>
            <a:lvl6pPr>
              <a:defRPr sz="1650" b="0">
                <a:solidFill>
                  <a:srgbClr val="586579"/>
                </a:solidFill>
              </a:defRPr>
            </a:lvl6pPr>
            <a:lvl7pPr>
              <a:defRPr sz="1650" b="0">
                <a:solidFill>
                  <a:srgbClr val="586579"/>
                </a:solidFill>
              </a:defRPr>
            </a:lvl7pPr>
            <a:lvl8pPr>
              <a:defRPr sz="1650" b="0">
                <a:solidFill>
                  <a:srgbClr val="586579"/>
                </a:solidFill>
              </a:defRPr>
            </a:lvl8pPr>
            <a:lvl9pPr>
              <a:defRPr sz="1650" b="0">
                <a:solidFill>
                  <a:srgbClr val="586579"/>
                </a:solidFill>
              </a:defRPr>
            </a:lvl9pPr>
          </a:lstStyle>
          <a:p xmlns:a="http://schemas.openxmlformats.org/drawingml/2006/main">
            <a:pPr>
              <a:defRPr sz="1650" b="0">
                <a:solidFill>
                  <a:srgbClr val="586579"/>
                </a:solidFill>
              </a:defRPr>
            </a:pPr>
            <a:r>
              <a:rPr sz="1650" b="0">
                <a:solidFill>
                  <a:srgbClr val="586579"/>
                </a:solidFill>
              </a:rPr>
              <a:t>Du modèle au suivi du projet : des responsabilités complémentaires</a:t>
            </a:r>
          </a:p>
        </p:txBody>
      </p:sp>
      <p:sp>
        <p:nvSpPr>
          <p:cNvPr id="3" name="Couche 7">
            <a:extLst xmlns:a="http://schemas.openxmlformats.org/drawingml/2006/main">
              <a:ext uri="{FF2B5EF4-FFF2-40B4-BE49-F238E27FC236}">
                <a16:creationId xmlns:a16="http://schemas.microsoft.com/office/drawing/2014/main" id="{947B3CFC-3C64-49CB-9E9E-327EE79C0DA7}"/>
              </a:ext>
            </a:extLst>
          </p:cNvPr>
          <p:cNvSpPr>
            <a:spLocks xmlns:a="http://schemas.openxmlformats.org/drawingml/2006/main" noGrp="1"/>
          </p:cNvSpPr>
          <p:nvPr/>
        </p:nvSpPr>
        <p:spPr>
          <a:xfrm xmlns:a="http://schemas.openxmlformats.org/drawingml/2006/main">
            <a:off x="790575" y="1304925"/>
            <a:ext cx="4667250" cy="4667250"/>
          </a:xfrm>
          <a:prstGeom xmlns:a="http://schemas.openxmlformats.org/drawingml/2006/main" prst="ellipse">
            <a:avLst/>
          </a:prstGeom>
          <a:solidFill xmlns:a="http://schemas.openxmlformats.org/drawingml/2006/main">
            <a:srgbClr val="F5EAF6"/>
          </a:solidFill>
          <a:ln xmlns:a="http://schemas.openxmlformats.org/drawingml/2006/main" w="9525">
            <a:solidFill>
              <a:srgbClr val="8899AB"/>
            </a:solidFill>
          </a:ln>
        </p:spPr>
      </p:sp>
      <p:sp>
        <p:nvSpPr>
          <p:cNvPr id="4" name="">
            <a:extLst xmlns:a="http://schemas.openxmlformats.org/drawingml/2006/main">
              <a:ext uri="{FF2B5EF4-FFF2-40B4-BE49-F238E27FC236}">
                <a16:creationId xmlns:a16="http://schemas.microsoft.com/office/drawing/2014/main" id="{6A4174B4-4FAC-4E0E-9DD6-39437F5EB07E}"/>
              </a:ext>
            </a:extLst>
          </p:cNvPr>
          <p:cNvSpPr>
            <a:spLocks xmlns:a="http://schemas.openxmlformats.org/drawingml/2006/main" noGrp="1"/>
          </p:cNvSpPr>
          <p:nvPr/>
        </p:nvSpPr>
        <p:spPr>
          <a:xfrm xmlns:a="http://schemas.openxmlformats.org/drawingml/2006/main">
            <a:off x="2914650" y="13716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243247"/>
                </a:solidFill>
              </a:defRPr>
            </a:defPPr>
            <a:lvl1pPr>
              <a:defRPr sz="1425" b="1">
                <a:solidFill>
                  <a:srgbClr val="243247"/>
                </a:solidFill>
              </a:defRPr>
            </a:lvl1pPr>
            <a:lvl2pPr>
              <a:defRPr sz="1425" b="1">
                <a:solidFill>
                  <a:srgbClr val="243247"/>
                </a:solidFill>
              </a:defRPr>
            </a:lvl2pPr>
            <a:lvl3pPr>
              <a:defRPr sz="1425" b="1">
                <a:solidFill>
                  <a:srgbClr val="243247"/>
                </a:solidFill>
              </a:defRPr>
            </a:lvl3pPr>
            <a:lvl4pPr>
              <a:defRPr sz="1425" b="1">
                <a:solidFill>
                  <a:srgbClr val="243247"/>
                </a:solidFill>
              </a:defRPr>
            </a:lvl4pPr>
            <a:lvl5pPr>
              <a:defRPr sz="1425" b="1">
                <a:solidFill>
                  <a:srgbClr val="243247"/>
                </a:solidFill>
              </a:defRPr>
            </a:lvl5pPr>
            <a:lvl6pPr>
              <a:defRPr sz="1425" b="1">
                <a:solidFill>
                  <a:srgbClr val="243247"/>
                </a:solidFill>
              </a:defRPr>
            </a:lvl6pPr>
            <a:lvl7pPr>
              <a:defRPr sz="1425" b="1">
                <a:solidFill>
                  <a:srgbClr val="243247"/>
                </a:solidFill>
              </a:defRPr>
            </a:lvl7pPr>
            <a:lvl8pPr>
              <a:defRPr sz="1425" b="1">
                <a:solidFill>
                  <a:srgbClr val="243247"/>
                </a:solidFill>
              </a:defRPr>
            </a:lvl8pPr>
            <a:lvl9pPr>
              <a:defRPr sz="1425" b="1">
                <a:solidFill>
                  <a:srgbClr val="243247"/>
                </a:solidFill>
              </a:defRPr>
            </a:lvl9pPr>
          </a:lstStyle>
          <a:p xmlns:a="http://schemas.openxmlformats.org/drawingml/2006/main">
            <a:pPr>
              <a:defRPr sz="1425" b="1">
                <a:solidFill>
                  <a:srgbClr val="243247"/>
                </a:solidFill>
              </a:defRPr>
            </a:pPr>
            <a:r>
              <a:rPr sz="1425" b="1">
                <a:solidFill>
                  <a:srgbClr val="243247"/>
                </a:solidFill>
              </a:rPr>
              <a:t>7</a:t>
            </a:r>
          </a:p>
        </p:txBody>
      </p:sp>
      <p:sp>
        <p:nvSpPr>
          <p:cNvPr id="5" name="Couche 6">
            <a:extLst xmlns:a="http://schemas.openxmlformats.org/drawingml/2006/main">
              <a:ext uri="{FF2B5EF4-FFF2-40B4-BE49-F238E27FC236}">
                <a16:creationId xmlns:a16="http://schemas.microsoft.com/office/drawing/2014/main" id="{27186164-8988-4DF4-9E5E-B0743ADE2E9C}"/>
              </a:ext>
            </a:extLst>
          </p:cNvPr>
          <p:cNvSpPr>
            <a:spLocks xmlns:a="http://schemas.openxmlformats.org/drawingml/2006/main" noGrp="1"/>
          </p:cNvSpPr>
          <p:nvPr/>
        </p:nvSpPr>
        <p:spPr>
          <a:xfrm xmlns:a="http://schemas.openxmlformats.org/drawingml/2006/main">
            <a:off x="1104900" y="1619250"/>
            <a:ext cx="4038600" cy="4038600"/>
          </a:xfrm>
          <a:prstGeom xmlns:a="http://schemas.openxmlformats.org/drawingml/2006/main" prst="ellipse">
            <a:avLst/>
          </a:prstGeom>
          <a:solidFill xmlns:a="http://schemas.openxmlformats.org/drawingml/2006/main">
            <a:srgbClr val="E9EDF8"/>
          </a:solidFill>
          <a:ln xmlns:a="http://schemas.openxmlformats.org/drawingml/2006/main" w="9525">
            <a:solidFill>
              <a:srgbClr val="8899AB"/>
            </a:solidFill>
          </a:ln>
        </p:spPr>
      </p:sp>
      <p:sp>
        <p:nvSpPr>
          <p:cNvPr id="6" name="">
            <a:extLst xmlns:a="http://schemas.openxmlformats.org/drawingml/2006/main">
              <a:ext uri="{FF2B5EF4-FFF2-40B4-BE49-F238E27FC236}">
                <a16:creationId xmlns:a16="http://schemas.microsoft.com/office/drawing/2014/main" id="{46D55D04-D600-4E62-B9E8-A04C86A08F34}"/>
              </a:ext>
            </a:extLst>
          </p:cNvPr>
          <p:cNvSpPr>
            <a:spLocks xmlns:a="http://schemas.openxmlformats.org/drawingml/2006/main" noGrp="1"/>
          </p:cNvSpPr>
          <p:nvPr/>
        </p:nvSpPr>
        <p:spPr>
          <a:xfrm xmlns:a="http://schemas.openxmlformats.org/drawingml/2006/main">
            <a:off x="2914650" y="16859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243247"/>
                </a:solidFill>
              </a:defRPr>
            </a:defPPr>
            <a:lvl1pPr>
              <a:defRPr sz="1425" b="1">
                <a:solidFill>
                  <a:srgbClr val="243247"/>
                </a:solidFill>
              </a:defRPr>
            </a:lvl1pPr>
            <a:lvl2pPr>
              <a:defRPr sz="1425" b="1">
                <a:solidFill>
                  <a:srgbClr val="243247"/>
                </a:solidFill>
              </a:defRPr>
            </a:lvl2pPr>
            <a:lvl3pPr>
              <a:defRPr sz="1425" b="1">
                <a:solidFill>
                  <a:srgbClr val="243247"/>
                </a:solidFill>
              </a:defRPr>
            </a:lvl3pPr>
            <a:lvl4pPr>
              <a:defRPr sz="1425" b="1">
                <a:solidFill>
                  <a:srgbClr val="243247"/>
                </a:solidFill>
              </a:defRPr>
            </a:lvl4pPr>
            <a:lvl5pPr>
              <a:defRPr sz="1425" b="1">
                <a:solidFill>
                  <a:srgbClr val="243247"/>
                </a:solidFill>
              </a:defRPr>
            </a:lvl5pPr>
            <a:lvl6pPr>
              <a:defRPr sz="1425" b="1">
                <a:solidFill>
                  <a:srgbClr val="243247"/>
                </a:solidFill>
              </a:defRPr>
            </a:lvl6pPr>
            <a:lvl7pPr>
              <a:defRPr sz="1425" b="1">
                <a:solidFill>
                  <a:srgbClr val="243247"/>
                </a:solidFill>
              </a:defRPr>
            </a:lvl7pPr>
            <a:lvl8pPr>
              <a:defRPr sz="1425" b="1">
                <a:solidFill>
                  <a:srgbClr val="243247"/>
                </a:solidFill>
              </a:defRPr>
            </a:lvl8pPr>
            <a:lvl9pPr>
              <a:defRPr sz="1425" b="1">
                <a:solidFill>
                  <a:srgbClr val="243247"/>
                </a:solidFill>
              </a:defRPr>
            </a:lvl9pPr>
          </a:lstStyle>
          <a:p xmlns:a="http://schemas.openxmlformats.org/drawingml/2006/main">
            <a:pPr>
              <a:defRPr sz="1425" b="1">
                <a:solidFill>
                  <a:srgbClr val="243247"/>
                </a:solidFill>
              </a:defRPr>
            </a:pPr>
            <a:r>
              <a:rPr sz="1425" b="1">
                <a:solidFill>
                  <a:srgbClr val="243247"/>
                </a:solidFill>
              </a:rPr>
              <a:t>6</a:t>
            </a:r>
          </a:p>
        </p:txBody>
      </p:sp>
      <p:sp>
        <p:nvSpPr>
          <p:cNvPr id="7" name="Couche 5">
            <a:extLst xmlns:a="http://schemas.openxmlformats.org/drawingml/2006/main">
              <a:ext uri="{FF2B5EF4-FFF2-40B4-BE49-F238E27FC236}">
                <a16:creationId xmlns:a16="http://schemas.microsoft.com/office/drawing/2014/main" id="{FEC4C4CB-F44D-4999-BF8B-EEC32081B1F4}"/>
              </a:ext>
            </a:extLst>
          </p:cNvPr>
          <p:cNvSpPr>
            <a:spLocks xmlns:a="http://schemas.openxmlformats.org/drawingml/2006/main" noGrp="1"/>
          </p:cNvSpPr>
          <p:nvPr/>
        </p:nvSpPr>
        <p:spPr>
          <a:xfrm xmlns:a="http://schemas.openxmlformats.org/drawingml/2006/main">
            <a:off x="1419225" y="1933575"/>
            <a:ext cx="3409950" cy="3409950"/>
          </a:xfrm>
          <a:prstGeom xmlns:a="http://schemas.openxmlformats.org/drawingml/2006/main" prst="ellipse">
            <a:avLst/>
          </a:prstGeom>
          <a:solidFill xmlns:a="http://schemas.openxmlformats.org/drawingml/2006/main">
            <a:srgbClr val="E5F2F3"/>
          </a:solidFill>
          <a:ln xmlns:a="http://schemas.openxmlformats.org/drawingml/2006/main" w="9525">
            <a:solidFill>
              <a:srgbClr val="8899AB"/>
            </a:solidFill>
          </a:ln>
        </p:spPr>
      </p:sp>
      <p:sp>
        <p:nvSpPr>
          <p:cNvPr id="8" name="">
            <a:extLst xmlns:a="http://schemas.openxmlformats.org/drawingml/2006/main">
              <a:ext uri="{FF2B5EF4-FFF2-40B4-BE49-F238E27FC236}">
                <a16:creationId xmlns:a16="http://schemas.microsoft.com/office/drawing/2014/main" id="{924B1492-F049-4F0B-9102-86A962C0E352}"/>
              </a:ext>
            </a:extLst>
          </p:cNvPr>
          <p:cNvSpPr>
            <a:spLocks xmlns:a="http://schemas.openxmlformats.org/drawingml/2006/main" noGrp="1"/>
          </p:cNvSpPr>
          <p:nvPr/>
        </p:nvSpPr>
        <p:spPr>
          <a:xfrm xmlns:a="http://schemas.openxmlformats.org/drawingml/2006/main">
            <a:off x="2914650" y="20002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243247"/>
                </a:solidFill>
              </a:defRPr>
            </a:defPPr>
            <a:lvl1pPr>
              <a:defRPr sz="1425" b="1">
                <a:solidFill>
                  <a:srgbClr val="243247"/>
                </a:solidFill>
              </a:defRPr>
            </a:lvl1pPr>
            <a:lvl2pPr>
              <a:defRPr sz="1425" b="1">
                <a:solidFill>
                  <a:srgbClr val="243247"/>
                </a:solidFill>
              </a:defRPr>
            </a:lvl2pPr>
            <a:lvl3pPr>
              <a:defRPr sz="1425" b="1">
                <a:solidFill>
                  <a:srgbClr val="243247"/>
                </a:solidFill>
              </a:defRPr>
            </a:lvl3pPr>
            <a:lvl4pPr>
              <a:defRPr sz="1425" b="1">
                <a:solidFill>
                  <a:srgbClr val="243247"/>
                </a:solidFill>
              </a:defRPr>
            </a:lvl4pPr>
            <a:lvl5pPr>
              <a:defRPr sz="1425" b="1">
                <a:solidFill>
                  <a:srgbClr val="243247"/>
                </a:solidFill>
              </a:defRPr>
            </a:lvl5pPr>
            <a:lvl6pPr>
              <a:defRPr sz="1425" b="1">
                <a:solidFill>
                  <a:srgbClr val="243247"/>
                </a:solidFill>
              </a:defRPr>
            </a:lvl6pPr>
            <a:lvl7pPr>
              <a:defRPr sz="1425" b="1">
                <a:solidFill>
                  <a:srgbClr val="243247"/>
                </a:solidFill>
              </a:defRPr>
            </a:lvl7pPr>
            <a:lvl8pPr>
              <a:defRPr sz="1425" b="1">
                <a:solidFill>
                  <a:srgbClr val="243247"/>
                </a:solidFill>
              </a:defRPr>
            </a:lvl8pPr>
            <a:lvl9pPr>
              <a:defRPr sz="1425" b="1">
                <a:solidFill>
                  <a:srgbClr val="243247"/>
                </a:solidFill>
              </a:defRPr>
            </a:lvl9pPr>
          </a:lstStyle>
          <a:p xmlns:a="http://schemas.openxmlformats.org/drawingml/2006/main">
            <a:pPr>
              <a:defRPr sz="1425" b="1">
                <a:solidFill>
                  <a:srgbClr val="243247"/>
                </a:solidFill>
              </a:defRPr>
            </a:pPr>
            <a:r>
              <a:rPr sz="1425" b="1">
                <a:solidFill>
                  <a:srgbClr val="243247"/>
                </a:solidFill>
              </a:rPr>
              <a:t>5</a:t>
            </a:r>
          </a:p>
        </p:txBody>
      </p:sp>
      <p:sp>
        <p:nvSpPr>
          <p:cNvPr id="9" name="Couche 4">
            <a:extLst xmlns:a="http://schemas.openxmlformats.org/drawingml/2006/main">
              <a:ext uri="{FF2B5EF4-FFF2-40B4-BE49-F238E27FC236}">
                <a16:creationId xmlns:a16="http://schemas.microsoft.com/office/drawing/2014/main" id="{7FF0A213-17B5-476B-AD7E-67BDBAA81F1F}"/>
              </a:ext>
            </a:extLst>
          </p:cNvPr>
          <p:cNvSpPr>
            <a:spLocks xmlns:a="http://schemas.openxmlformats.org/drawingml/2006/main" noGrp="1"/>
          </p:cNvSpPr>
          <p:nvPr/>
        </p:nvSpPr>
        <p:spPr>
          <a:xfrm xmlns:a="http://schemas.openxmlformats.org/drawingml/2006/main">
            <a:off x="1733550" y="2247900"/>
            <a:ext cx="2781300" cy="2781300"/>
          </a:xfrm>
          <a:prstGeom xmlns:a="http://schemas.openxmlformats.org/drawingml/2006/main" prst="ellipse">
            <a:avLst/>
          </a:prstGeom>
          <a:solidFill xmlns:a="http://schemas.openxmlformats.org/drawingml/2006/main">
            <a:srgbClr val="E7F3EA"/>
          </a:solidFill>
          <a:ln xmlns:a="http://schemas.openxmlformats.org/drawingml/2006/main" w="9525">
            <a:solidFill>
              <a:srgbClr val="8899AB"/>
            </a:solidFill>
          </a:ln>
        </p:spPr>
      </p:sp>
      <p:sp>
        <p:nvSpPr>
          <p:cNvPr id="10" name="">
            <a:extLst xmlns:a="http://schemas.openxmlformats.org/drawingml/2006/main">
              <a:ext uri="{FF2B5EF4-FFF2-40B4-BE49-F238E27FC236}">
                <a16:creationId xmlns:a16="http://schemas.microsoft.com/office/drawing/2014/main" id="{DD06AD31-A8EB-4DCD-950B-4F03F20BC996}"/>
              </a:ext>
            </a:extLst>
          </p:cNvPr>
          <p:cNvSpPr>
            <a:spLocks xmlns:a="http://schemas.openxmlformats.org/drawingml/2006/main" noGrp="1"/>
          </p:cNvSpPr>
          <p:nvPr/>
        </p:nvSpPr>
        <p:spPr>
          <a:xfrm xmlns:a="http://schemas.openxmlformats.org/drawingml/2006/main">
            <a:off x="2914650" y="23145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243247"/>
                </a:solidFill>
              </a:defRPr>
            </a:defPPr>
            <a:lvl1pPr>
              <a:defRPr sz="1425" b="1">
                <a:solidFill>
                  <a:srgbClr val="243247"/>
                </a:solidFill>
              </a:defRPr>
            </a:lvl1pPr>
            <a:lvl2pPr>
              <a:defRPr sz="1425" b="1">
                <a:solidFill>
                  <a:srgbClr val="243247"/>
                </a:solidFill>
              </a:defRPr>
            </a:lvl2pPr>
            <a:lvl3pPr>
              <a:defRPr sz="1425" b="1">
                <a:solidFill>
                  <a:srgbClr val="243247"/>
                </a:solidFill>
              </a:defRPr>
            </a:lvl3pPr>
            <a:lvl4pPr>
              <a:defRPr sz="1425" b="1">
                <a:solidFill>
                  <a:srgbClr val="243247"/>
                </a:solidFill>
              </a:defRPr>
            </a:lvl4pPr>
            <a:lvl5pPr>
              <a:defRPr sz="1425" b="1">
                <a:solidFill>
                  <a:srgbClr val="243247"/>
                </a:solidFill>
              </a:defRPr>
            </a:lvl5pPr>
            <a:lvl6pPr>
              <a:defRPr sz="1425" b="1">
                <a:solidFill>
                  <a:srgbClr val="243247"/>
                </a:solidFill>
              </a:defRPr>
            </a:lvl6pPr>
            <a:lvl7pPr>
              <a:defRPr sz="1425" b="1">
                <a:solidFill>
                  <a:srgbClr val="243247"/>
                </a:solidFill>
              </a:defRPr>
            </a:lvl7pPr>
            <a:lvl8pPr>
              <a:defRPr sz="1425" b="1">
                <a:solidFill>
                  <a:srgbClr val="243247"/>
                </a:solidFill>
              </a:defRPr>
            </a:lvl8pPr>
            <a:lvl9pPr>
              <a:defRPr sz="1425" b="1">
                <a:solidFill>
                  <a:srgbClr val="243247"/>
                </a:solidFill>
              </a:defRPr>
            </a:lvl9pPr>
          </a:lstStyle>
          <a:p xmlns:a="http://schemas.openxmlformats.org/drawingml/2006/main">
            <a:pPr>
              <a:defRPr sz="1425" b="1">
                <a:solidFill>
                  <a:srgbClr val="243247"/>
                </a:solidFill>
              </a:defRPr>
            </a:pPr>
            <a:r>
              <a:rPr sz="1425" b="1">
                <a:solidFill>
                  <a:srgbClr val="243247"/>
                </a:solidFill>
              </a:rPr>
              <a:t>4</a:t>
            </a:r>
          </a:p>
        </p:txBody>
      </p:sp>
      <p:sp>
        <p:nvSpPr>
          <p:cNvPr id="11" name="Couche 3">
            <a:extLst xmlns:a="http://schemas.openxmlformats.org/drawingml/2006/main">
              <a:ext uri="{FF2B5EF4-FFF2-40B4-BE49-F238E27FC236}">
                <a16:creationId xmlns:a16="http://schemas.microsoft.com/office/drawing/2014/main" id="{EAD49968-3839-40B9-9F9A-F6A5B7024ACD}"/>
              </a:ext>
            </a:extLst>
          </p:cNvPr>
          <p:cNvSpPr>
            <a:spLocks xmlns:a="http://schemas.openxmlformats.org/drawingml/2006/main" noGrp="1"/>
          </p:cNvSpPr>
          <p:nvPr/>
        </p:nvSpPr>
        <p:spPr>
          <a:xfrm xmlns:a="http://schemas.openxmlformats.org/drawingml/2006/main">
            <a:off x="2047875" y="2562225"/>
            <a:ext cx="2152650" cy="2152650"/>
          </a:xfrm>
          <a:prstGeom xmlns:a="http://schemas.openxmlformats.org/drawingml/2006/main" prst="ellipse">
            <a:avLst/>
          </a:prstGeom>
          <a:solidFill xmlns:a="http://schemas.openxmlformats.org/drawingml/2006/main">
            <a:srgbClr val="FFF2D9"/>
          </a:solidFill>
          <a:ln xmlns:a="http://schemas.openxmlformats.org/drawingml/2006/main" w="9525">
            <a:solidFill>
              <a:srgbClr val="8899AB"/>
            </a:solidFill>
          </a:ln>
        </p:spPr>
      </p:sp>
      <p:sp>
        <p:nvSpPr>
          <p:cNvPr id="12" name="">
            <a:extLst xmlns:a="http://schemas.openxmlformats.org/drawingml/2006/main">
              <a:ext uri="{FF2B5EF4-FFF2-40B4-BE49-F238E27FC236}">
                <a16:creationId xmlns:a16="http://schemas.microsoft.com/office/drawing/2014/main" id="{3056DDBE-2DEF-4DA3-BDC6-22D797B515DF}"/>
              </a:ext>
            </a:extLst>
          </p:cNvPr>
          <p:cNvSpPr>
            <a:spLocks xmlns:a="http://schemas.openxmlformats.org/drawingml/2006/main" noGrp="1"/>
          </p:cNvSpPr>
          <p:nvPr/>
        </p:nvSpPr>
        <p:spPr>
          <a:xfrm xmlns:a="http://schemas.openxmlformats.org/drawingml/2006/main">
            <a:off x="2914650" y="26289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243247"/>
                </a:solidFill>
              </a:defRPr>
            </a:defPPr>
            <a:lvl1pPr>
              <a:defRPr sz="1425" b="1">
                <a:solidFill>
                  <a:srgbClr val="243247"/>
                </a:solidFill>
              </a:defRPr>
            </a:lvl1pPr>
            <a:lvl2pPr>
              <a:defRPr sz="1425" b="1">
                <a:solidFill>
                  <a:srgbClr val="243247"/>
                </a:solidFill>
              </a:defRPr>
            </a:lvl2pPr>
            <a:lvl3pPr>
              <a:defRPr sz="1425" b="1">
                <a:solidFill>
                  <a:srgbClr val="243247"/>
                </a:solidFill>
              </a:defRPr>
            </a:lvl3pPr>
            <a:lvl4pPr>
              <a:defRPr sz="1425" b="1">
                <a:solidFill>
                  <a:srgbClr val="243247"/>
                </a:solidFill>
              </a:defRPr>
            </a:lvl4pPr>
            <a:lvl5pPr>
              <a:defRPr sz="1425" b="1">
                <a:solidFill>
                  <a:srgbClr val="243247"/>
                </a:solidFill>
              </a:defRPr>
            </a:lvl5pPr>
            <a:lvl6pPr>
              <a:defRPr sz="1425" b="1">
                <a:solidFill>
                  <a:srgbClr val="243247"/>
                </a:solidFill>
              </a:defRPr>
            </a:lvl6pPr>
            <a:lvl7pPr>
              <a:defRPr sz="1425" b="1">
                <a:solidFill>
                  <a:srgbClr val="243247"/>
                </a:solidFill>
              </a:defRPr>
            </a:lvl7pPr>
            <a:lvl8pPr>
              <a:defRPr sz="1425" b="1">
                <a:solidFill>
                  <a:srgbClr val="243247"/>
                </a:solidFill>
              </a:defRPr>
            </a:lvl8pPr>
            <a:lvl9pPr>
              <a:defRPr sz="1425" b="1">
                <a:solidFill>
                  <a:srgbClr val="243247"/>
                </a:solidFill>
              </a:defRPr>
            </a:lvl9pPr>
          </a:lstStyle>
          <a:p xmlns:a="http://schemas.openxmlformats.org/drawingml/2006/main">
            <a:pPr>
              <a:defRPr sz="1425" b="1">
                <a:solidFill>
                  <a:srgbClr val="243247"/>
                </a:solidFill>
              </a:defRPr>
            </a:pPr>
            <a:r>
              <a:rPr sz="1425" b="1">
                <a:solidFill>
                  <a:srgbClr val="243247"/>
                </a:solidFill>
              </a:rPr>
              <a:t>3</a:t>
            </a:r>
          </a:p>
        </p:txBody>
      </p:sp>
      <p:sp>
        <p:nvSpPr>
          <p:cNvPr id="13" name="Couche 2">
            <a:extLst xmlns:a="http://schemas.openxmlformats.org/drawingml/2006/main">
              <a:ext uri="{FF2B5EF4-FFF2-40B4-BE49-F238E27FC236}">
                <a16:creationId xmlns:a16="http://schemas.microsoft.com/office/drawing/2014/main" id="{3A519492-786F-434D-A17B-B3D8AC0D0CBA}"/>
              </a:ext>
            </a:extLst>
          </p:cNvPr>
          <p:cNvSpPr>
            <a:spLocks xmlns:a="http://schemas.openxmlformats.org/drawingml/2006/main" noGrp="1"/>
          </p:cNvSpPr>
          <p:nvPr/>
        </p:nvSpPr>
        <p:spPr>
          <a:xfrm xmlns:a="http://schemas.openxmlformats.org/drawingml/2006/main">
            <a:off x="2362200" y="2876550"/>
            <a:ext cx="1524000" cy="1524000"/>
          </a:xfrm>
          <a:prstGeom xmlns:a="http://schemas.openxmlformats.org/drawingml/2006/main" prst="ellipse">
            <a:avLst/>
          </a:prstGeom>
          <a:solidFill xmlns:a="http://schemas.openxmlformats.org/drawingml/2006/main">
            <a:srgbClr val="E8F1FC"/>
          </a:solidFill>
          <a:ln xmlns:a="http://schemas.openxmlformats.org/drawingml/2006/main" w="9525">
            <a:solidFill>
              <a:srgbClr val="8899AB"/>
            </a:solidFill>
          </a:ln>
        </p:spPr>
      </p:sp>
      <p:sp>
        <p:nvSpPr>
          <p:cNvPr id="14" name="">
            <a:extLst xmlns:a="http://schemas.openxmlformats.org/drawingml/2006/main">
              <a:ext uri="{FF2B5EF4-FFF2-40B4-BE49-F238E27FC236}">
                <a16:creationId xmlns:a16="http://schemas.microsoft.com/office/drawing/2014/main" id="{ECF67B43-8128-4BF3-9AC9-447D9FB4401F}"/>
              </a:ext>
            </a:extLst>
          </p:cNvPr>
          <p:cNvSpPr>
            <a:spLocks xmlns:a="http://schemas.openxmlformats.org/drawingml/2006/main" noGrp="1"/>
          </p:cNvSpPr>
          <p:nvPr/>
        </p:nvSpPr>
        <p:spPr>
          <a:xfrm xmlns:a="http://schemas.openxmlformats.org/drawingml/2006/main">
            <a:off x="2914650" y="29432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243247"/>
                </a:solidFill>
              </a:defRPr>
            </a:defPPr>
            <a:lvl1pPr>
              <a:defRPr sz="1425" b="1">
                <a:solidFill>
                  <a:srgbClr val="243247"/>
                </a:solidFill>
              </a:defRPr>
            </a:lvl1pPr>
            <a:lvl2pPr>
              <a:defRPr sz="1425" b="1">
                <a:solidFill>
                  <a:srgbClr val="243247"/>
                </a:solidFill>
              </a:defRPr>
            </a:lvl2pPr>
            <a:lvl3pPr>
              <a:defRPr sz="1425" b="1">
                <a:solidFill>
                  <a:srgbClr val="243247"/>
                </a:solidFill>
              </a:defRPr>
            </a:lvl3pPr>
            <a:lvl4pPr>
              <a:defRPr sz="1425" b="1">
                <a:solidFill>
                  <a:srgbClr val="243247"/>
                </a:solidFill>
              </a:defRPr>
            </a:lvl4pPr>
            <a:lvl5pPr>
              <a:defRPr sz="1425" b="1">
                <a:solidFill>
                  <a:srgbClr val="243247"/>
                </a:solidFill>
              </a:defRPr>
            </a:lvl5pPr>
            <a:lvl6pPr>
              <a:defRPr sz="1425" b="1">
                <a:solidFill>
                  <a:srgbClr val="243247"/>
                </a:solidFill>
              </a:defRPr>
            </a:lvl6pPr>
            <a:lvl7pPr>
              <a:defRPr sz="1425" b="1">
                <a:solidFill>
                  <a:srgbClr val="243247"/>
                </a:solidFill>
              </a:defRPr>
            </a:lvl7pPr>
            <a:lvl8pPr>
              <a:defRPr sz="1425" b="1">
                <a:solidFill>
                  <a:srgbClr val="243247"/>
                </a:solidFill>
              </a:defRPr>
            </a:lvl8pPr>
            <a:lvl9pPr>
              <a:defRPr sz="1425" b="1">
                <a:solidFill>
                  <a:srgbClr val="243247"/>
                </a:solidFill>
              </a:defRPr>
            </a:lvl9pPr>
          </a:lstStyle>
          <a:p xmlns:a="http://schemas.openxmlformats.org/drawingml/2006/main">
            <a:pPr>
              <a:defRPr sz="1425" b="1">
                <a:solidFill>
                  <a:srgbClr val="243247"/>
                </a:solidFill>
              </a:defRPr>
            </a:pPr>
            <a:r>
              <a:rPr sz="1425" b="1">
                <a:solidFill>
                  <a:srgbClr val="243247"/>
                </a:solidFill>
              </a:rPr>
              <a:t>2</a:t>
            </a:r>
          </a:p>
        </p:txBody>
      </p:sp>
      <p:sp>
        <p:nvSpPr>
          <p:cNvPr id="15" name="Couche 1">
            <a:extLst xmlns:a="http://schemas.openxmlformats.org/drawingml/2006/main">
              <a:ext uri="{FF2B5EF4-FFF2-40B4-BE49-F238E27FC236}">
                <a16:creationId xmlns:a16="http://schemas.microsoft.com/office/drawing/2014/main" id="{B9FBB687-9786-47C1-A678-91DE9CF83459}"/>
              </a:ext>
            </a:extLst>
          </p:cNvPr>
          <p:cNvSpPr>
            <a:spLocks xmlns:a="http://schemas.openxmlformats.org/drawingml/2006/main" noGrp="1"/>
          </p:cNvSpPr>
          <p:nvPr/>
        </p:nvSpPr>
        <p:spPr>
          <a:xfrm xmlns:a="http://schemas.openxmlformats.org/drawingml/2006/main">
            <a:off x="2676525" y="3190875"/>
            <a:ext cx="895350" cy="895350"/>
          </a:xfrm>
          <a:prstGeom xmlns:a="http://schemas.openxmlformats.org/drawingml/2006/main" prst="ellipse">
            <a:avLst/>
          </a:prstGeom>
          <a:solidFill xmlns:a="http://schemas.openxmlformats.org/drawingml/2006/main">
            <a:srgbClr val="D8E9FB"/>
          </a:solidFill>
          <a:ln xmlns:a="http://schemas.openxmlformats.org/drawingml/2006/main" w="9525">
            <a:solidFill>
              <a:srgbClr val="8899AB"/>
            </a:solidFill>
          </a:ln>
        </p:spPr>
      </p:sp>
      <p:sp>
        <p:nvSpPr>
          <p:cNvPr id="16" name="">
            <a:extLst xmlns:a="http://schemas.openxmlformats.org/drawingml/2006/main">
              <a:ext uri="{FF2B5EF4-FFF2-40B4-BE49-F238E27FC236}">
                <a16:creationId xmlns:a16="http://schemas.microsoft.com/office/drawing/2014/main" id="{2CDB11C2-B5AE-4A1B-9993-F60DD5C62195}"/>
              </a:ext>
            </a:extLst>
          </p:cNvPr>
          <p:cNvSpPr>
            <a:spLocks xmlns:a="http://schemas.openxmlformats.org/drawingml/2006/main" noGrp="1"/>
          </p:cNvSpPr>
          <p:nvPr/>
        </p:nvSpPr>
        <p:spPr>
          <a:xfrm xmlns:a="http://schemas.openxmlformats.org/drawingml/2006/main">
            <a:off x="2914650" y="32575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243247"/>
                </a:solidFill>
              </a:defRPr>
            </a:defPPr>
            <a:lvl1pPr>
              <a:defRPr sz="1425" b="1">
                <a:solidFill>
                  <a:srgbClr val="243247"/>
                </a:solidFill>
              </a:defRPr>
            </a:lvl1pPr>
            <a:lvl2pPr>
              <a:defRPr sz="1425" b="1">
                <a:solidFill>
                  <a:srgbClr val="243247"/>
                </a:solidFill>
              </a:defRPr>
            </a:lvl2pPr>
            <a:lvl3pPr>
              <a:defRPr sz="1425" b="1">
                <a:solidFill>
                  <a:srgbClr val="243247"/>
                </a:solidFill>
              </a:defRPr>
            </a:lvl3pPr>
            <a:lvl4pPr>
              <a:defRPr sz="1425" b="1">
                <a:solidFill>
                  <a:srgbClr val="243247"/>
                </a:solidFill>
              </a:defRPr>
            </a:lvl4pPr>
            <a:lvl5pPr>
              <a:defRPr sz="1425" b="1">
                <a:solidFill>
                  <a:srgbClr val="243247"/>
                </a:solidFill>
              </a:defRPr>
            </a:lvl5pPr>
            <a:lvl6pPr>
              <a:defRPr sz="1425" b="1">
                <a:solidFill>
                  <a:srgbClr val="243247"/>
                </a:solidFill>
              </a:defRPr>
            </a:lvl6pPr>
            <a:lvl7pPr>
              <a:defRPr sz="1425" b="1">
                <a:solidFill>
                  <a:srgbClr val="243247"/>
                </a:solidFill>
              </a:defRPr>
            </a:lvl7pPr>
            <a:lvl8pPr>
              <a:defRPr sz="1425" b="1">
                <a:solidFill>
                  <a:srgbClr val="243247"/>
                </a:solidFill>
              </a:defRPr>
            </a:lvl8pPr>
            <a:lvl9pPr>
              <a:defRPr sz="1425" b="1">
                <a:solidFill>
                  <a:srgbClr val="243247"/>
                </a:solidFill>
              </a:defRPr>
            </a:lvl9pPr>
          </a:lstStyle>
          <a:p xmlns:a="http://schemas.openxmlformats.org/drawingml/2006/main">
            <a:pPr>
              <a:defRPr sz="1425" b="1">
                <a:solidFill>
                  <a:srgbClr val="243247"/>
                </a:solidFill>
              </a:defRPr>
            </a:pPr>
            <a:r>
              <a:rPr sz="1425" b="1">
                <a:solidFill>
                  <a:srgbClr val="243247"/>
                </a:solidFill>
              </a:rPr>
              <a:t>1</a:t>
            </a:r>
          </a:p>
        </p:txBody>
      </p:sp>
      <p:sp>
        <p:nvSpPr>
          <p:cNvPr id="17" name="">
            <a:extLst xmlns:a="http://schemas.openxmlformats.org/drawingml/2006/main">
              <a:ext uri="{FF2B5EF4-FFF2-40B4-BE49-F238E27FC236}">
                <a16:creationId xmlns:a16="http://schemas.microsoft.com/office/drawing/2014/main" id="{D723596D-C70E-429C-86C1-8FA2E3060386}"/>
              </a:ext>
            </a:extLst>
          </p:cNvPr>
          <p:cNvSpPr>
            <a:spLocks xmlns:a="http://schemas.openxmlformats.org/drawingml/2006/main" noGrp="1"/>
          </p:cNvSpPr>
          <p:nvPr/>
        </p:nvSpPr>
        <p:spPr>
          <a:xfrm xmlns:a="http://schemas.openxmlformats.org/drawingml/2006/main">
            <a:off x="2771775" y="3600450"/>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243247"/>
                </a:solidFill>
              </a:defRPr>
            </a:defPPr>
            <a:lvl1pPr>
              <a:defRPr sz="1425" b="1">
                <a:solidFill>
                  <a:srgbClr val="243247"/>
                </a:solidFill>
              </a:defRPr>
            </a:lvl1pPr>
            <a:lvl2pPr>
              <a:defRPr sz="1425" b="1">
                <a:solidFill>
                  <a:srgbClr val="243247"/>
                </a:solidFill>
              </a:defRPr>
            </a:lvl2pPr>
            <a:lvl3pPr>
              <a:defRPr sz="1425" b="1">
                <a:solidFill>
                  <a:srgbClr val="243247"/>
                </a:solidFill>
              </a:defRPr>
            </a:lvl3pPr>
            <a:lvl4pPr>
              <a:defRPr sz="1425" b="1">
                <a:solidFill>
                  <a:srgbClr val="243247"/>
                </a:solidFill>
              </a:defRPr>
            </a:lvl4pPr>
            <a:lvl5pPr>
              <a:defRPr sz="1425" b="1">
                <a:solidFill>
                  <a:srgbClr val="243247"/>
                </a:solidFill>
              </a:defRPr>
            </a:lvl5pPr>
            <a:lvl6pPr>
              <a:defRPr sz="1425" b="1">
                <a:solidFill>
                  <a:srgbClr val="243247"/>
                </a:solidFill>
              </a:defRPr>
            </a:lvl6pPr>
            <a:lvl7pPr>
              <a:defRPr sz="1425" b="1">
                <a:solidFill>
                  <a:srgbClr val="243247"/>
                </a:solidFill>
              </a:defRPr>
            </a:lvl7pPr>
            <a:lvl8pPr>
              <a:defRPr sz="1425" b="1">
                <a:solidFill>
                  <a:srgbClr val="243247"/>
                </a:solidFill>
              </a:defRPr>
            </a:lvl8pPr>
            <a:lvl9pPr>
              <a:defRPr sz="1425" b="1">
                <a:solidFill>
                  <a:srgbClr val="243247"/>
                </a:solidFill>
              </a:defRPr>
            </a:lvl9pPr>
          </a:lstStyle>
          <a:p xmlns:a="http://schemas.openxmlformats.org/drawingml/2006/main">
            <a:pPr>
              <a:defRPr sz="1425" b="1">
                <a:solidFill>
                  <a:srgbClr val="243247"/>
                </a:solidFill>
              </a:defRPr>
            </a:pPr>
            <a:r>
              <a:rPr sz="1425" b="1">
                <a:solidFill>
                  <a:srgbClr val="243247"/>
                </a:solidFill>
              </a:rPr>
              <a:t>Qwen3</a:t>
            </a:r>
          </a:p>
        </p:txBody>
      </p:sp>
      <p:sp>
        <p:nvSpPr>
          <p:cNvPr id="18" name="">
            <a:extLst xmlns:a="http://schemas.openxmlformats.org/drawingml/2006/main">
              <a:ext uri="{FF2B5EF4-FFF2-40B4-BE49-F238E27FC236}">
                <a16:creationId xmlns:a16="http://schemas.microsoft.com/office/drawing/2014/main" id="{851838B8-EEB1-4C86-B178-80CB96F5CCBE}"/>
              </a:ext>
            </a:extLst>
          </p:cNvPr>
          <p:cNvSpPr>
            <a:spLocks xmlns:a="http://schemas.openxmlformats.org/drawingml/2006/main" noGrp="1"/>
          </p:cNvSpPr>
          <p:nvPr/>
        </p:nvSpPr>
        <p:spPr>
          <a:xfrm xmlns:a="http://schemas.openxmlformats.org/drawingml/2006/main">
            <a:off x="5953125" y="1362075"/>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43247"/>
                </a:solidFill>
              </a:defRPr>
            </a:defPPr>
            <a:lvl1pPr>
              <a:defRPr sz="1725" b="1">
                <a:solidFill>
                  <a:srgbClr val="243247"/>
                </a:solidFill>
              </a:defRPr>
            </a:lvl1pPr>
            <a:lvl2pPr>
              <a:defRPr sz="1725" b="1">
                <a:solidFill>
                  <a:srgbClr val="243247"/>
                </a:solidFill>
              </a:defRPr>
            </a:lvl2pPr>
            <a:lvl3pPr>
              <a:defRPr sz="1725" b="1">
                <a:solidFill>
                  <a:srgbClr val="243247"/>
                </a:solidFill>
              </a:defRPr>
            </a:lvl3pPr>
            <a:lvl4pPr>
              <a:defRPr sz="1725" b="1">
                <a:solidFill>
                  <a:srgbClr val="243247"/>
                </a:solidFill>
              </a:defRPr>
            </a:lvl4pPr>
            <a:lvl5pPr>
              <a:defRPr sz="1725" b="1">
                <a:solidFill>
                  <a:srgbClr val="243247"/>
                </a:solidFill>
              </a:defRPr>
            </a:lvl5pPr>
            <a:lvl6pPr>
              <a:defRPr sz="1725" b="1">
                <a:solidFill>
                  <a:srgbClr val="243247"/>
                </a:solidFill>
              </a:defRPr>
            </a:lvl6pPr>
            <a:lvl7pPr>
              <a:defRPr sz="1725" b="1">
                <a:solidFill>
                  <a:srgbClr val="243247"/>
                </a:solidFill>
              </a:defRPr>
            </a:lvl7pPr>
            <a:lvl8pPr>
              <a:defRPr sz="1725" b="1">
                <a:solidFill>
                  <a:srgbClr val="243247"/>
                </a:solidFill>
              </a:defRPr>
            </a:lvl8pPr>
            <a:lvl9pPr>
              <a:defRPr sz="1725" b="1">
                <a:solidFill>
                  <a:srgbClr val="243247"/>
                </a:solidFill>
              </a:defRPr>
            </a:lvl9pPr>
          </a:lstStyle>
          <a:p xmlns:a="http://schemas.openxmlformats.org/drawingml/2006/main">
            <a:pPr>
              <a:defRPr sz="1725" b="1">
                <a:solidFill>
                  <a:srgbClr val="243247"/>
                </a:solidFill>
              </a:defRPr>
            </a:pPr>
            <a:r>
              <a:rPr sz="1725" b="1">
                <a:solidFill>
                  <a:srgbClr val="243247"/>
                </a:solidFill>
              </a:rPr>
              <a:t>1  Qwen3</a:t>
            </a:r>
          </a:p>
        </p:txBody>
      </p:sp>
      <p:sp>
        <p:nvSpPr>
          <p:cNvPr id="19" name="">
            <a:extLst xmlns:a="http://schemas.openxmlformats.org/drawingml/2006/main">
              <a:ext uri="{FF2B5EF4-FFF2-40B4-BE49-F238E27FC236}">
                <a16:creationId xmlns:a16="http://schemas.microsoft.com/office/drawing/2014/main" id="{8ACEAAC3-5CDB-409D-9CF2-B26AA64510F9}"/>
              </a:ext>
            </a:extLst>
          </p:cNvPr>
          <p:cNvSpPr>
            <a:spLocks xmlns:a="http://schemas.openxmlformats.org/drawingml/2006/main" noGrp="1"/>
          </p:cNvSpPr>
          <p:nvPr/>
        </p:nvSpPr>
        <p:spPr>
          <a:xfrm xmlns:a="http://schemas.openxmlformats.org/drawingml/2006/main">
            <a:off x="5953125" y="16573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86579"/>
                </a:solidFill>
              </a:defRPr>
            </a:defPPr>
            <a:lvl1pPr>
              <a:defRPr sz="1350" b="0">
                <a:solidFill>
                  <a:srgbClr val="586579"/>
                </a:solidFill>
              </a:defRPr>
            </a:lvl1pPr>
            <a:lvl2pPr>
              <a:defRPr sz="1350" b="0">
                <a:solidFill>
                  <a:srgbClr val="586579"/>
                </a:solidFill>
              </a:defRPr>
            </a:lvl2pPr>
            <a:lvl3pPr>
              <a:defRPr sz="1350" b="0">
                <a:solidFill>
                  <a:srgbClr val="586579"/>
                </a:solidFill>
              </a:defRPr>
            </a:lvl3pPr>
            <a:lvl4pPr>
              <a:defRPr sz="1350" b="0">
                <a:solidFill>
                  <a:srgbClr val="586579"/>
                </a:solidFill>
              </a:defRPr>
            </a:lvl4pPr>
            <a:lvl5pPr>
              <a:defRPr sz="1350" b="0">
                <a:solidFill>
                  <a:srgbClr val="586579"/>
                </a:solidFill>
              </a:defRPr>
            </a:lvl5pPr>
            <a:lvl6pPr>
              <a:defRPr sz="1350" b="0">
                <a:solidFill>
                  <a:srgbClr val="586579"/>
                </a:solidFill>
              </a:defRPr>
            </a:lvl6pPr>
            <a:lvl7pPr>
              <a:defRPr sz="1350" b="0">
                <a:solidFill>
                  <a:srgbClr val="586579"/>
                </a:solidFill>
              </a:defRPr>
            </a:lvl7pPr>
            <a:lvl8pPr>
              <a:defRPr sz="1350" b="0">
                <a:solidFill>
                  <a:srgbClr val="586579"/>
                </a:solidFill>
              </a:defRPr>
            </a:lvl8pPr>
            <a:lvl9pPr>
              <a:defRPr sz="1350" b="0">
                <a:solidFill>
                  <a:srgbClr val="586579"/>
                </a:solidFill>
              </a:defRPr>
            </a:lvl9pPr>
          </a:lstStyle>
          <a:p xmlns:a="http://schemas.openxmlformats.org/drawingml/2006/main">
            <a:pPr>
              <a:defRPr sz="1350" b="0">
                <a:solidFill>
                  <a:srgbClr val="586579"/>
                </a:solidFill>
              </a:defRPr>
            </a:pPr>
            <a:r>
              <a:rPr sz="1350" b="0">
                <a:solidFill>
                  <a:srgbClr val="586579"/>
                </a:solidFill>
              </a:rPr>
              <a:t>Modèle : interprète les instructions et répond.</a:t>
            </a:r>
          </a:p>
        </p:txBody>
      </p:sp>
      <p:sp>
        <p:nvSpPr>
          <p:cNvPr id="20" name="">
            <a:extLst xmlns:a="http://schemas.openxmlformats.org/drawingml/2006/main">
              <a:ext uri="{FF2B5EF4-FFF2-40B4-BE49-F238E27FC236}">
                <a16:creationId xmlns:a16="http://schemas.microsoft.com/office/drawing/2014/main" id="{69627857-20C9-478D-977B-ACD792DA6842}"/>
              </a:ext>
            </a:extLst>
          </p:cNvPr>
          <p:cNvSpPr>
            <a:spLocks xmlns:a="http://schemas.openxmlformats.org/drawingml/2006/main" noGrp="1"/>
          </p:cNvSpPr>
          <p:nvPr/>
        </p:nvSpPr>
        <p:spPr>
          <a:xfrm xmlns:a="http://schemas.openxmlformats.org/drawingml/2006/main">
            <a:off x="5953125" y="1981200"/>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43247"/>
                </a:solidFill>
              </a:defRPr>
            </a:defPPr>
            <a:lvl1pPr>
              <a:defRPr sz="1725" b="1">
                <a:solidFill>
                  <a:srgbClr val="243247"/>
                </a:solidFill>
              </a:defRPr>
            </a:lvl1pPr>
            <a:lvl2pPr>
              <a:defRPr sz="1725" b="1">
                <a:solidFill>
                  <a:srgbClr val="243247"/>
                </a:solidFill>
              </a:defRPr>
            </a:lvl2pPr>
            <a:lvl3pPr>
              <a:defRPr sz="1725" b="1">
                <a:solidFill>
                  <a:srgbClr val="243247"/>
                </a:solidFill>
              </a:defRPr>
            </a:lvl3pPr>
            <a:lvl4pPr>
              <a:defRPr sz="1725" b="1">
                <a:solidFill>
                  <a:srgbClr val="243247"/>
                </a:solidFill>
              </a:defRPr>
            </a:lvl4pPr>
            <a:lvl5pPr>
              <a:defRPr sz="1725" b="1">
                <a:solidFill>
                  <a:srgbClr val="243247"/>
                </a:solidFill>
              </a:defRPr>
            </a:lvl5pPr>
            <a:lvl6pPr>
              <a:defRPr sz="1725" b="1">
                <a:solidFill>
                  <a:srgbClr val="243247"/>
                </a:solidFill>
              </a:defRPr>
            </a:lvl6pPr>
            <a:lvl7pPr>
              <a:defRPr sz="1725" b="1">
                <a:solidFill>
                  <a:srgbClr val="243247"/>
                </a:solidFill>
              </a:defRPr>
            </a:lvl7pPr>
            <a:lvl8pPr>
              <a:defRPr sz="1725" b="1">
                <a:solidFill>
                  <a:srgbClr val="243247"/>
                </a:solidFill>
              </a:defRPr>
            </a:lvl8pPr>
            <a:lvl9pPr>
              <a:defRPr sz="1725" b="1">
                <a:solidFill>
                  <a:srgbClr val="243247"/>
                </a:solidFill>
              </a:defRPr>
            </a:lvl9pPr>
          </a:lstStyle>
          <a:p xmlns:a="http://schemas.openxmlformats.org/drawingml/2006/main">
            <a:pPr>
              <a:defRPr sz="1725" b="1">
                <a:solidFill>
                  <a:srgbClr val="243247"/>
                </a:solidFill>
              </a:defRPr>
            </a:pPr>
            <a:r>
              <a:rPr sz="1725" b="1">
                <a:solidFill>
                  <a:srgbClr val="243247"/>
                </a:solidFill>
              </a:rPr>
              <a:t>2  Ollama</a:t>
            </a:r>
          </a:p>
        </p:txBody>
      </p:sp>
      <p:sp>
        <p:nvSpPr>
          <p:cNvPr id="21" name="">
            <a:extLst xmlns:a="http://schemas.openxmlformats.org/drawingml/2006/main">
              <a:ext uri="{FF2B5EF4-FFF2-40B4-BE49-F238E27FC236}">
                <a16:creationId xmlns:a16="http://schemas.microsoft.com/office/drawing/2014/main" id="{088519D2-DD29-4958-96EC-1E557EC361AD}"/>
              </a:ext>
            </a:extLst>
          </p:cNvPr>
          <p:cNvSpPr>
            <a:spLocks xmlns:a="http://schemas.openxmlformats.org/drawingml/2006/main" noGrp="1"/>
          </p:cNvSpPr>
          <p:nvPr/>
        </p:nvSpPr>
        <p:spPr>
          <a:xfrm xmlns:a="http://schemas.openxmlformats.org/drawingml/2006/main">
            <a:off x="5953125" y="22764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86579"/>
                </a:solidFill>
              </a:defRPr>
            </a:defPPr>
            <a:lvl1pPr>
              <a:defRPr sz="1350" b="0">
                <a:solidFill>
                  <a:srgbClr val="586579"/>
                </a:solidFill>
              </a:defRPr>
            </a:lvl1pPr>
            <a:lvl2pPr>
              <a:defRPr sz="1350" b="0">
                <a:solidFill>
                  <a:srgbClr val="586579"/>
                </a:solidFill>
              </a:defRPr>
            </a:lvl2pPr>
            <a:lvl3pPr>
              <a:defRPr sz="1350" b="0">
                <a:solidFill>
                  <a:srgbClr val="586579"/>
                </a:solidFill>
              </a:defRPr>
            </a:lvl3pPr>
            <a:lvl4pPr>
              <a:defRPr sz="1350" b="0">
                <a:solidFill>
                  <a:srgbClr val="586579"/>
                </a:solidFill>
              </a:defRPr>
            </a:lvl4pPr>
            <a:lvl5pPr>
              <a:defRPr sz="1350" b="0">
                <a:solidFill>
                  <a:srgbClr val="586579"/>
                </a:solidFill>
              </a:defRPr>
            </a:lvl5pPr>
            <a:lvl6pPr>
              <a:defRPr sz="1350" b="0">
                <a:solidFill>
                  <a:srgbClr val="586579"/>
                </a:solidFill>
              </a:defRPr>
            </a:lvl6pPr>
            <a:lvl7pPr>
              <a:defRPr sz="1350" b="0">
                <a:solidFill>
                  <a:srgbClr val="586579"/>
                </a:solidFill>
              </a:defRPr>
            </a:lvl7pPr>
            <a:lvl8pPr>
              <a:defRPr sz="1350" b="0">
                <a:solidFill>
                  <a:srgbClr val="586579"/>
                </a:solidFill>
              </a:defRPr>
            </a:lvl8pPr>
            <a:lvl9pPr>
              <a:defRPr sz="1350" b="0">
                <a:solidFill>
                  <a:srgbClr val="586579"/>
                </a:solidFill>
              </a:defRPr>
            </a:lvl9pPr>
          </a:lstStyle>
          <a:p xmlns:a="http://schemas.openxmlformats.org/drawingml/2006/main">
            <a:pPr>
              <a:defRPr sz="1350" b="0">
                <a:solidFill>
                  <a:srgbClr val="586579"/>
                </a:solidFill>
              </a:defRPr>
            </a:pPr>
            <a:r>
              <a:rPr sz="1350" b="0">
                <a:solidFill>
                  <a:srgbClr val="586579"/>
                </a:solidFill>
              </a:rPr>
              <a:t>Moteur : exécute le modèle sur le poste.</a:t>
            </a:r>
          </a:p>
        </p:txBody>
      </p:sp>
      <p:sp>
        <p:nvSpPr>
          <p:cNvPr id="22" name="">
            <a:extLst xmlns:a="http://schemas.openxmlformats.org/drawingml/2006/main">
              <a:ext uri="{FF2B5EF4-FFF2-40B4-BE49-F238E27FC236}">
                <a16:creationId xmlns:a16="http://schemas.microsoft.com/office/drawing/2014/main" id="{F105E8F9-6FCE-4151-A2BF-39A5ED020E52}"/>
              </a:ext>
            </a:extLst>
          </p:cNvPr>
          <p:cNvSpPr>
            <a:spLocks xmlns:a="http://schemas.openxmlformats.org/drawingml/2006/main" noGrp="1"/>
          </p:cNvSpPr>
          <p:nvPr/>
        </p:nvSpPr>
        <p:spPr>
          <a:xfrm xmlns:a="http://schemas.openxmlformats.org/drawingml/2006/main">
            <a:off x="5953125" y="2600325"/>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43247"/>
                </a:solidFill>
              </a:defRPr>
            </a:defPPr>
            <a:lvl1pPr>
              <a:defRPr sz="1725" b="1">
                <a:solidFill>
                  <a:srgbClr val="243247"/>
                </a:solidFill>
              </a:defRPr>
            </a:lvl1pPr>
            <a:lvl2pPr>
              <a:defRPr sz="1725" b="1">
                <a:solidFill>
                  <a:srgbClr val="243247"/>
                </a:solidFill>
              </a:defRPr>
            </a:lvl2pPr>
            <a:lvl3pPr>
              <a:defRPr sz="1725" b="1">
                <a:solidFill>
                  <a:srgbClr val="243247"/>
                </a:solidFill>
              </a:defRPr>
            </a:lvl3pPr>
            <a:lvl4pPr>
              <a:defRPr sz="1725" b="1">
                <a:solidFill>
                  <a:srgbClr val="243247"/>
                </a:solidFill>
              </a:defRPr>
            </a:lvl4pPr>
            <a:lvl5pPr>
              <a:defRPr sz="1725" b="1">
                <a:solidFill>
                  <a:srgbClr val="243247"/>
                </a:solidFill>
              </a:defRPr>
            </a:lvl5pPr>
            <a:lvl6pPr>
              <a:defRPr sz="1725" b="1">
                <a:solidFill>
                  <a:srgbClr val="243247"/>
                </a:solidFill>
              </a:defRPr>
            </a:lvl6pPr>
            <a:lvl7pPr>
              <a:defRPr sz="1725" b="1">
                <a:solidFill>
                  <a:srgbClr val="243247"/>
                </a:solidFill>
              </a:defRPr>
            </a:lvl7pPr>
            <a:lvl8pPr>
              <a:defRPr sz="1725" b="1">
                <a:solidFill>
                  <a:srgbClr val="243247"/>
                </a:solidFill>
              </a:defRPr>
            </a:lvl8pPr>
            <a:lvl9pPr>
              <a:defRPr sz="1725" b="1">
                <a:solidFill>
                  <a:srgbClr val="243247"/>
                </a:solidFill>
              </a:defRPr>
            </a:lvl9pPr>
          </a:lstStyle>
          <a:p xmlns:a="http://schemas.openxmlformats.org/drawingml/2006/main">
            <a:pPr>
              <a:defRPr sz="1725" b="1">
                <a:solidFill>
                  <a:srgbClr val="243247"/>
                </a:solidFill>
              </a:defRPr>
            </a:pPr>
            <a:r>
              <a:rPr sz="1725" b="1">
                <a:solidFill>
                  <a:srgbClr val="243247"/>
                </a:solidFill>
              </a:rPr>
              <a:t>3  CrewAI</a:t>
            </a:r>
          </a:p>
        </p:txBody>
      </p:sp>
      <p:sp>
        <p:nvSpPr>
          <p:cNvPr id="23" name="">
            <a:extLst xmlns:a="http://schemas.openxmlformats.org/drawingml/2006/main">
              <a:ext uri="{FF2B5EF4-FFF2-40B4-BE49-F238E27FC236}">
                <a16:creationId xmlns:a16="http://schemas.microsoft.com/office/drawing/2014/main" id="{28AD3008-C37E-4BE9-A2E9-54E38BC22D28}"/>
              </a:ext>
            </a:extLst>
          </p:cNvPr>
          <p:cNvSpPr>
            <a:spLocks xmlns:a="http://schemas.openxmlformats.org/drawingml/2006/main" noGrp="1"/>
          </p:cNvSpPr>
          <p:nvPr/>
        </p:nvSpPr>
        <p:spPr>
          <a:xfrm xmlns:a="http://schemas.openxmlformats.org/drawingml/2006/main">
            <a:off x="5953125" y="28956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86579"/>
                </a:solidFill>
              </a:defRPr>
            </a:defPPr>
            <a:lvl1pPr>
              <a:defRPr sz="1350" b="0">
                <a:solidFill>
                  <a:srgbClr val="586579"/>
                </a:solidFill>
              </a:defRPr>
            </a:lvl1pPr>
            <a:lvl2pPr>
              <a:defRPr sz="1350" b="0">
                <a:solidFill>
                  <a:srgbClr val="586579"/>
                </a:solidFill>
              </a:defRPr>
            </a:lvl2pPr>
            <a:lvl3pPr>
              <a:defRPr sz="1350" b="0">
                <a:solidFill>
                  <a:srgbClr val="586579"/>
                </a:solidFill>
              </a:defRPr>
            </a:lvl3pPr>
            <a:lvl4pPr>
              <a:defRPr sz="1350" b="0">
                <a:solidFill>
                  <a:srgbClr val="586579"/>
                </a:solidFill>
              </a:defRPr>
            </a:lvl4pPr>
            <a:lvl5pPr>
              <a:defRPr sz="1350" b="0">
                <a:solidFill>
                  <a:srgbClr val="586579"/>
                </a:solidFill>
              </a:defRPr>
            </a:lvl5pPr>
            <a:lvl6pPr>
              <a:defRPr sz="1350" b="0">
                <a:solidFill>
                  <a:srgbClr val="586579"/>
                </a:solidFill>
              </a:defRPr>
            </a:lvl6pPr>
            <a:lvl7pPr>
              <a:defRPr sz="1350" b="0">
                <a:solidFill>
                  <a:srgbClr val="586579"/>
                </a:solidFill>
              </a:defRPr>
            </a:lvl7pPr>
            <a:lvl8pPr>
              <a:defRPr sz="1350" b="0">
                <a:solidFill>
                  <a:srgbClr val="586579"/>
                </a:solidFill>
              </a:defRPr>
            </a:lvl8pPr>
            <a:lvl9pPr>
              <a:defRPr sz="1350" b="0">
                <a:solidFill>
                  <a:srgbClr val="586579"/>
                </a:solidFill>
              </a:defRPr>
            </a:lvl9pPr>
          </a:lstStyle>
          <a:p xmlns:a="http://schemas.openxmlformats.org/drawingml/2006/main">
            <a:pPr>
              <a:defRPr sz="1350" b="0">
                <a:solidFill>
                  <a:srgbClr val="586579"/>
                </a:solidFill>
              </a:defRPr>
            </a:pPr>
            <a:r>
              <a:rPr sz="1350" b="0">
                <a:solidFill>
                  <a:srgbClr val="586579"/>
                </a:solidFill>
              </a:rPr>
              <a:t>Orchestration : quatre rôles, cinq tâches.</a:t>
            </a:r>
          </a:p>
        </p:txBody>
      </p:sp>
      <p:sp>
        <p:nvSpPr>
          <p:cNvPr id="24" name="">
            <a:extLst xmlns:a="http://schemas.openxmlformats.org/drawingml/2006/main">
              <a:ext uri="{FF2B5EF4-FFF2-40B4-BE49-F238E27FC236}">
                <a16:creationId xmlns:a16="http://schemas.microsoft.com/office/drawing/2014/main" id="{10D1B1DD-30B6-436D-B8FD-0CECECCB3201}"/>
              </a:ext>
            </a:extLst>
          </p:cNvPr>
          <p:cNvSpPr>
            <a:spLocks xmlns:a="http://schemas.openxmlformats.org/drawingml/2006/main" noGrp="1"/>
          </p:cNvSpPr>
          <p:nvPr/>
        </p:nvSpPr>
        <p:spPr>
          <a:xfrm xmlns:a="http://schemas.openxmlformats.org/drawingml/2006/main">
            <a:off x="5953125" y="3219450"/>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43247"/>
                </a:solidFill>
              </a:defRPr>
            </a:defPPr>
            <a:lvl1pPr>
              <a:defRPr sz="1725" b="1">
                <a:solidFill>
                  <a:srgbClr val="243247"/>
                </a:solidFill>
              </a:defRPr>
            </a:lvl1pPr>
            <a:lvl2pPr>
              <a:defRPr sz="1725" b="1">
                <a:solidFill>
                  <a:srgbClr val="243247"/>
                </a:solidFill>
              </a:defRPr>
            </a:lvl2pPr>
            <a:lvl3pPr>
              <a:defRPr sz="1725" b="1">
                <a:solidFill>
                  <a:srgbClr val="243247"/>
                </a:solidFill>
              </a:defRPr>
            </a:lvl3pPr>
            <a:lvl4pPr>
              <a:defRPr sz="1725" b="1">
                <a:solidFill>
                  <a:srgbClr val="243247"/>
                </a:solidFill>
              </a:defRPr>
            </a:lvl4pPr>
            <a:lvl5pPr>
              <a:defRPr sz="1725" b="1">
                <a:solidFill>
                  <a:srgbClr val="243247"/>
                </a:solidFill>
              </a:defRPr>
            </a:lvl5pPr>
            <a:lvl6pPr>
              <a:defRPr sz="1725" b="1">
                <a:solidFill>
                  <a:srgbClr val="243247"/>
                </a:solidFill>
              </a:defRPr>
            </a:lvl6pPr>
            <a:lvl7pPr>
              <a:defRPr sz="1725" b="1">
                <a:solidFill>
                  <a:srgbClr val="243247"/>
                </a:solidFill>
              </a:defRPr>
            </a:lvl7pPr>
            <a:lvl8pPr>
              <a:defRPr sz="1725" b="1">
                <a:solidFill>
                  <a:srgbClr val="243247"/>
                </a:solidFill>
              </a:defRPr>
            </a:lvl8pPr>
            <a:lvl9pPr>
              <a:defRPr sz="1725" b="1">
                <a:solidFill>
                  <a:srgbClr val="243247"/>
                </a:solidFill>
              </a:defRPr>
            </a:lvl9pPr>
          </a:lstStyle>
          <a:p xmlns:a="http://schemas.openxmlformats.org/drawingml/2006/main">
            <a:pPr>
              <a:defRPr sz="1725" b="1">
                <a:solidFill>
                  <a:srgbClr val="243247"/>
                </a:solidFill>
              </a:defRPr>
            </a:pPr>
            <a:r>
              <a:rPr sz="1725" b="1">
                <a:solidFill>
                  <a:srgbClr val="243247"/>
                </a:solidFill>
              </a:rPr>
              <a:t>4  Python · CSV · SQLite</a:t>
            </a:r>
          </a:p>
        </p:txBody>
      </p:sp>
      <p:sp>
        <p:nvSpPr>
          <p:cNvPr id="25" name="">
            <a:extLst xmlns:a="http://schemas.openxmlformats.org/drawingml/2006/main">
              <a:ext uri="{FF2B5EF4-FFF2-40B4-BE49-F238E27FC236}">
                <a16:creationId xmlns:a16="http://schemas.microsoft.com/office/drawing/2014/main" id="{C630E919-7ED4-488B-8041-75063205DF6E}"/>
              </a:ext>
            </a:extLst>
          </p:cNvPr>
          <p:cNvSpPr>
            <a:spLocks xmlns:a="http://schemas.openxmlformats.org/drawingml/2006/main" noGrp="1"/>
          </p:cNvSpPr>
          <p:nvPr/>
        </p:nvSpPr>
        <p:spPr>
          <a:xfrm xmlns:a="http://schemas.openxmlformats.org/drawingml/2006/main">
            <a:off x="5953125" y="351472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86579"/>
                </a:solidFill>
              </a:defRPr>
            </a:defPPr>
            <a:lvl1pPr>
              <a:defRPr sz="1350" b="0">
                <a:solidFill>
                  <a:srgbClr val="586579"/>
                </a:solidFill>
              </a:defRPr>
            </a:lvl1pPr>
            <a:lvl2pPr>
              <a:defRPr sz="1350" b="0">
                <a:solidFill>
                  <a:srgbClr val="586579"/>
                </a:solidFill>
              </a:defRPr>
            </a:lvl2pPr>
            <a:lvl3pPr>
              <a:defRPr sz="1350" b="0">
                <a:solidFill>
                  <a:srgbClr val="586579"/>
                </a:solidFill>
              </a:defRPr>
            </a:lvl3pPr>
            <a:lvl4pPr>
              <a:defRPr sz="1350" b="0">
                <a:solidFill>
                  <a:srgbClr val="586579"/>
                </a:solidFill>
              </a:defRPr>
            </a:lvl4pPr>
            <a:lvl5pPr>
              <a:defRPr sz="1350" b="0">
                <a:solidFill>
                  <a:srgbClr val="586579"/>
                </a:solidFill>
              </a:defRPr>
            </a:lvl5pPr>
            <a:lvl6pPr>
              <a:defRPr sz="1350" b="0">
                <a:solidFill>
                  <a:srgbClr val="586579"/>
                </a:solidFill>
              </a:defRPr>
            </a:lvl6pPr>
            <a:lvl7pPr>
              <a:defRPr sz="1350" b="0">
                <a:solidFill>
                  <a:srgbClr val="586579"/>
                </a:solidFill>
              </a:defRPr>
            </a:lvl7pPr>
            <a:lvl8pPr>
              <a:defRPr sz="1350" b="0">
                <a:solidFill>
                  <a:srgbClr val="586579"/>
                </a:solidFill>
              </a:defRPr>
            </a:lvl8pPr>
            <a:lvl9pPr>
              <a:defRPr sz="1350" b="0">
                <a:solidFill>
                  <a:srgbClr val="586579"/>
                </a:solidFill>
              </a:defRPr>
            </a:lvl9pPr>
          </a:lstStyle>
          <a:p xmlns:a="http://schemas.openxmlformats.org/drawingml/2006/main">
            <a:pPr>
              <a:defRPr sz="1350" b="0">
                <a:solidFill>
                  <a:srgbClr val="586579"/>
                </a:solidFill>
              </a:defRPr>
            </a:pPr>
            <a:r>
              <a:rPr sz="1350" b="0">
                <a:solidFill>
                  <a:srgbClr val="586579"/>
                </a:solidFill>
              </a:rPr>
              <a:t>Outils, données, calculs et conservation des traces.</a:t>
            </a:r>
          </a:p>
        </p:txBody>
      </p:sp>
      <p:sp>
        <p:nvSpPr>
          <p:cNvPr id="26" name="">
            <a:extLst xmlns:a="http://schemas.openxmlformats.org/drawingml/2006/main">
              <a:ext uri="{FF2B5EF4-FFF2-40B4-BE49-F238E27FC236}">
                <a16:creationId xmlns:a16="http://schemas.microsoft.com/office/drawing/2014/main" id="{237DDBB1-C54D-4891-9E46-53F6B9C4762A}"/>
              </a:ext>
            </a:extLst>
          </p:cNvPr>
          <p:cNvSpPr>
            <a:spLocks xmlns:a="http://schemas.openxmlformats.org/drawingml/2006/main" noGrp="1"/>
          </p:cNvSpPr>
          <p:nvPr/>
        </p:nvSpPr>
        <p:spPr>
          <a:xfrm xmlns:a="http://schemas.openxmlformats.org/drawingml/2006/main">
            <a:off x="5953125" y="3838575"/>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43247"/>
                </a:solidFill>
              </a:defRPr>
            </a:defPPr>
            <a:lvl1pPr>
              <a:defRPr sz="1725" b="1">
                <a:solidFill>
                  <a:srgbClr val="243247"/>
                </a:solidFill>
              </a:defRPr>
            </a:lvl1pPr>
            <a:lvl2pPr>
              <a:defRPr sz="1725" b="1">
                <a:solidFill>
                  <a:srgbClr val="243247"/>
                </a:solidFill>
              </a:defRPr>
            </a:lvl2pPr>
            <a:lvl3pPr>
              <a:defRPr sz="1725" b="1">
                <a:solidFill>
                  <a:srgbClr val="243247"/>
                </a:solidFill>
              </a:defRPr>
            </a:lvl3pPr>
            <a:lvl4pPr>
              <a:defRPr sz="1725" b="1">
                <a:solidFill>
                  <a:srgbClr val="243247"/>
                </a:solidFill>
              </a:defRPr>
            </a:lvl4pPr>
            <a:lvl5pPr>
              <a:defRPr sz="1725" b="1">
                <a:solidFill>
                  <a:srgbClr val="243247"/>
                </a:solidFill>
              </a:defRPr>
            </a:lvl5pPr>
            <a:lvl6pPr>
              <a:defRPr sz="1725" b="1">
                <a:solidFill>
                  <a:srgbClr val="243247"/>
                </a:solidFill>
              </a:defRPr>
            </a:lvl6pPr>
            <a:lvl7pPr>
              <a:defRPr sz="1725" b="1">
                <a:solidFill>
                  <a:srgbClr val="243247"/>
                </a:solidFill>
              </a:defRPr>
            </a:lvl7pPr>
            <a:lvl8pPr>
              <a:defRPr sz="1725" b="1">
                <a:solidFill>
                  <a:srgbClr val="243247"/>
                </a:solidFill>
              </a:defRPr>
            </a:lvl8pPr>
            <a:lvl9pPr>
              <a:defRPr sz="1725" b="1">
                <a:solidFill>
                  <a:srgbClr val="243247"/>
                </a:solidFill>
              </a:defRPr>
            </a:lvl9pPr>
          </a:lstStyle>
          <a:p xmlns:a="http://schemas.openxmlformats.org/drawingml/2006/main">
            <a:pPr>
              <a:defRPr sz="1725" b="1">
                <a:solidFill>
                  <a:srgbClr val="243247"/>
                </a:solidFill>
              </a:defRPr>
            </a:pPr>
            <a:r>
              <a:rPr sz="1725" b="1">
                <a:solidFill>
                  <a:srgbClr val="243247"/>
                </a:solidFill>
              </a:rPr>
              <a:t>5  Streamlit · Plotly</a:t>
            </a:r>
          </a:p>
        </p:txBody>
      </p:sp>
      <p:sp>
        <p:nvSpPr>
          <p:cNvPr id="27" name="">
            <a:extLst xmlns:a="http://schemas.openxmlformats.org/drawingml/2006/main">
              <a:ext uri="{FF2B5EF4-FFF2-40B4-BE49-F238E27FC236}">
                <a16:creationId xmlns:a16="http://schemas.microsoft.com/office/drawing/2014/main" id="{A8797833-B061-4271-A1E7-BCE0F35193B0}"/>
              </a:ext>
            </a:extLst>
          </p:cNvPr>
          <p:cNvSpPr>
            <a:spLocks xmlns:a="http://schemas.openxmlformats.org/drawingml/2006/main" noGrp="1"/>
          </p:cNvSpPr>
          <p:nvPr/>
        </p:nvSpPr>
        <p:spPr>
          <a:xfrm xmlns:a="http://schemas.openxmlformats.org/drawingml/2006/main">
            <a:off x="5953125" y="41338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86579"/>
                </a:solidFill>
              </a:defRPr>
            </a:defPPr>
            <a:lvl1pPr>
              <a:defRPr sz="1350" b="0">
                <a:solidFill>
                  <a:srgbClr val="586579"/>
                </a:solidFill>
              </a:defRPr>
            </a:lvl1pPr>
            <a:lvl2pPr>
              <a:defRPr sz="1350" b="0">
                <a:solidFill>
                  <a:srgbClr val="586579"/>
                </a:solidFill>
              </a:defRPr>
            </a:lvl2pPr>
            <a:lvl3pPr>
              <a:defRPr sz="1350" b="0">
                <a:solidFill>
                  <a:srgbClr val="586579"/>
                </a:solidFill>
              </a:defRPr>
            </a:lvl3pPr>
            <a:lvl4pPr>
              <a:defRPr sz="1350" b="0">
                <a:solidFill>
                  <a:srgbClr val="586579"/>
                </a:solidFill>
              </a:defRPr>
            </a:lvl4pPr>
            <a:lvl5pPr>
              <a:defRPr sz="1350" b="0">
                <a:solidFill>
                  <a:srgbClr val="586579"/>
                </a:solidFill>
              </a:defRPr>
            </a:lvl5pPr>
            <a:lvl6pPr>
              <a:defRPr sz="1350" b="0">
                <a:solidFill>
                  <a:srgbClr val="586579"/>
                </a:solidFill>
              </a:defRPr>
            </a:lvl6pPr>
            <a:lvl7pPr>
              <a:defRPr sz="1350" b="0">
                <a:solidFill>
                  <a:srgbClr val="586579"/>
                </a:solidFill>
              </a:defRPr>
            </a:lvl7pPr>
            <a:lvl8pPr>
              <a:defRPr sz="1350" b="0">
                <a:solidFill>
                  <a:srgbClr val="586579"/>
                </a:solidFill>
              </a:defRPr>
            </a:lvl8pPr>
            <a:lvl9pPr>
              <a:defRPr sz="1350" b="0">
                <a:solidFill>
                  <a:srgbClr val="586579"/>
                </a:solidFill>
              </a:defRPr>
            </a:lvl9pPr>
          </a:lstStyle>
          <a:p xmlns:a="http://schemas.openxmlformats.org/drawingml/2006/main">
            <a:pPr>
              <a:defRPr sz="1350" b="0">
                <a:solidFill>
                  <a:srgbClr val="586579"/>
                </a:solidFill>
              </a:defRPr>
            </a:pPr>
            <a:r>
              <a:rPr sz="1350" b="0">
                <a:solidFill>
                  <a:srgbClr val="586579"/>
                </a:solidFill>
              </a:rPr>
              <a:t>Interface, consultation et graphiques interactifs.</a:t>
            </a:r>
          </a:p>
        </p:txBody>
      </p:sp>
      <p:sp>
        <p:nvSpPr>
          <p:cNvPr id="28" name="">
            <a:extLst xmlns:a="http://schemas.openxmlformats.org/drawingml/2006/main">
              <a:ext uri="{FF2B5EF4-FFF2-40B4-BE49-F238E27FC236}">
                <a16:creationId xmlns:a16="http://schemas.microsoft.com/office/drawing/2014/main" id="{1F43E7CB-8075-485F-98E7-B7787DC34CFE}"/>
              </a:ext>
            </a:extLst>
          </p:cNvPr>
          <p:cNvSpPr>
            <a:spLocks xmlns:a="http://schemas.openxmlformats.org/drawingml/2006/main" noGrp="1"/>
          </p:cNvSpPr>
          <p:nvPr/>
        </p:nvSpPr>
        <p:spPr>
          <a:xfrm xmlns:a="http://schemas.openxmlformats.org/drawingml/2006/main">
            <a:off x="5953125" y="4457700"/>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43247"/>
                </a:solidFill>
              </a:defRPr>
            </a:defPPr>
            <a:lvl1pPr>
              <a:defRPr sz="1725" b="1">
                <a:solidFill>
                  <a:srgbClr val="243247"/>
                </a:solidFill>
              </a:defRPr>
            </a:lvl1pPr>
            <a:lvl2pPr>
              <a:defRPr sz="1725" b="1">
                <a:solidFill>
                  <a:srgbClr val="243247"/>
                </a:solidFill>
              </a:defRPr>
            </a:lvl2pPr>
            <a:lvl3pPr>
              <a:defRPr sz="1725" b="1">
                <a:solidFill>
                  <a:srgbClr val="243247"/>
                </a:solidFill>
              </a:defRPr>
            </a:lvl3pPr>
            <a:lvl4pPr>
              <a:defRPr sz="1725" b="1">
                <a:solidFill>
                  <a:srgbClr val="243247"/>
                </a:solidFill>
              </a:defRPr>
            </a:lvl4pPr>
            <a:lvl5pPr>
              <a:defRPr sz="1725" b="1">
                <a:solidFill>
                  <a:srgbClr val="243247"/>
                </a:solidFill>
              </a:defRPr>
            </a:lvl5pPr>
            <a:lvl6pPr>
              <a:defRPr sz="1725" b="1">
                <a:solidFill>
                  <a:srgbClr val="243247"/>
                </a:solidFill>
              </a:defRPr>
            </a:lvl6pPr>
            <a:lvl7pPr>
              <a:defRPr sz="1725" b="1">
                <a:solidFill>
                  <a:srgbClr val="243247"/>
                </a:solidFill>
              </a:defRPr>
            </a:lvl7pPr>
            <a:lvl8pPr>
              <a:defRPr sz="1725" b="1">
                <a:solidFill>
                  <a:srgbClr val="243247"/>
                </a:solidFill>
              </a:defRPr>
            </a:lvl8pPr>
            <a:lvl9pPr>
              <a:defRPr sz="1725" b="1">
                <a:solidFill>
                  <a:srgbClr val="243247"/>
                </a:solidFill>
              </a:defRPr>
            </a:lvl9pPr>
          </a:lstStyle>
          <a:p xmlns:a="http://schemas.openxmlformats.org/drawingml/2006/main">
            <a:pPr>
              <a:defRPr sz="1725" b="1">
                <a:solidFill>
                  <a:srgbClr val="243247"/>
                </a:solidFill>
              </a:defRPr>
            </a:pPr>
            <a:r>
              <a:rPr sz="1725" b="1">
                <a:solidFill>
                  <a:srgbClr val="243247"/>
                </a:solidFill>
              </a:rPr>
              <a:t>6  AgentOps</a:t>
            </a:r>
          </a:p>
        </p:txBody>
      </p:sp>
      <p:sp>
        <p:nvSpPr>
          <p:cNvPr id="29" name="">
            <a:extLst xmlns:a="http://schemas.openxmlformats.org/drawingml/2006/main">
              <a:ext uri="{FF2B5EF4-FFF2-40B4-BE49-F238E27FC236}">
                <a16:creationId xmlns:a16="http://schemas.microsoft.com/office/drawing/2014/main" id="{5A2E62F8-7508-4CB2-B900-967714F18DEB}"/>
              </a:ext>
            </a:extLst>
          </p:cNvPr>
          <p:cNvSpPr>
            <a:spLocks xmlns:a="http://schemas.openxmlformats.org/drawingml/2006/main" noGrp="1"/>
          </p:cNvSpPr>
          <p:nvPr/>
        </p:nvSpPr>
        <p:spPr>
          <a:xfrm xmlns:a="http://schemas.openxmlformats.org/drawingml/2006/main">
            <a:off x="5953125" y="47529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86579"/>
                </a:solidFill>
              </a:defRPr>
            </a:defPPr>
            <a:lvl1pPr>
              <a:defRPr sz="1350" b="0">
                <a:solidFill>
                  <a:srgbClr val="586579"/>
                </a:solidFill>
              </a:defRPr>
            </a:lvl1pPr>
            <a:lvl2pPr>
              <a:defRPr sz="1350" b="0">
                <a:solidFill>
                  <a:srgbClr val="586579"/>
                </a:solidFill>
              </a:defRPr>
            </a:lvl2pPr>
            <a:lvl3pPr>
              <a:defRPr sz="1350" b="0">
                <a:solidFill>
                  <a:srgbClr val="586579"/>
                </a:solidFill>
              </a:defRPr>
            </a:lvl3pPr>
            <a:lvl4pPr>
              <a:defRPr sz="1350" b="0">
                <a:solidFill>
                  <a:srgbClr val="586579"/>
                </a:solidFill>
              </a:defRPr>
            </a:lvl4pPr>
            <a:lvl5pPr>
              <a:defRPr sz="1350" b="0">
                <a:solidFill>
                  <a:srgbClr val="586579"/>
                </a:solidFill>
              </a:defRPr>
            </a:lvl5pPr>
            <a:lvl6pPr>
              <a:defRPr sz="1350" b="0">
                <a:solidFill>
                  <a:srgbClr val="586579"/>
                </a:solidFill>
              </a:defRPr>
            </a:lvl6pPr>
            <a:lvl7pPr>
              <a:defRPr sz="1350" b="0">
                <a:solidFill>
                  <a:srgbClr val="586579"/>
                </a:solidFill>
              </a:defRPr>
            </a:lvl7pPr>
            <a:lvl8pPr>
              <a:defRPr sz="1350" b="0">
                <a:solidFill>
                  <a:srgbClr val="586579"/>
                </a:solidFill>
              </a:defRPr>
            </a:lvl8pPr>
            <a:lvl9pPr>
              <a:defRPr sz="1350" b="0">
                <a:solidFill>
                  <a:srgbClr val="586579"/>
                </a:solidFill>
              </a:defRPr>
            </a:lvl9pPr>
          </a:lstStyle>
          <a:p xmlns:a="http://schemas.openxmlformats.org/drawingml/2006/main">
            <a:pPr>
              <a:defRPr sz="1350" b="0">
                <a:solidFill>
                  <a:srgbClr val="586579"/>
                </a:solidFill>
              </a:defRPr>
            </a:pPr>
            <a:r>
              <a:rPr sz="1350" b="0">
                <a:solidFill>
                  <a:srgbClr val="586579"/>
                </a:solidFill>
              </a:rPr>
              <a:t>Résumé technique externe, après exécution.</a:t>
            </a:r>
          </a:p>
        </p:txBody>
      </p:sp>
      <p:sp>
        <p:nvSpPr>
          <p:cNvPr id="30" name="">
            <a:extLst xmlns:a="http://schemas.openxmlformats.org/drawingml/2006/main">
              <a:ext uri="{FF2B5EF4-FFF2-40B4-BE49-F238E27FC236}">
                <a16:creationId xmlns:a16="http://schemas.microsoft.com/office/drawing/2014/main" id="{8ABBA6B7-7510-4994-BE38-3DBB3852394A}"/>
              </a:ext>
            </a:extLst>
          </p:cNvPr>
          <p:cNvSpPr>
            <a:spLocks xmlns:a="http://schemas.openxmlformats.org/drawingml/2006/main" noGrp="1"/>
          </p:cNvSpPr>
          <p:nvPr/>
        </p:nvSpPr>
        <p:spPr>
          <a:xfrm xmlns:a="http://schemas.openxmlformats.org/drawingml/2006/main">
            <a:off x="5953125" y="5076825"/>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43247"/>
                </a:solidFill>
              </a:defRPr>
            </a:defPPr>
            <a:lvl1pPr>
              <a:defRPr sz="1725" b="1">
                <a:solidFill>
                  <a:srgbClr val="243247"/>
                </a:solidFill>
              </a:defRPr>
            </a:lvl1pPr>
            <a:lvl2pPr>
              <a:defRPr sz="1725" b="1">
                <a:solidFill>
                  <a:srgbClr val="243247"/>
                </a:solidFill>
              </a:defRPr>
            </a:lvl2pPr>
            <a:lvl3pPr>
              <a:defRPr sz="1725" b="1">
                <a:solidFill>
                  <a:srgbClr val="243247"/>
                </a:solidFill>
              </a:defRPr>
            </a:lvl3pPr>
            <a:lvl4pPr>
              <a:defRPr sz="1725" b="1">
                <a:solidFill>
                  <a:srgbClr val="243247"/>
                </a:solidFill>
              </a:defRPr>
            </a:lvl4pPr>
            <a:lvl5pPr>
              <a:defRPr sz="1725" b="1">
                <a:solidFill>
                  <a:srgbClr val="243247"/>
                </a:solidFill>
              </a:defRPr>
            </a:lvl5pPr>
            <a:lvl6pPr>
              <a:defRPr sz="1725" b="1">
                <a:solidFill>
                  <a:srgbClr val="243247"/>
                </a:solidFill>
              </a:defRPr>
            </a:lvl6pPr>
            <a:lvl7pPr>
              <a:defRPr sz="1725" b="1">
                <a:solidFill>
                  <a:srgbClr val="243247"/>
                </a:solidFill>
              </a:defRPr>
            </a:lvl7pPr>
            <a:lvl8pPr>
              <a:defRPr sz="1725" b="1">
                <a:solidFill>
                  <a:srgbClr val="243247"/>
                </a:solidFill>
              </a:defRPr>
            </a:lvl8pPr>
            <a:lvl9pPr>
              <a:defRPr sz="1725" b="1">
                <a:solidFill>
                  <a:srgbClr val="243247"/>
                </a:solidFill>
              </a:defRPr>
            </a:lvl9pPr>
          </a:lstStyle>
          <a:p xmlns:a="http://schemas.openxmlformats.org/drawingml/2006/main">
            <a:pPr>
              <a:defRPr sz="1725" b="1">
                <a:solidFill>
                  <a:srgbClr val="243247"/>
                </a:solidFill>
              </a:defRPr>
            </a:pPr>
            <a:r>
              <a:rPr sz="1725" b="1">
                <a:solidFill>
                  <a:srgbClr val="243247"/>
                </a:solidFill>
              </a:rPr>
              <a:t>7  Asana — facultatif</a:t>
            </a:r>
          </a:p>
        </p:txBody>
      </p:sp>
      <p:sp>
        <p:nvSpPr>
          <p:cNvPr id="31" name="">
            <a:extLst xmlns:a="http://schemas.openxmlformats.org/drawingml/2006/main">
              <a:ext uri="{FF2B5EF4-FFF2-40B4-BE49-F238E27FC236}">
                <a16:creationId xmlns:a16="http://schemas.microsoft.com/office/drawing/2014/main" id="{10F0C059-085B-41CB-B55E-9BF751039099}"/>
              </a:ext>
            </a:extLst>
          </p:cNvPr>
          <p:cNvSpPr>
            <a:spLocks xmlns:a="http://schemas.openxmlformats.org/drawingml/2006/main" noGrp="1"/>
          </p:cNvSpPr>
          <p:nvPr/>
        </p:nvSpPr>
        <p:spPr>
          <a:xfrm xmlns:a="http://schemas.openxmlformats.org/drawingml/2006/main">
            <a:off x="5953125" y="53721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86579"/>
                </a:solidFill>
              </a:defRPr>
            </a:defPPr>
            <a:lvl1pPr>
              <a:defRPr sz="1350" b="0">
                <a:solidFill>
                  <a:srgbClr val="586579"/>
                </a:solidFill>
              </a:defRPr>
            </a:lvl1pPr>
            <a:lvl2pPr>
              <a:defRPr sz="1350" b="0">
                <a:solidFill>
                  <a:srgbClr val="586579"/>
                </a:solidFill>
              </a:defRPr>
            </a:lvl2pPr>
            <a:lvl3pPr>
              <a:defRPr sz="1350" b="0">
                <a:solidFill>
                  <a:srgbClr val="586579"/>
                </a:solidFill>
              </a:defRPr>
            </a:lvl3pPr>
            <a:lvl4pPr>
              <a:defRPr sz="1350" b="0">
                <a:solidFill>
                  <a:srgbClr val="586579"/>
                </a:solidFill>
              </a:defRPr>
            </a:lvl4pPr>
            <a:lvl5pPr>
              <a:defRPr sz="1350" b="0">
                <a:solidFill>
                  <a:srgbClr val="586579"/>
                </a:solidFill>
              </a:defRPr>
            </a:lvl5pPr>
            <a:lvl6pPr>
              <a:defRPr sz="1350" b="0">
                <a:solidFill>
                  <a:srgbClr val="586579"/>
                </a:solidFill>
              </a:defRPr>
            </a:lvl6pPr>
            <a:lvl7pPr>
              <a:defRPr sz="1350" b="0">
                <a:solidFill>
                  <a:srgbClr val="586579"/>
                </a:solidFill>
              </a:defRPr>
            </a:lvl7pPr>
            <a:lvl8pPr>
              <a:defRPr sz="1350" b="0">
                <a:solidFill>
                  <a:srgbClr val="586579"/>
                </a:solidFill>
              </a:defRPr>
            </a:lvl8pPr>
            <a:lvl9pPr>
              <a:defRPr sz="1350" b="0">
                <a:solidFill>
                  <a:srgbClr val="586579"/>
                </a:solidFill>
              </a:defRPr>
            </a:lvl9pPr>
          </a:lstStyle>
          <a:p xmlns:a="http://schemas.openxmlformats.org/drawingml/2006/main">
            <a:pPr>
              <a:defRPr sz="1350" b="0">
                <a:solidFill>
                  <a:srgbClr val="586579"/>
                </a:solidFill>
              </a:defRPr>
            </a:pPr>
            <a:r>
              <a:rPr sz="1350" b="0">
                <a:solidFill>
                  <a:srgbClr val="586579"/>
                </a:solidFill>
              </a:rPr>
              <a:t>Gestion des tâches humaines ; non intégré au TP.</a:t>
            </a:r>
          </a:p>
        </p:txBody>
      </p:sp>
      <p:sp>
        <p:nvSpPr>
          <p:cNvPr id="32" name="">
            <a:extLst xmlns:a="http://schemas.openxmlformats.org/drawingml/2006/main">
              <a:ext uri="{FF2B5EF4-FFF2-40B4-BE49-F238E27FC236}">
                <a16:creationId xmlns:a16="http://schemas.microsoft.com/office/drawing/2014/main" id="{50697344-D7F5-4177-9F22-4BD2459E158A}"/>
              </a:ext>
            </a:extLst>
          </p:cNvPr>
          <p:cNvSpPr>
            <a:spLocks xmlns:a="http://schemas.openxmlformats.org/drawingml/2006/main" noGrp="1"/>
          </p:cNvSpPr>
          <p:nvPr/>
        </p:nvSpPr>
        <p:spPr>
          <a:xfrm xmlns:a="http://schemas.openxmlformats.org/drawingml/2006/main">
            <a:off x="495300" y="61150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86579"/>
                </a:solidFill>
              </a:defRPr>
            </a:defPPr>
            <a:lvl1pPr>
              <a:defRPr sz="1350" b="0">
                <a:solidFill>
                  <a:srgbClr val="586579"/>
                </a:solidFill>
              </a:defRPr>
            </a:lvl1pPr>
            <a:lvl2pPr>
              <a:defRPr sz="1350" b="0">
                <a:solidFill>
                  <a:srgbClr val="586579"/>
                </a:solidFill>
              </a:defRPr>
            </a:lvl2pPr>
            <a:lvl3pPr>
              <a:defRPr sz="1350" b="0">
                <a:solidFill>
                  <a:srgbClr val="586579"/>
                </a:solidFill>
              </a:defRPr>
            </a:lvl3pPr>
            <a:lvl4pPr>
              <a:defRPr sz="1350" b="0">
                <a:solidFill>
                  <a:srgbClr val="586579"/>
                </a:solidFill>
              </a:defRPr>
            </a:lvl4pPr>
            <a:lvl5pPr>
              <a:defRPr sz="1350" b="0">
                <a:solidFill>
                  <a:srgbClr val="586579"/>
                </a:solidFill>
              </a:defRPr>
            </a:lvl5pPr>
            <a:lvl6pPr>
              <a:defRPr sz="1350" b="0">
                <a:solidFill>
                  <a:srgbClr val="586579"/>
                </a:solidFill>
              </a:defRPr>
            </a:lvl6pPr>
            <a:lvl7pPr>
              <a:defRPr sz="1350" b="0">
                <a:solidFill>
                  <a:srgbClr val="586579"/>
                </a:solidFill>
              </a:defRPr>
            </a:lvl7pPr>
            <a:lvl8pPr>
              <a:defRPr sz="1350" b="0">
                <a:solidFill>
                  <a:srgbClr val="586579"/>
                </a:solidFill>
              </a:defRPr>
            </a:lvl8pPr>
            <a:lvl9pPr>
              <a:defRPr sz="1350" b="0">
                <a:solidFill>
                  <a:srgbClr val="586579"/>
                </a:solidFill>
              </a:defRPr>
            </a:lvl9pPr>
          </a:lstStyle>
          <a:p xmlns:a="http://schemas.openxmlformats.org/drawingml/2006/main">
            <a:pPr>
              <a:defRPr sz="1350" b="0">
                <a:solidFill>
                  <a:srgbClr val="586579"/>
                </a:solidFill>
              </a:defRPr>
            </a:pPr>
            <a:r>
              <a:rPr sz="1350" b="0">
                <a:solidFill>
                  <a:srgbClr val="586579"/>
                </a:solidFill>
              </a:rPr>
              <a:t>Cercles = responsabilités ; ils ne représentent ni des conteneurs ni l’ordre d’exécution.</a:t>
            </a:r>
          </a:p>
        </p:txBody>
      </p:sp>
      <p:sp>
        <p:nvSpPr>
          <p:cNvPr id="33" name="">
            <a:extLst xmlns:a="http://schemas.openxmlformats.org/drawingml/2006/main">
              <a:ext uri="{FF2B5EF4-FFF2-40B4-BE49-F238E27FC236}">
                <a16:creationId xmlns:a16="http://schemas.microsoft.com/office/drawing/2014/main" id="{94FD1865-84F9-472E-919E-EB9A552D23D4}"/>
              </a:ext>
            </a:extLst>
          </p:cNvPr>
          <p:cNvSpPr>
            <a:spLocks xmlns:a="http://schemas.openxmlformats.org/drawingml/2006/main" noGrp="1"/>
          </p:cNvSpPr>
          <p:nvPr/>
        </p:nvSpPr>
        <p:spPr>
          <a:xfrm xmlns:a="http://schemas.openxmlformats.org/drawingml/2006/main">
            <a:off x="495300" y="64960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466B0"/>
                </a:solidFill>
              </a:defRPr>
            </a:defPPr>
            <a:lvl1pPr>
              <a:defRPr sz="1350" b="0">
                <a:solidFill>
                  <a:srgbClr val="1466B0"/>
                </a:solidFill>
              </a:defRPr>
            </a:lvl1pPr>
            <a:lvl2pPr>
              <a:defRPr sz="1350" b="0">
                <a:solidFill>
                  <a:srgbClr val="1466B0"/>
                </a:solidFill>
              </a:defRPr>
            </a:lvl2pPr>
            <a:lvl3pPr>
              <a:defRPr sz="1350" b="0">
                <a:solidFill>
                  <a:srgbClr val="1466B0"/>
                </a:solidFill>
              </a:defRPr>
            </a:lvl3pPr>
            <a:lvl4pPr>
              <a:defRPr sz="1350" b="0">
                <a:solidFill>
                  <a:srgbClr val="1466B0"/>
                </a:solidFill>
              </a:defRPr>
            </a:lvl4pPr>
            <a:lvl5pPr>
              <a:defRPr sz="1350" b="0">
                <a:solidFill>
                  <a:srgbClr val="1466B0"/>
                </a:solidFill>
              </a:defRPr>
            </a:lvl5pPr>
            <a:lvl6pPr>
              <a:defRPr sz="1350" b="0">
                <a:solidFill>
                  <a:srgbClr val="1466B0"/>
                </a:solidFill>
              </a:defRPr>
            </a:lvl6pPr>
            <a:lvl7pPr>
              <a:defRPr sz="1350" b="0">
                <a:solidFill>
                  <a:srgbClr val="1466B0"/>
                </a:solidFill>
              </a:defRPr>
            </a:lvl7pPr>
            <a:lvl8pPr>
              <a:defRPr sz="1350" b="0">
                <a:solidFill>
                  <a:srgbClr val="1466B0"/>
                </a:solidFill>
              </a:defRPr>
            </a:lvl8pPr>
            <a:lvl9pPr>
              <a:defRPr sz="1350" b="0">
                <a:solidFill>
                  <a:srgbClr val="1466B0"/>
                </a:solidFill>
              </a:defRPr>
            </a:lvl9pPr>
          </a:lstStyle>
          <a:p xmlns:a="http://schemas.openxmlformats.org/drawingml/2006/main">
            <a:pPr>
              <a:defRPr sz="1350" b="0">
                <a:solidFill>
                  <a:srgbClr val="1466B0"/>
                </a:solidFill>
              </a:defRPr>
            </a:pPr>
            <a:r>
              <a:rPr sz="1350" b="0">
                <a:solidFill>
                  <a:srgbClr val="1466B0"/>
                </a:solidFill>
                <a:hlinkClick xmlns:ns0="http://schemas.openxmlformats.org/officeDocument/2006/relationships" ns0:id="rIdTableauInteractif"/>
              </a:rPr>
              <a:t>Ouvrir le tableau interactif (accès privé)</a:t>
            </a:r>
          </a:p>
        </p:txBody>
      </p:sp>
      <p:sp>
        <p:nvSpPr>
          <p:cNvPr id="34" name="">
            <a:extLst xmlns:a="http://schemas.openxmlformats.org/drawingml/2006/main">
              <a:ext uri="{FF2B5EF4-FFF2-40B4-BE49-F238E27FC236}">
                <a16:creationId xmlns:a16="http://schemas.microsoft.com/office/drawing/2014/main" id="{6BEE067F-8DED-4799-97F6-B1745D002BA0}"/>
              </a:ext>
            </a:extLst>
          </p:cNvPr>
          <p:cNvSpPr>
            <a:spLocks xmlns:a="http://schemas.openxmlformats.org/drawingml/2006/main" noGrp="1"/>
          </p:cNvSpPr>
          <p:nvPr/>
        </p:nvSpPr>
        <p:spPr>
          <a:xfrm xmlns:a="http://schemas.openxmlformats.org/drawingml/2006/main">
            <a:off x="11334750" y="6486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86579"/>
                </a:solidFill>
              </a:defRPr>
            </a:defPPr>
            <a:lvl1pPr>
              <a:defRPr sz="1200" b="0">
                <a:solidFill>
                  <a:srgbClr val="586579"/>
                </a:solidFill>
              </a:defRPr>
            </a:lvl1pPr>
            <a:lvl2pPr>
              <a:defRPr sz="1200" b="0">
                <a:solidFill>
                  <a:srgbClr val="586579"/>
                </a:solidFill>
              </a:defRPr>
            </a:lvl2pPr>
            <a:lvl3pPr>
              <a:defRPr sz="1200" b="0">
                <a:solidFill>
                  <a:srgbClr val="586579"/>
                </a:solidFill>
              </a:defRPr>
            </a:lvl3pPr>
            <a:lvl4pPr>
              <a:defRPr sz="1200" b="0">
                <a:solidFill>
                  <a:srgbClr val="586579"/>
                </a:solidFill>
              </a:defRPr>
            </a:lvl4pPr>
            <a:lvl5pPr>
              <a:defRPr sz="1200" b="0">
                <a:solidFill>
                  <a:srgbClr val="586579"/>
                </a:solidFill>
              </a:defRPr>
            </a:lvl5pPr>
            <a:lvl6pPr>
              <a:defRPr sz="1200" b="0">
                <a:solidFill>
                  <a:srgbClr val="586579"/>
                </a:solidFill>
              </a:defRPr>
            </a:lvl6pPr>
            <a:lvl7pPr>
              <a:defRPr sz="1200" b="0">
                <a:solidFill>
                  <a:srgbClr val="586579"/>
                </a:solidFill>
              </a:defRPr>
            </a:lvl7pPr>
            <a:lvl8pPr>
              <a:defRPr sz="1200" b="0">
                <a:solidFill>
                  <a:srgbClr val="586579"/>
                </a:solidFill>
              </a:defRPr>
            </a:lvl8pPr>
            <a:lvl9pPr>
              <a:defRPr sz="1200" b="0">
                <a:solidFill>
                  <a:srgbClr val="586579"/>
                </a:solidFill>
              </a:defRPr>
            </a:lvl9pPr>
          </a:lstStyle>
          <a:p xmlns:a="http://schemas.openxmlformats.org/drawingml/2006/main">
            <a:pPr>
              <a:defRPr sz="1200" b="0">
                <a:solidFill>
                  <a:srgbClr val="586579"/>
                </a:solidFill>
              </a:defRPr>
            </a:pPr>
            <a:r>
              <a:rPr sz="1200" b="0">
                <a:solidFill>
                  <a:srgbClr val="586579"/>
                </a:solidFill>
              </a:rPr>
              <a:t>16</a:t>
            </a:r>
          </a:p>
        </p:txBody>
      </p:sp>
    </p:spTree>
    <p:extLst>
      <p:ext uri="{BB962C8B-B14F-4D97-AF65-F5344CB8AC3E}">
        <p14:creationId xmlns:p14="http://schemas.microsoft.com/office/powerpoint/2010/main" val="2617844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16</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2026-10-17T02:59:28.4970000Z</dcterms:created>
  <dcterms:modified xsi:type="dcterms:W3CDTF">2026-10-17T02:59:28.4970000Z</dcterms:modified>
</coreProperties>
</file>